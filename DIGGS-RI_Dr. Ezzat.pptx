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77" r:id="rId42"/>
    <p:sldId id="297" r:id="rId43"/>
  </p:sldIdLst>
  <p:sldSz cx="9144000" cy="5143500" type="screen16x9"/>
  <p:notesSz cx="6858000" cy="9144000"/>
  <p:embeddedFontLst>
    <p:embeddedFont>
      <p:font typeface="Inter" panose="020B0604020202020204" charset="0"/>
      <p:regular r:id="rId45"/>
      <p:bold r:id="rId46"/>
      <p:italic r:id="rId47"/>
      <p:boldItalic r:id="rId48"/>
    </p:embeddedFont>
    <p:embeddedFont>
      <p:font typeface="Manrope" panose="020B0604020202020204" charset="0"/>
      <p:regular r:id="rId49"/>
      <p:bold r:id="rId50"/>
    </p:embeddedFont>
    <p:embeddedFont>
      <p:font typeface="Nunito Light" pitchFamily="2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1548" y="3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ad6b1ceec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ad6b1ceec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a7bf51f07_0_2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a7bf51f07_0_2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ad6b1cee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ad6b1cee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ad6b1cee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ad6b1cee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ad6b1ceec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ad6b1ceec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ad6b1cee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ad6b1cee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ad6b1ceec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ad6b1ceec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ad6b1ceec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ad6b1ceec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ad6b1cee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ad6b1ceec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ad6b1ceec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cad6b1ceec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ad6b1cee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ad6b1ceec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ad6b1ceec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ad6b1ceec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ad6b1ceec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cad6b1ceec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ad6b1ceec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ad6b1ceec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cad6b1ceec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cad6b1ceec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ad6b1cee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ad6b1cee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ad6b1ceec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ad6b1ceec_0_1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cad6b1ceec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cad6b1ceec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ad6b1ceec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ad6b1ceec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cad6b1ceec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cad6b1ceec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ad6b1ceec_0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ad6b1ceec_0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ad6b1ceec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ad6b1ceec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ad6b1ceec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ad6b1ceec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ad6b1ceec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ad6b1ceec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ad6b1ceec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ad6b1ceec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ad6b1ceec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cad6b1ceec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ad6b1ceec_0_2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ad6b1ceec_0_2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ad6b1ceec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ad6b1ceec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cad6b1ceec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cad6b1ceec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cad6b1ceec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cad6b1ceec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cad6b1ceec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cad6b1ceec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ad6b1ceec_0_3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cad6b1ceec_0_3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ad6b1ceec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cad6b1ceec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ad6b1ceec_0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ad6b1ceec_0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cad6b1ceec_0_3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cad6b1ceec_0_3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ad6b1cee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cad6b1cee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ad6b1ceec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cad6b1ceec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cad6b1ceec_0_3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cad6b1ceec_0_3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cad6b1ceec_0_3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cad6b1ceec_0_3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ad6b1ceec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cad6b1ceec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ad6b1ceec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cad6b1ceec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439933" y="71900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anrope"/>
                <a:ea typeface="Manrope"/>
                <a:cs typeface="Manrope"/>
                <a:sym typeface="Manrope"/>
              </a:rPr>
              <a:t>Standardizing </a:t>
            </a:r>
            <a:r>
              <a:rPr lang="en" dirty="0">
                <a:solidFill>
                  <a:srgbClr val="004E52"/>
                </a:solidFill>
                <a:latin typeface="Manrope"/>
                <a:ea typeface="Manrope"/>
                <a:cs typeface="Manrope"/>
                <a:sym typeface="Manrope"/>
              </a:rPr>
              <a:t>Rigid Inclusion </a:t>
            </a:r>
            <a:r>
              <a:rPr lang="en" dirty="0">
                <a:latin typeface="Manrope"/>
                <a:ea typeface="Manrope"/>
                <a:cs typeface="Manrope"/>
                <a:sym typeface="Manrope"/>
              </a:rPr>
              <a:t>Soil Improvement Data </a:t>
            </a:r>
            <a:br>
              <a:rPr lang="en" dirty="0">
                <a:latin typeface="Manrope"/>
                <a:ea typeface="Manrope"/>
                <a:cs typeface="Manrope"/>
                <a:sym typeface="Manrope"/>
              </a:rPr>
            </a:br>
            <a:r>
              <a:rPr lang="en" dirty="0">
                <a:latin typeface="Manrope"/>
                <a:ea typeface="Manrope"/>
                <a:cs typeface="Manrope"/>
                <a:sym typeface="Manrope"/>
              </a:rPr>
              <a:t>with </a:t>
            </a:r>
            <a:r>
              <a:rPr lang="en" dirty="0">
                <a:solidFill>
                  <a:srgbClr val="004E52"/>
                </a:solidFill>
                <a:latin typeface="Manrope"/>
                <a:ea typeface="Manrope"/>
                <a:cs typeface="Manrope"/>
                <a:sym typeface="Manrope"/>
              </a:rPr>
              <a:t>DIGGS</a:t>
            </a:r>
            <a:endParaRPr dirty="0">
              <a:solidFill>
                <a:srgbClr val="004E5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39925" y="29700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anrope"/>
                <a:ea typeface="Manrope"/>
                <a:cs typeface="Manrope"/>
                <a:sym typeface="Manrope"/>
              </a:rPr>
              <a:t>Dr. Mohamed Ezzat</a:t>
            </a:r>
            <a:endParaRPr dirty="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r="44781" b="69849"/>
          <a:stretch/>
        </p:blipFill>
        <p:spPr>
          <a:xfrm>
            <a:off x="2906163" y="4114325"/>
            <a:ext cx="2323225" cy="65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8862" y="3869562"/>
            <a:ext cx="1145425" cy="11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ctrTitle"/>
          </p:nvPr>
        </p:nvSpPr>
        <p:spPr>
          <a:xfrm>
            <a:off x="-24" y="1062075"/>
            <a:ext cx="9144000" cy="2052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-33782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"/>
              <a:buFont typeface="Manrope"/>
              <a:buAutoNum type="alphaUcPeriod"/>
            </a:pPr>
            <a:r>
              <a:rPr lang="en" sz="172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Pre-Installation Phase  </a:t>
            </a:r>
            <a:endParaRPr sz="172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r="44781" b="69849"/>
          <a:stretch/>
        </p:blipFill>
        <p:spPr>
          <a:xfrm>
            <a:off x="2777938" y="3686400"/>
            <a:ext cx="2323225" cy="65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637" y="3441637"/>
            <a:ext cx="1145425" cy="11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64725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1: Site Investigation Planning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201800" y="618875"/>
            <a:ext cx="828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Plan a ground investigation program that is good enough to (a) confirm ground conditions, (b) quantify variability, and (c) support RI/CMC design (settlement and bearing) and constructability.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15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Investigation plan: number/location of boreholes and CPTs, target depths, sampling plan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Proposed lab test matrix (classification + strength + compressibility)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Groundwater measurement plan (standpipes/piezometers, monitoring period)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Utility clearance / access constraints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Health &amp; safety plan for drilling and site access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Investigation schedule + responsible parties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64725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2: Field Site Investigation Execution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6"/>
          <p:cNvSpPr txBox="1">
            <a:spLocks noGrp="1"/>
          </p:cNvSpPr>
          <p:nvPr>
            <p:ph type="body" idx="1"/>
          </p:nvPr>
        </p:nvSpPr>
        <p:spPr>
          <a:xfrm>
            <a:off x="201800" y="618875"/>
            <a:ext cx="828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Perform borings, CPT/CPTu (often very valuable for CMC), trial pits if needed, groundwater measurements, and obtain good quality samples.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6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Borehole logs: stratigraphy, sample depths, recovery, RQD (if rock), SPT N-values (if used)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CPT/CPTu logs: qc, fs, u2, inferred soil behavior type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Groundwater levels (date/time stamped) and installation details for piezometers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In-situ test results (vane shear, pressuremeter/dilatometer if done)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Any anomalies: fill pockets, obstructions, boulders, artesian conditions, contamination indicators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Coordinates and elevations of all investigation points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64725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3: Laboratory Testing and Soil Characterization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201800" y="618875"/>
            <a:ext cx="8286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Lab tests define engineering parameters: strength, compressibility, index properties, unit weights, permeability.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3" name="Google Shape;93;p17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7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Index: moisture content, Atterberg limits, grain size distribution, unit weight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Strength: UU/CIU/CD triaxial, direct shear (as applicable), undrained shear strength Su correlations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Compressibility: oedometer/consolidation parameters (Cc, Cr, mv, Cv)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Chemical aggressivity (if durability/cement compatibility is relevant): sulfates, chlorides, pH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Summary statistics and variability by layer (mean, range, COV)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7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5: Feasibility and Selection of CMC/RI as the Ground Improvement Solution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3" name="Google Shape;103;p18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Confirm that CMC/RI is the right solution versus alternatives (piles, stone columns, preloading, DSM, etc.).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18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05" name="Google Shape;105;p18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Target performance criteria: allowable total settlement, differential settlement, bearing/stability targets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Concept options and screening rationale (cost/schedule/risk)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Constructability assessment (access, spoil, groundwater, obstructions)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Preliminary RI/CMC concept: approximate spacing, diameter, depth range, load transfer platform (LTP) concept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Key risks + mitigation (e.g., soft layers thickness uncertainty → additional investigation)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solidFill>
                  <a:srgbClr val="0000FF"/>
                </a:solidFill>
                <a:latin typeface="Manrope"/>
                <a:ea typeface="Manrope"/>
                <a:cs typeface="Manrope"/>
                <a:sym typeface="Manrope"/>
              </a:rPr>
              <a:t>Stage 6</a:t>
            </a: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: Define Design Basis and Acceptance Criteria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 the “Acceptance Criteria” before detailed design and construction: what counts as compliant installation and compliant performance.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19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Structural loads and load combinations to be supported (service and ultimate)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Settlement criteria and monitoring locations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Minimum column toe level / required bearing layer definition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Minimum LTP thickness and material requirements (if known)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Installation acceptance metrics (examples):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minimum depth / toe tolerance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minimum grout volume ratio or expected theoretical vs actual take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limits on withdrawal rate / pressure range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verticality tolerance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Verification test types and preliminary frequencies (to be finalized with contractor)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19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7: Detailed CMC/RI System Design (Owner/Engineer Design or Design-Assist) 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Design the CMC layout and LTP so the system meets settlement, bearing, and stability requirements.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20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Column geometry: diameter, target depth, toe criteria, head cut-off level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Layout: grid type (square/triangular), spacing, treatment footprint, edge detailing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Area replacement ratio (or equivalent) and design stress concentration assumptions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LTP design: thickness, gradation, compaction targets, reinforcement (geogrid) if required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Global stability checks (especially embankments)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Predicted performance: settlement estimate, differential settlement, factors of safety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Drawings + specs: coordinate-based plan, details, tolerances</a:t>
            </a: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20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10: Trial Section / Test Columns (Optional)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Install a small number of test columns to confirm constructability and to calibrate acceptance criteria.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7" name="Google Shape;137;p21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38" name="Google Shape;138;p21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Test column logs: depth, torque, rotation, penetration/withdrawal rate, grout pressure/volume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Observed issues: obstructions, grout losses, refusal, groundwater effects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Adjusted method parameters and updated acceptance criteria (if needed)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Initial verification results (e.g., early-age strength tests if applicable)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21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8: Contractor Procurement and Method Statement Approval 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7" name="Google Shape;147;p22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Select the specialty contractor and lock down the construction methodology and QA/QC plan.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" name="Google Shape;148;p22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49" name="Google Shape;149;p22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0" name="Google Shape;150;p22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17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17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Contractor qualifications and relevant RI/CMC experience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Equipment/method: displacement vs partial displacement; grout/concrete system; monitoring system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Proposed grout/mortar mix design and supply plan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Inspection &amp; Test Plan (ITP): hold points, records, nonconformance process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Trial section plan and verification testing plan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Proposed production rate and sequencing plan</a:t>
            </a: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76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" name="Google Shape;152;p22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ctrTitle"/>
          </p:nvPr>
        </p:nvSpPr>
        <p:spPr>
          <a:xfrm>
            <a:off x="-24" y="1062075"/>
            <a:ext cx="9144000" cy="20526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B. Installation Phase  </a:t>
            </a:r>
            <a:endParaRPr sz="172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 rotWithShape="1">
          <a:blip r:embed="rId3">
            <a:alphaModFix/>
          </a:blip>
          <a:srcRect r="44781" b="69849"/>
          <a:stretch/>
        </p:blipFill>
        <p:spPr>
          <a:xfrm>
            <a:off x="2777938" y="3686400"/>
            <a:ext cx="2323225" cy="65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637" y="3441637"/>
            <a:ext cx="1145425" cy="11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9: Pre-Construction Site Preparation and Controls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Prepare the site so the rig can work safely and consistently, and so columns go in the correct locations.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" name="Google Shape;166;p24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67" name="Google Shape;167;p24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24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17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17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Working platform design and certification (bearing capacity, thickness, proof rolling)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Site grading, drainage, dewatering readiness (if needed)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Survey control: benchmarks, grid layout, coordinate system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Utilities clearance confirmation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Environmental controls (washout, spoil handling, grout spill plan)</a:t>
            </a:r>
            <a:b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9561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18"/>
              <a:buFont typeface="Inter"/>
              <a:buChar char="●"/>
            </a:pPr>
            <a:r>
              <a:rPr lang="en" sz="1117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Approved shop drawings and “Issued for Construction” package</a:t>
            </a:r>
            <a:endParaRPr sz="1117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765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9" name="Google Shape;169;p24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11: Production CMC Installation (Main Construction)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Install the full production set of columns per design and method statement. This is where disciplined data capture is critical.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7" name="Google Shape;177;p25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78" name="Google Shape;178;p25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body" idx="1"/>
          </p:nvPr>
        </p:nvSpPr>
        <p:spPr>
          <a:xfrm>
            <a:off x="201800" y="116800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0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Per column (as-built record):</a:t>
            </a:r>
            <a:endParaRPr sz="1000" b="1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Unique column ID, coordinates (X/Y), ground level, cut-off level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Start/end time, rig ID/operator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Target depth vs achieved depth; toe stratum confirmation (how verified)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Installation method (tool type, displacement level)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Monitoring While Installing (typical):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AutoNum type="alphaLcPeriod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penetration rate and withdrawal rate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AutoNum type="alphaLcPeriod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torque (and/or crowd force)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AutoNum type="alphaLcPeriod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rotation speed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AutoNum type="alphaLcPeriod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grout/concrete pressure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AutoNum type="alphaLcPeriod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grout/concrete volume (and volume vs theoretical)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AutoNum type="alphaLcPeriod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pauses/stoppages and reasons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Deviations and nonconformances (e.g., short column, obstruction, abnormal grout take)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Corrective actions (re-drill, secondary column, local redesign)</a:t>
            </a:r>
            <a:endParaRPr sz="10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1" name="Google Shape;181;p25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6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11: Production CMC Installation (Main Construction)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7" name="Google Shape;187;p26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Install the full production set of columns per design and method statement. This is where disciplined data capture is critical.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8" name="Google Shape;188;p26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189" name="Google Shape;189;p26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00FF"/>
                </a:solidFill>
                <a:latin typeface="Inter"/>
                <a:ea typeface="Inter"/>
                <a:cs typeface="Inter"/>
                <a:sym typeface="Inter"/>
              </a:rPr>
              <a:t>Production summary statistics (weekly/end-of-stage):</a:t>
            </a:r>
            <a:endParaRPr sz="1100" b="1">
              <a:solidFill>
                <a:srgbClr val="0000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Total columns installed vs planned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% meeting each acceptance criterion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List of exceptions + resolutions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Material consumption totals and trends</a:t>
            </a:r>
            <a:endParaRPr sz="1100" b="1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12: Column Head Treatment (Caps) and Platform Interface Works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8" name="Google Shape;198;p27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Caps 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or Trim/cut columns to level, protect heads if needed, and prepare for LTP placement.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27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200" name="Google Shape;200;p27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1" name="Google Shape;201;p27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Final head elevation distribution (as-built)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Head condition and any repairs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Confirmation of spacing tolerance / positional tolerance (survey)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Any damaged columns and remediation steps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Integrity tests (if any)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2" name="Google Shape;202;p27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3" name="Google Shape;203;p27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13: Load Transfer Platform (LTP) Construction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9" name="Google Shape;209;p28"/>
          <p:cNvSpPr txBox="1">
            <a:spLocks noGrp="1"/>
          </p:cNvSpPr>
          <p:nvPr>
            <p:ph type="body" idx="1"/>
          </p:nvPr>
        </p:nvSpPr>
        <p:spPr>
          <a:xfrm>
            <a:off x="201800" y="7758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Place and compact the granular LTP; install geogrid if designed.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28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LTP thickness (design vs as-built) and level survey results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Material certification: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Gradation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fines content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moisture content range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source and quality tickets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Compaction results: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target relative compaction (%MDD) or density index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71600" lvl="2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in-place density tests (locations and results)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Geogrid/geotextile details (if used): type, strength, overlap, placement photos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Proof rolling/plate load test results if specified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28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28"/>
          <p:cNvSpPr txBox="1">
            <a:spLocks noGrp="1"/>
          </p:cNvSpPr>
          <p:nvPr>
            <p:ph type="title"/>
          </p:nvPr>
        </p:nvSpPr>
        <p:spPr>
          <a:xfrm>
            <a:off x="7077300" y="132275"/>
            <a:ext cx="1795200" cy="4866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>
            <a:spLocks noGrp="1"/>
          </p:cNvSpPr>
          <p:nvPr>
            <p:ph type="ctrTitle"/>
          </p:nvPr>
        </p:nvSpPr>
        <p:spPr>
          <a:xfrm>
            <a:off x="-24" y="1062075"/>
            <a:ext cx="9144000" cy="20526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C. </a:t>
            </a: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0" name="Google Shape;220;p29"/>
          <p:cNvPicPr preferRelativeResize="0"/>
          <p:nvPr/>
        </p:nvPicPr>
        <p:blipFill rotWithShape="1">
          <a:blip r:embed="rId3">
            <a:alphaModFix/>
          </a:blip>
          <a:srcRect r="44781" b="69849"/>
          <a:stretch/>
        </p:blipFill>
        <p:spPr>
          <a:xfrm>
            <a:off x="2777938" y="3686400"/>
            <a:ext cx="2323225" cy="65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637" y="3441637"/>
            <a:ext cx="1145425" cy="11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14: Verification Testing Program</a:t>
            </a: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7" name="Google Shape;227;p30"/>
          <p:cNvSpPr txBox="1">
            <a:spLocks noGrp="1"/>
          </p:cNvSpPr>
          <p:nvPr>
            <p:ph type="body" idx="1"/>
          </p:nvPr>
        </p:nvSpPr>
        <p:spPr>
          <a:xfrm>
            <a:off x="128525" y="7049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Prove the system meets requirements. Typically combines “column quality” verification and “system performance” verification.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30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229" name="Google Shape;229;p30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0" name="Google Shape;230;p30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Test matrix executed vs planned (type, number, locations)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Column verification results (depending on spec/contractor method), such as: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coring results (diameter/continuity, material quality)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compressive strength test results (if samples/cubes are used)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alpha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integrity observations (method-dependent)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Load testing (if specified):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71600" lvl="2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column load tests or zone load tests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71600" lvl="2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plate load tests on LTP (if required)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71600" lvl="2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AutoNum type="romanLcPeriod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load–settlement curves, interpreted stiffness, acceptance statement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Nonconformances + corrective works + retest outcomes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1" name="Google Shape;231;p30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2" name="Google Shape;232;p30"/>
          <p:cNvSpPr txBox="1">
            <a:spLocks noGrp="1"/>
          </p:cNvSpPr>
          <p:nvPr>
            <p:ph type="title"/>
          </p:nvPr>
        </p:nvSpPr>
        <p:spPr>
          <a:xfrm>
            <a:off x="6580925" y="218400"/>
            <a:ext cx="2310000" cy="4866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15: </a:t>
            </a:r>
            <a:r>
              <a:rPr lang="en" sz="1700" b="1"/>
              <a:t>Performance Monitoring and Final Acceptance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8" name="Google Shape;238;p31"/>
          <p:cNvSpPr txBox="1">
            <a:spLocks noGrp="1"/>
          </p:cNvSpPr>
          <p:nvPr>
            <p:ph type="body" idx="1"/>
          </p:nvPr>
        </p:nvSpPr>
        <p:spPr>
          <a:xfrm>
            <a:off x="128525" y="7049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Confirm the system performs as expected under construction loads and/or early service loads (especially for embankments).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9" name="Google Shape;239;p31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240" name="Google Shape;240;p31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31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Settlement monitoring results (time vs settlement) at agreed points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Differential settlement checks (adjacent points)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Pore pressure readings (if piezometers used) and trends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Any trigger/action levels exceeded and actions taken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Final acceptance statement linked to criteria in </a:t>
            </a:r>
            <a:r>
              <a:rPr lang="en" sz="1100">
                <a:solidFill>
                  <a:srgbClr val="FF0000"/>
                </a:solidFill>
                <a:latin typeface="Inter"/>
                <a:ea typeface="Inter"/>
                <a:cs typeface="Inter"/>
                <a:sym typeface="Inter"/>
              </a:rPr>
              <a:t>Stage 6</a:t>
            </a:r>
            <a:endParaRPr sz="1100">
              <a:solidFill>
                <a:srgbClr val="FF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2" name="Google Shape;242;p31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31"/>
          <p:cNvSpPr txBox="1">
            <a:spLocks noGrp="1"/>
          </p:cNvSpPr>
          <p:nvPr>
            <p:ph type="title"/>
          </p:nvPr>
        </p:nvSpPr>
        <p:spPr>
          <a:xfrm>
            <a:off x="6580925" y="218400"/>
            <a:ext cx="2310000" cy="4866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>
            <a:spLocks noGrp="1"/>
          </p:cNvSpPr>
          <p:nvPr>
            <p:ph type="title"/>
          </p:nvPr>
        </p:nvSpPr>
        <p:spPr>
          <a:xfrm>
            <a:off x="201800" y="132275"/>
            <a:ext cx="7051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 b="1">
                <a:latin typeface="Manrope"/>
                <a:ea typeface="Manrope"/>
                <a:cs typeface="Manrope"/>
                <a:sym typeface="Manrope"/>
              </a:rPr>
              <a:t>Stage 16: </a:t>
            </a:r>
            <a:r>
              <a:rPr lang="en" sz="1700" b="1"/>
              <a:t>Closeout and Handover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endParaRPr sz="18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9" name="Google Shape;249;p32"/>
          <p:cNvSpPr txBox="1">
            <a:spLocks noGrp="1"/>
          </p:cNvSpPr>
          <p:nvPr>
            <p:ph type="body" idx="1"/>
          </p:nvPr>
        </p:nvSpPr>
        <p:spPr>
          <a:xfrm>
            <a:off x="128525" y="704963"/>
            <a:ext cx="82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Deliver a clean as-built package so the owner can reuse the data and so future teams can learn from the project.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32"/>
          <p:cNvSpPr/>
          <p:nvPr/>
        </p:nvSpPr>
        <p:spPr>
          <a:xfrm rot="-5400000">
            <a:off x="5129125" y="608800"/>
            <a:ext cx="3455700" cy="4574100"/>
          </a:xfrm>
          <a:prstGeom prst="round1Rect">
            <a:avLst>
              <a:gd name="adj" fmla="val 8032"/>
            </a:avLst>
          </a:prstGeom>
          <a:solidFill>
            <a:schemeClr val="lt2"/>
          </a:solidFill>
          <a:ln>
            <a:noFill/>
          </a:ln>
          <a:effectLst>
            <a:outerShdw blurRad="171450" dist="114300" dir="13440000" algn="bl" rotWithShape="0">
              <a:schemeClr val="dk1">
                <a:alpha val="392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251" name="Google Shape;251;p32"/>
          <p:cNvSpPr txBox="1">
            <a:spLocks noGrp="1"/>
          </p:cNvSpPr>
          <p:nvPr>
            <p:ph type="body" idx="1"/>
          </p:nvPr>
        </p:nvSpPr>
        <p:spPr>
          <a:xfrm>
            <a:off x="5037275" y="1419438"/>
            <a:ext cx="356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DIGGS - </a:t>
            </a:r>
            <a:r>
              <a:rPr lang="en" sz="2000">
                <a:solidFill>
                  <a:srgbClr val="CC4125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endParaRPr sz="2000">
              <a:solidFill>
                <a:srgbClr val="CC41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32"/>
          <p:cNvSpPr txBox="1">
            <a:spLocks noGrp="1"/>
          </p:cNvSpPr>
          <p:nvPr>
            <p:ph type="body" idx="1"/>
          </p:nvPr>
        </p:nvSpPr>
        <p:spPr>
          <a:xfrm>
            <a:off x="201800" y="1328550"/>
            <a:ext cx="4356600" cy="31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Report at end of stage (key parameters):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Complete as-built dataset: every column + LTP + test results + monitoring records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Summary of compliance: pass/fail counts, exceptions and resolution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Final drawings (as-built layout), certifications, and signed QC/QA package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Lessons learned and recommended improvements for future projects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3" name="Google Shape;253;p32"/>
          <p:cNvSpPr txBox="1">
            <a:spLocks noGrp="1"/>
          </p:cNvSpPr>
          <p:nvPr>
            <p:ph type="body" idx="1"/>
          </p:nvPr>
        </p:nvSpPr>
        <p:spPr>
          <a:xfrm>
            <a:off x="5037275" y="1880463"/>
            <a:ext cx="4356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ter"/>
                <a:ea typeface="Inter"/>
                <a:cs typeface="Inter"/>
                <a:sym typeface="Inter"/>
              </a:rPr>
              <a:t>&lt;name attribute=“attribute value”&gt;value&lt;/name&gt;</a:t>
            </a:r>
            <a:endParaRPr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4" name="Google Shape;254;p32"/>
          <p:cNvSpPr txBox="1">
            <a:spLocks noGrp="1"/>
          </p:cNvSpPr>
          <p:nvPr>
            <p:ph type="title"/>
          </p:nvPr>
        </p:nvSpPr>
        <p:spPr>
          <a:xfrm>
            <a:off x="6580925" y="218400"/>
            <a:ext cx="2310000" cy="4866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>
            <a:spLocks noGrp="1"/>
          </p:cNvSpPr>
          <p:nvPr>
            <p:ph type="ctrTitle"/>
          </p:nvPr>
        </p:nvSpPr>
        <p:spPr>
          <a:xfrm>
            <a:off x="-24" y="1062075"/>
            <a:ext cx="9144000" cy="2052600"/>
          </a:xfrm>
          <a:prstGeom prst="rect">
            <a:avLst/>
          </a:prstGeom>
          <a:solidFill>
            <a:schemeClr val="accent5"/>
          </a:solidFill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Summary of the Parameters for DIGGS </a:t>
            </a:r>
            <a:endParaRPr sz="172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3">
            <a:alphaModFix/>
          </a:blip>
          <a:srcRect r="44781" b="69849"/>
          <a:stretch/>
        </p:blipFill>
        <p:spPr>
          <a:xfrm>
            <a:off x="2777938" y="3686400"/>
            <a:ext cx="2323225" cy="65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0637" y="3441637"/>
            <a:ext cx="1145425" cy="114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5"/>
          <p:cNvSpPr txBox="1"/>
          <p:nvPr/>
        </p:nvSpPr>
        <p:spPr>
          <a:xfrm>
            <a:off x="1476925" y="2056050"/>
            <a:ext cx="68496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minimum fields that should exist for a usable RI/CMC dataset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strongly recommended for QA/QC, analytics, and interoperability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[OPT]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= optional (project‑specific or nice to have)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 txBox="1">
            <a:spLocks noGrp="1"/>
          </p:cNvSpPr>
          <p:nvPr>
            <p:ph type="title" idx="4294967295"/>
          </p:nvPr>
        </p:nvSpPr>
        <p:spPr>
          <a:xfrm>
            <a:off x="257950" y="1973050"/>
            <a:ext cx="2095200" cy="1601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2602950" y="874000"/>
            <a:ext cx="6540900" cy="30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A. Project and dataset metadata</a:t>
            </a: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ProjectID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(unique string; persistent)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ProjectName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Owner / Client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SiteName / LocationName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CoordinateReferenceSystem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(EPSG code or WKT)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VerticalDatum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UnitsPolicy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(explicit; SI/US customary; preferably SI internally)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DatasetVersion / RevisionID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AuthoringOrganization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DataCreationDateTime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(ISO 8601)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SpecificationVersion / ContractPackageID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DesignEngineer / GeotechnicalEngineerOfRecord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ContractorName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(if known at this stage)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7"/>
          <p:cNvSpPr txBox="1">
            <a:spLocks noGrp="1"/>
          </p:cNvSpPr>
          <p:nvPr>
            <p:ph type="title" idx="4294967295"/>
          </p:nvPr>
        </p:nvSpPr>
        <p:spPr>
          <a:xfrm>
            <a:off x="257950" y="1973050"/>
            <a:ext cx="2095200" cy="1601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2456425" y="455250"/>
            <a:ext cx="6540900" cy="42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B. Ground model linkage (site investigation and design parameters)</a:t>
            </a: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(We don’t need to repeat full logs if they already exist in DIGGS SI data, but you </a:t>
            </a: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must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link the RI design to them.)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ReferenceToInvestigationData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(IDs/links to boreholes/CPTs/lab tests used)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DesignGroundwaterLevel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(elevation; plus basis: seasonal high/mean)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GoverningSoilLayers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(IDs or names; thickness ranges)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DesignParameterProfiles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(per layer or depth-dependent):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Su(z)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or strength parameters (Su, φ’, c’)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Compressibility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(mv, Cc/Cr, Cv)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Stiffness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 or equivalent)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[OPT] GeohazardFlags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(soft pockets, organic, liquefaction susceptibility, obstructions risk)</a:t>
            </a: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>
            <a:spLocks noGrp="1"/>
          </p:cNvSpPr>
          <p:nvPr>
            <p:ph type="title" idx="4294967295"/>
          </p:nvPr>
        </p:nvSpPr>
        <p:spPr>
          <a:xfrm>
            <a:off x="257950" y="1973050"/>
            <a:ext cx="2095200" cy="1601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2456425" y="455250"/>
            <a:ext cx="6540900" cy="42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C. RI/CMC design intent (what was designed)</a:t>
            </a: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C1. Treatment area / zones (recommended as a “TreatmentArea” feature)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TreatmentAreaID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TreatmentAreaBoundaryGeometry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(polygon)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GroundImprovementPurpose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(enumeration; settlement control / bearing / stability / etc.)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ZoneType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(building slab / embankment / tank / platform)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TargetPerformanceCriteria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MaxTotalSettlement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(mm)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MaxDifferentialSettlement / AngularDistortion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(mm or ratio)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FactorOfSafetyTargets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(bearing/stability)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9"/>
          <p:cNvSpPr txBox="1">
            <a:spLocks noGrp="1"/>
          </p:cNvSpPr>
          <p:nvPr>
            <p:ph type="title" idx="4294967295"/>
          </p:nvPr>
        </p:nvSpPr>
        <p:spPr>
          <a:xfrm>
            <a:off x="257950" y="1973050"/>
            <a:ext cx="2095200" cy="1601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5" name="Google Shape;295;p39"/>
          <p:cNvSpPr txBox="1"/>
          <p:nvPr/>
        </p:nvSpPr>
        <p:spPr>
          <a:xfrm>
            <a:off x="2474750" y="321000"/>
            <a:ext cx="6540900" cy="45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C2. CMC layout and geometry (design values)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DesignInclusionType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(RigidInclusion / CMC)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PatternType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(square / triangular / custom)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DesignSpacingS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DesignDiameterD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DesignDepth / ToeElevation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 or elevation)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CutoffElevation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(planned column head level)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EndBearingLayerDefinition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(text + layer ID)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EdgeTreatmentDetails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(half‑spacing, perimeter rows, transitions)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AreaReplacementRatio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(dimensionless)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DesignStressConcentrationAssumption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(dimensionless, if used)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[OPT] DesignMethodReference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(unit‑cell / numerical / project method memo)</a:t>
            </a: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title" idx="4294967295"/>
          </p:nvPr>
        </p:nvSpPr>
        <p:spPr>
          <a:xfrm>
            <a:off x="257950" y="1973050"/>
            <a:ext cx="2095200" cy="1601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1" name="Google Shape;301;p40"/>
          <p:cNvSpPr txBox="1"/>
          <p:nvPr/>
        </p:nvSpPr>
        <p:spPr>
          <a:xfrm>
            <a:off x="2474750" y="321000"/>
            <a:ext cx="6540900" cy="3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C3. Load Transfer Platform (LTP) design intent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LTP_ID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LTP_ThicknessDesign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LTP_MaterialType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(granular fill / engineered fill)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LTP_GradationLimits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(spec band or reference)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LTP_CompactionRequirement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(e.g., %MDD or relative density)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LTP_ReinforcementFlag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(yes/no)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GeosyntheticType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(geogrid/geotextile)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GeosyntheticStrengthProperties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(as specified)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[OPT] LTP_StiffnessTarget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(Ev2 / modulus target)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>
            <a:spLocks noGrp="1"/>
          </p:cNvSpPr>
          <p:nvPr>
            <p:ph type="title" idx="4294967295"/>
          </p:nvPr>
        </p:nvSpPr>
        <p:spPr>
          <a:xfrm>
            <a:off x="257950" y="1973050"/>
            <a:ext cx="2095200" cy="1601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Pre-Installation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07" name="Google Shape;307;p41"/>
          <p:cNvSpPr txBox="1"/>
          <p:nvPr/>
        </p:nvSpPr>
        <p:spPr>
          <a:xfrm>
            <a:off x="2474750" y="158250"/>
            <a:ext cx="6540900" cy="48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D. Construction plan and acceptance criteria (the “rules”)</a:t>
            </a: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InstallationMethodPlanned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(full displacement / partial displacement / predrill + tremie / etc.)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Grout/ConcreteMixDesignID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(reference)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TargetProductionTolerances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PositionTolerance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(mm)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VerticalityTolerance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(% or mm/m)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DepthTolerance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(m)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AcceptanceCriteriaSetID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(reference)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TrialSectionRequired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(yes/no; and limits)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PlannedVerificationTests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"/>
              <a:buChar char="○"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type + frequency + locations logic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[OPT] EnvironmentalConstraints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(spoils handling, washout plan, etc.)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>
            <a:spLocks noGrp="1"/>
          </p:cNvSpPr>
          <p:nvPr>
            <p:ph type="title" idx="4294967295"/>
          </p:nvPr>
        </p:nvSpPr>
        <p:spPr>
          <a:xfrm>
            <a:off x="238825" y="1781175"/>
            <a:ext cx="1795200" cy="13677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3" name="Google Shape;313;p42"/>
          <p:cNvSpPr txBox="1"/>
          <p:nvPr/>
        </p:nvSpPr>
        <p:spPr>
          <a:xfrm>
            <a:off x="0" y="3278800"/>
            <a:ext cx="28293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is the core of RI/CMC value. In DIGGS terms, treat each CMC as a </a:t>
            </a: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with geometry, plus an </a:t>
            </a: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InstallationActivity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time series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or summarized metrics.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42"/>
          <p:cNvSpPr txBox="1"/>
          <p:nvPr/>
        </p:nvSpPr>
        <p:spPr>
          <a:xfrm>
            <a:off x="3040675" y="590813"/>
            <a:ext cx="5723400" cy="17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A. Rig / equipment / monitoring system metadata</a:t>
            </a: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UcPeriod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RigID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MonitoringSystemName/Version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(if digital logging used)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OperatorID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(or crew ID)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ToolType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(auger type, diameter, bit)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CalibrationRecords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(flow meter, pressure sensor calibration date)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[OPT] WeatherConditions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(if relevant for grout)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42"/>
          <p:cNvSpPr txBox="1"/>
          <p:nvPr/>
        </p:nvSpPr>
        <p:spPr>
          <a:xfrm>
            <a:off x="3090900" y="2451788"/>
            <a:ext cx="6053100" cy="21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B. Material batching and delivery (linked to columns)</a:t>
            </a: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MaterialBatchID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MaterialType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(grout / mortar / concrete)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BatchDateTime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BinderType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(cement type)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WaterCementRatio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(or mix proportions)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Admixtures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(type + dosage)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[REC] FreshProperties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(slump/flow, density, temperature)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[OPT] SupplierTicketID</a:t>
            </a:r>
            <a:endParaRPr sz="1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3"/>
          <p:cNvSpPr txBox="1">
            <a:spLocks noGrp="1"/>
          </p:cNvSpPr>
          <p:nvPr>
            <p:ph type="title" idx="4294967295"/>
          </p:nvPr>
        </p:nvSpPr>
        <p:spPr>
          <a:xfrm>
            <a:off x="238825" y="1781175"/>
            <a:ext cx="1795200" cy="13677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21" name="Google Shape;321;p43"/>
          <p:cNvSpPr txBox="1"/>
          <p:nvPr/>
        </p:nvSpPr>
        <p:spPr>
          <a:xfrm>
            <a:off x="0" y="3278800"/>
            <a:ext cx="2829300" cy="10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This is the core of RI/CMC value. In DIGGS terms, treat each CMC as a </a:t>
            </a: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Feature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with geometry, plus an </a:t>
            </a: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InstallationActivity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with </a:t>
            </a: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time series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or summarized metrics.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2" name="Google Shape;322;p43"/>
          <p:cNvSpPr txBox="1"/>
          <p:nvPr/>
        </p:nvSpPr>
        <p:spPr>
          <a:xfrm>
            <a:off x="2751350" y="1117325"/>
            <a:ext cx="6117900" cy="24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C. Per‑column “header” (minimum as‑built identity + geometry)</a:t>
            </a:r>
            <a:endParaRPr sz="13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InclusionID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(unique, persistent)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TreatmentAreaID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(link)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PlannedX, PlannedY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AsBuiltX, AsBuiltY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(survey or rig GNSS)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GroundSurfaceElevationAtInstall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StartDateTime / EndDateTime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PlannedDepth vs AchievedDepth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CutoffElevationAchieved</a:t>
            </a:r>
            <a:b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InstallationMethodActual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(enumeration)</a:t>
            </a:r>
            <a:b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" sz="1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[REQ] Status</a:t>
            </a:r>
            <a:r>
              <a:rPr lang="en"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(installed / replaced / rejected / reworked)</a:t>
            </a:r>
            <a:endParaRPr sz="11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4"/>
          <p:cNvSpPr txBox="1"/>
          <p:nvPr/>
        </p:nvSpPr>
        <p:spPr>
          <a:xfrm>
            <a:off x="2765900" y="886575"/>
            <a:ext cx="6181500" cy="29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D. Per‑column installation records (summaries)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These can be recorded either as </a:t>
            </a:r>
            <a:r>
              <a:rPr lang="en" sz="1100" b="1">
                <a:solidFill>
                  <a:schemeClr val="dk1"/>
                </a:solidFill>
              </a:rPr>
              <a:t>time series</a:t>
            </a:r>
            <a:r>
              <a:rPr lang="en" sz="1100">
                <a:solidFill>
                  <a:schemeClr val="dk1"/>
                </a:solidFill>
              </a:rPr>
              <a:t> (preferred) or as summary values (minimum).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Minimum summary metrics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TotalInjectedVolume</a:t>
            </a:r>
            <a:r>
              <a:rPr lang="en" sz="1100">
                <a:solidFill>
                  <a:schemeClr val="dk1"/>
                </a:solidFill>
              </a:rPr>
              <a:t> (m³)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[REQ] VolumePerMeter</a:t>
            </a:r>
            <a:r>
              <a:rPr lang="en" sz="1100">
                <a:solidFill>
                  <a:schemeClr val="dk1"/>
                </a:solidFill>
              </a:rPr>
              <a:t> (m³/m) (or equivalent)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[REQ] MaxInjectionPressure</a:t>
            </a:r>
            <a:r>
              <a:rPr lang="en" sz="1100">
                <a:solidFill>
                  <a:schemeClr val="dk1"/>
                </a:solidFill>
              </a:rPr>
              <a:t> (kPa or bar)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[REQ] AverageInjectionPressure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[REQ] WithdrawalRateAverage</a:t>
            </a:r>
            <a:r>
              <a:rPr lang="en" sz="1100">
                <a:solidFill>
                  <a:schemeClr val="dk1"/>
                </a:solidFill>
              </a:rPr>
              <a:t> (m/min)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[REC] PenetrationRateAverage</a:t>
            </a:r>
            <a:r>
              <a:rPr lang="en" sz="1100">
                <a:solidFill>
                  <a:schemeClr val="dk1"/>
                </a:solidFill>
              </a:rPr>
              <a:t> (m/min)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[REC] MaxTorque / AverageTorque</a:t>
            </a:r>
            <a:r>
              <a:rPr lang="en" sz="1100">
                <a:solidFill>
                  <a:schemeClr val="dk1"/>
                </a:solidFill>
              </a:rPr>
              <a:t> (kN·m)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[REC] RotationSpeedAverage</a:t>
            </a:r>
            <a:r>
              <a:rPr lang="en" sz="1100">
                <a:solidFill>
                  <a:schemeClr val="dk1"/>
                </a:solidFill>
              </a:rPr>
              <a:t> (rpm)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[REC] MaterialBatchIDUsed</a:t>
            </a:r>
            <a:r>
              <a:rPr lang="en" sz="1100">
                <a:solidFill>
                  <a:schemeClr val="dk1"/>
                </a:solidFill>
              </a:rPr>
              <a:t> (link)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328" name="Google Shape;328;p44"/>
          <p:cNvSpPr txBox="1">
            <a:spLocks noGrp="1"/>
          </p:cNvSpPr>
          <p:nvPr>
            <p:ph type="title" idx="4294967295"/>
          </p:nvPr>
        </p:nvSpPr>
        <p:spPr>
          <a:xfrm>
            <a:off x="238825" y="1781175"/>
            <a:ext cx="1795200" cy="13677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/>
          <p:nvPr/>
        </p:nvSpPr>
        <p:spPr>
          <a:xfrm>
            <a:off x="2820850" y="386625"/>
            <a:ext cx="6181500" cy="41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Termination / refusal information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TerminationType</a:t>
            </a:r>
            <a:r>
              <a:rPr lang="en" sz="1100">
                <a:solidFill>
                  <a:schemeClr val="dk1"/>
                </a:solidFill>
              </a:rPr>
              <a:t> (design depth reached / refusal / obstruction / other)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TerminationDepth / Elevation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TerminationReasonDetail</a:t>
            </a:r>
            <a:r>
              <a:rPr lang="en" sz="1100">
                <a:solidFill>
                  <a:schemeClr val="dk1"/>
                </a:solidFill>
              </a:rPr>
              <a:t> (free text + code list)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ObstructionEncounteredFlag</a:t>
            </a:r>
            <a:r>
              <a:rPr lang="en" sz="1100">
                <a:solidFill>
                  <a:schemeClr val="dk1"/>
                </a:solidFill>
              </a:rPr>
              <a:t> (yes/no; depth)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Nonconformance + corrective action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NonconformanceFlag</a:t>
            </a:r>
            <a:r>
              <a:rPr lang="en" sz="1100">
                <a:solidFill>
                  <a:schemeClr val="dk1"/>
                </a:solidFill>
              </a:rPr>
              <a:t> (yes/no)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NonconformanceType</a:t>
            </a:r>
            <a:r>
              <a:rPr lang="en" sz="1100">
                <a:solidFill>
                  <a:schemeClr val="dk1"/>
                </a:solidFill>
              </a:rPr>
              <a:t> (short column / low take / high take / deviation / etc.)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CorrectiveAction</a:t>
            </a:r>
            <a:r>
              <a:rPr lang="en" sz="1100">
                <a:solidFill>
                  <a:schemeClr val="dk1"/>
                </a:solidFill>
              </a:rPr>
              <a:t> (re-drill / additional column / redesign / accept as-is)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EngineerDispositionID</a:t>
            </a:r>
            <a:r>
              <a:rPr lang="en" sz="1100">
                <a:solidFill>
                  <a:schemeClr val="dk1"/>
                </a:solidFill>
              </a:rPr>
              <a:t> (approval/refusal record)</a:t>
            </a:r>
            <a:endParaRPr sz="11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334" name="Google Shape;334;p45"/>
          <p:cNvSpPr txBox="1">
            <a:spLocks noGrp="1"/>
          </p:cNvSpPr>
          <p:nvPr>
            <p:ph type="title" idx="4294967295"/>
          </p:nvPr>
        </p:nvSpPr>
        <p:spPr>
          <a:xfrm>
            <a:off x="238825" y="1781175"/>
            <a:ext cx="1795200" cy="13677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6"/>
          <p:cNvSpPr txBox="1"/>
          <p:nvPr/>
        </p:nvSpPr>
        <p:spPr>
          <a:xfrm>
            <a:off x="2765900" y="0"/>
            <a:ext cx="6181500" cy="49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E. Installation time‑series (strongly recommended)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If the rig logs continuously, store time series keyed by </a:t>
            </a:r>
            <a:r>
              <a:rPr lang="en" sz="1100" b="1">
                <a:solidFill>
                  <a:schemeClr val="dk1"/>
                </a:solidFill>
              </a:rPr>
              <a:t>timestamp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lang="en" sz="1100" b="1">
                <a:solidFill>
                  <a:schemeClr val="dk1"/>
                </a:solidFill>
              </a:rPr>
              <a:t>depth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Depth(t)</a:t>
            </a:r>
            <a:r>
              <a:rPr lang="en" sz="1100">
                <a:solidFill>
                  <a:schemeClr val="dk1"/>
                </a:solidFill>
              </a:rPr>
              <a:t> or Depth vs Time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PenetrationRate(t)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WithdrawalRate(t)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Torque(t)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RotationSpeed(t)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CrowdForce/Downforce(t)</a:t>
            </a:r>
            <a:r>
              <a:rPr lang="en" sz="1100">
                <a:solidFill>
                  <a:schemeClr val="dk1"/>
                </a:solidFill>
              </a:rPr>
              <a:t> (if available)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PumpPressure(t)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FlowRate(t)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CumulativeVolume(t)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[OPT] GroutTemperature(t)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[OPT] Vibration/Noise metrics</a:t>
            </a:r>
            <a:r>
              <a:rPr lang="en" sz="1100">
                <a:solidFill>
                  <a:schemeClr val="dk1"/>
                </a:solidFill>
              </a:rPr>
              <a:t> (if recorded)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340" name="Google Shape;340;p46"/>
          <p:cNvSpPr txBox="1">
            <a:spLocks noGrp="1"/>
          </p:cNvSpPr>
          <p:nvPr>
            <p:ph type="title" idx="4294967295"/>
          </p:nvPr>
        </p:nvSpPr>
        <p:spPr>
          <a:xfrm>
            <a:off x="238825" y="1781175"/>
            <a:ext cx="1795200" cy="1367700"/>
          </a:xfrm>
          <a:prstGeom prst="rect">
            <a:avLst/>
          </a:prstGeom>
          <a:solidFill>
            <a:srgbClr val="B6D7A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>
            <a:spLocks noGrp="1"/>
          </p:cNvSpPr>
          <p:nvPr>
            <p:ph type="title" idx="4294967295"/>
          </p:nvPr>
        </p:nvSpPr>
        <p:spPr>
          <a:xfrm>
            <a:off x="255350" y="2085150"/>
            <a:ext cx="2310000" cy="10392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46" name="Google Shape;346;p47"/>
          <p:cNvSpPr txBox="1"/>
          <p:nvPr/>
        </p:nvSpPr>
        <p:spPr>
          <a:xfrm>
            <a:off x="2857500" y="50550"/>
            <a:ext cx="6181500" cy="22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A. As‑built RI/CMC inventory summary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TotalInstalledCount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InstalledByZoneCount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ExceptionsList</a:t>
            </a:r>
            <a:r>
              <a:rPr lang="en" sz="1100">
                <a:solidFill>
                  <a:schemeClr val="dk1"/>
                </a:solidFill>
              </a:rPr>
              <a:t> (IDs)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StatisticalSummaries</a:t>
            </a:r>
            <a:r>
              <a:rPr lang="en" sz="1100">
                <a:solidFill>
                  <a:schemeClr val="dk1"/>
                </a:solidFill>
              </a:rPr>
              <a:t> (depth/volume/pressure distributions)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AsBuiltSpacingCheckResults</a:t>
            </a:r>
            <a:r>
              <a:rPr lang="en" sz="1100">
                <a:solidFill>
                  <a:schemeClr val="dk1"/>
                </a:solidFill>
              </a:rPr>
              <a:t> (min/mean/max spacing; outliers)</a:t>
            </a:r>
            <a:endParaRPr sz="1300" b="1">
              <a:solidFill>
                <a:schemeClr val="dk1"/>
              </a:solidFill>
            </a:endParaRPr>
          </a:p>
        </p:txBody>
      </p:sp>
      <p:sp>
        <p:nvSpPr>
          <p:cNvPr id="347" name="Google Shape;347;p47"/>
          <p:cNvSpPr txBox="1"/>
          <p:nvPr/>
        </p:nvSpPr>
        <p:spPr>
          <a:xfrm>
            <a:off x="3095625" y="2765925"/>
            <a:ext cx="5229000" cy="19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B. Column head treatment and survey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FinalHeadElevation</a:t>
            </a:r>
            <a:r>
              <a:rPr lang="en" sz="1100">
                <a:solidFill>
                  <a:schemeClr val="dk1"/>
                </a:solidFill>
              </a:rPr>
              <a:t> (per column or per cluster)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PositionSurveyResult</a:t>
            </a:r>
            <a:r>
              <a:rPr lang="en" sz="1100">
                <a:solidFill>
                  <a:schemeClr val="dk1"/>
                </a:solidFill>
              </a:rPr>
              <a:t> (per column)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HeadCondition</a:t>
            </a:r>
            <a:r>
              <a:rPr lang="en" sz="1100">
                <a:solidFill>
                  <a:schemeClr val="dk1"/>
                </a:solidFill>
              </a:rPr>
              <a:t> (good / damaged / repaired)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[OPT] HeadProtectionDetails</a:t>
            </a:r>
            <a:r>
              <a:rPr lang="en" sz="1100">
                <a:solidFill>
                  <a:schemeClr val="dk1"/>
                </a:solidFill>
              </a:rPr>
              <a:t> (cap, lean concrete, etc.)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>
            <a:spLocks noGrp="1"/>
          </p:cNvSpPr>
          <p:nvPr>
            <p:ph type="title" idx="4294967295"/>
          </p:nvPr>
        </p:nvSpPr>
        <p:spPr>
          <a:xfrm>
            <a:off x="255350" y="2085150"/>
            <a:ext cx="2310000" cy="10392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3" name="Google Shape;353;p48"/>
          <p:cNvSpPr txBox="1"/>
          <p:nvPr/>
        </p:nvSpPr>
        <p:spPr>
          <a:xfrm>
            <a:off x="2962500" y="984725"/>
            <a:ext cx="6181500" cy="2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C. LTP construction (as‑built + QC)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LTP_AsBuiltThicknessMap</a:t>
            </a:r>
            <a:r>
              <a:rPr lang="en" sz="1100">
                <a:solidFill>
                  <a:schemeClr val="dk1"/>
                </a:solidFill>
              </a:rPr>
              <a:t> (spot checks with coordinates)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MaterialSourceID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GradationTestResults</a:t>
            </a:r>
            <a:r>
              <a:rPr lang="en" sz="1100">
                <a:solidFill>
                  <a:schemeClr val="dk1"/>
                </a:solidFill>
              </a:rPr>
              <a:t> (IDs; location/date)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CompactionTestResults</a:t>
            </a:r>
            <a:r>
              <a:rPr lang="en" sz="1100">
                <a:solidFill>
                  <a:schemeClr val="dk1"/>
                </a:solidFill>
              </a:rPr>
              <a:t> (density/moisture; location/date)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GeosyntheticAsBuilt</a:t>
            </a:r>
            <a:r>
              <a:rPr lang="en" sz="1100">
                <a:solidFill>
                  <a:schemeClr val="dk1"/>
                </a:solidFill>
              </a:rPr>
              <a:t> (type, roll IDs, overlaps, photos reference)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[OPT] PlateLoad / ModulusTestResults</a:t>
            </a:r>
            <a:r>
              <a:rPr lang="en" sz="1100">
                <a:solidFill>
                  <a:schemeClr val="dk1"/>
                </a:solidFill>
              </a:rPr>
              <a:t> (Ev2 or equivalent)</a:t>
            </a:r>
            <a:endParaRPr sz="11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>
            <a:spLocks noGrp="1"/>
          </p:cNvSpPr>
          <p:nvPr>
            <p:ph type="title" idx="4294967295"/>
          </p:nvPr>
        </p:nvSpPr>
        <p:spPr>
          <a:xfrm>
            <a:off x="255350" y="2085150"/>
            <a:ext cx="2310000" cy="10392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59" name="Google Shape;359;p49"/>
          <p:cNvSpPr txBox="1"/>
          <p:nvPr/>
        </p:nvSpPr>
        <p:spPr>
          <a:xfrm>
            <a:off x="2962500" y="977850"/>
            <a:ext cx="6181500" cy="3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D. Verification testing (columns and/or system)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You may not do all of these on every project, but the schema should support them.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Column verification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VerificationTestID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[REQ] TestType</a:t>
            </a:r>
            <a:r>
              <a:rPr lang="en" sz="1100">
                <a:solidFill>
                  <a:schemeClr val="dk1"/>
                </a:solidFill>
              </a:rPr>
              <a:t> (coring / UCS / integrity / excavation exposure / etc.)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[REQ] AssociatedInclusionID(s)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[REQ] TestDateTime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[REQ] ResultSummary + PassFail</a:t>
            </a:r>
            <a:br>
              <a:rPr lang="en" sz="1100" b="1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[REC] CoreDetails</a:t>
            </a:r>
            <a:r>
              <a:rPr lang="en" sz="1100">
                <a:solidFill>
                  <a:schemeClr val="dk1"/>
                </a:solidFill>
              </a:rPr>
              <a:t> (if coring):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core length, recovery %, observed defects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measured diameter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UCS results (MPa) + specimen metadata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 b="1">
                <a:solidFill>
                  <a:schemeClr val="dk1"/>
                </a:solidFill>
              </a:rPr>
              <a:t>[OPT] IntegrityMethodDetails</a:t>
            </a:r>
            <a:r>
              <a:rPr lang="en" sz="1100">
                <a:solidFill>
                  <a:schemeClr val="dk1"/>
                </a:solidFill>
              </a:rPr>
              <a:t> (if used; method‑specific fields)</a:t>
            </a: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>
            <a:spLocks noGrp="1"/>
          </p:cNvSpPr>
          <p:nvPr>
            <p:ph type="title" idx="4294967295"/>
          </p:nvPr>
        </p:nvSpPr>
        <p:spPr>
          <a:xfrm>
            <a:off x="255350" y="2085150"/>
            <a:ext cx="2310000" cy="10392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65" name="Google Shape;365;p50"/>
          <p:cNvSpPr txBox="1"/>
          <p:nvPr/>
        </p:nvSpPr>
        <p:spPr>
          <a:xfrm>
            <a:off x="2962500" y="977850"/>
            <a:ext cx="61815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D. Verification testing (columns and/or system)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</a:rPr>
              <a:t>Load testing (if required)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LoadTestID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TestType</a:t>
            </a:r>
            <a:r>
              <a:rPr lang="en" sz="1100">
                <a:solidFill>
                  <a:schemeClr val="dk1"/>
                </a:solidFill>
              </a:rPr>
              <a:t> (single inclusion / group / zone / plate)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LoadSteps</a:t>
            </a:r>
            <a:r>
              <a:rPr lang="en" sz="1100">
                <a:solidFill>
                  <a:schemeClr val="dk1"/>
                </a:solidFill>
              </a:rPr>
              <a:t> (kN) + hold times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SettlementMeasurements</a:t>
            </a:r>
            <a:r>
              <a:rPr lang="en" sz="1100">
                <a:solidFill>
                  <a:schemeClr val="dk1"/>
                </a:solidFill>
              </a:rPr>
              <a:t> (mm vs time/load)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AcceptanceCriteriaReference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InterpretedStiffness/Capacity</a:t>
            </a:r>
            <a:r>
              <a:rPr lang="en" sz="1100">
                <a:solidFill>
                  <a:schemeClr val="dk1"/>
                </a:solidFill>
              </a:rPr>
              <a:t> (project-defined)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1"/>
          <p:cNvSpPr txBox="1">
            <a:spLocks noGrp="1"/>
          </p:cNvSpPr>
          <p:nvPr>
            <p:ph type="title" idx="4294967295"/>
          </p:nvPr>
        </p:nvSpPr>
        <p:spPr>
          <a:xfrm>
            <a:off x="255350" y="2085150"/>
            <a:ext cx="2310000" cy="10392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1" name="Google Shape;371;p51"/>
          <p:cNvSpPr txBox="1"/>
          <p:nvPr/>
        </p:nvSpPr>
        <p:spPr>
          <a:xfrm>
            <a:off x="2962500" y="574875"/>
            <a:ext cx="6181500" cy="36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E. Performance monitoring time‑series (if instrumentation exists)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InstrumentID</a:t>
            </a:r>
            <a:r>
              <a:rPr lang="en" sz="1100">
                <a:solidFill>
                  <a:schemeClr val="dk1"/>
                </a:solidFill>
              </a:rPr>
              <a:t> (settlement plate, extensometer, piezometer, inclinometer)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InstrumentType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Location (X,Y,Z)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ReadingDateTime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ReadingValue + Units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TriggerLevels</a:t>
            </a:r>
            <a:r>
              <a:rPr lang="en" sz="1100">
                <a:solidFill>
                  <a:schemeClr val="dk1"/>
                </a:solidFill>
              </a:rPr>
              <a:t> (alert/action thresholds)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[REC] EventsLog</a:t>
            </a:r>
            <a:r>
              <a:rPr lang="en" sz="1100">
                <a:solidFill>
                  <a:schemeClr val="dk1"/>
                </a:solidFill>
              </a:rPr>
              <a:t> (construction stage, embankment lift height, loading milestones)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[OPT] AutomatedDataFeedMetadata</a:t>
            </a:r>
            <a:r>
              <a:rPr lang="en" sz="1100">
                <a:solidFill>
                  <a:schemeClr val="dk1"/>
                </a:solidFill>
              </a:rPr>
              <a:t> (if IoT)</a:t>
            </a:r>
            <a:endParaRPr sz="11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2"/>
          <p:cNvSpPr txBox="1">
            <a:spLocks noGrp="1"/>
          </p:cNvSpPr>
          <p:nvPr>
            <p:ph type="title" idx="4294967295"/>
          </p:nvPr>
        </p:nvSpPr>
        <p:spPr>
          <a:xfrm>
            <a:off x="255350" y="2085150"/>
            <a:ext cx="2310000" cy="10392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7" name="Google Shape;377;p52"/>
          <p:cNvSpPr txBox="1"/>
          <p:nvPr/>
        </p:nvSpPr>
        <p:spPr>
          <a:xfrm>
            <a:off x="3054075" y="1106075"/>
            <a:ext cx="6181500" cy="2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F. Remediation / rework records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RemediationActionID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Trigger</a:t>
            </a:r>
            <a:r>
              <a:rPr lang="en" sz="1100">
                <a:solidFill>
                  <a:schemeClr val="dk1"/>
                </a:solidFill>
              </a:rPr>
              <a:t> (why remediation was required)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ActionType</a:t>
            </a:r>
            <a:r>
              <a:rPr lang="en" sz="1100">
                <a:solidFill>
                  <a:schemeClr val="dk1"/>
                </a:solidFill>
              </a:rPr>
              <a:t> (additional column / replacement / local redesign / etc.)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LinkedInclusionIDs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VerificationAfterRemediation</a:t>
            </a:r>
            <a:r>
              <a:rPr lang="en" sz="1100">
                <a:solidFill>
                  <a:schemeClr val="dk1"/>
                </a:solidFill>
              </a:rPr>
              <a:t> (test ID + pass/fail)</a:t>
            </a:r>
            <a:endParaRPr sz="11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3"/>
          <p:cNvSpPr txBox="1">
            <a:spLocks noGrp="1"/>
          </p:cNvSpPr>
          <p:nvPr>
            <p:ph type="title" idx="4294967295"/>
          </p:nvPr>
        </p:nvSpPr>
        <p:spPr>
          <a:xfrm>
            <a:off x="255350" y="2085150"/>
            <a:ext cx="2310000" cy="1039200"/>
          </a:xfrm>
          <a:prstGeom prst="rect">
            <a:avLst/>
          </a:prstGeom>
          <a:solidFill>
            <a:srgbClr val="C9DAF8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br>
              <a:rPr lang="en" sz="1720">
                <a:latin typeface="Manrope"/>
                <a:ea typeface="Manrope"/>
                <a:cs typeface="Manrope"/>
                <a:sym typeface="Manrope"/>
              </a:rPr>
            </a:br>
            <a:r>
              <a:rPr lang="en" sz="1720">
                <a:latin typeface="Manrope"/>
                <a:ea typeface="Manrope"/>
                <a:cs typeface="Manrope"/>
                <a:sym typeface="Manrope"/>
              </a:rPr>
              <a:t>Post-Installation</a:t>
            </a:r>
            <a:endParaRPr sz="172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83" name="Google Shape;383;p53"/>
          <p:cNvSpPr txBox="1"/>
          <p:nvPr/>
        </p:nvSpPr>
        <p:spPr>
          <a:xfrm>
            <a:off x="3054075" y="1106075"/>
            <a:ext cx="6181500" cy="21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1"/>
                </a:solidFill>
              </a:rPr>
              <a:t>G. Final acceptance package fields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AcceptanceDate</a:t>
            </a:r>
            <a:br>
              <a:rPr lang="en" sz="1100" b="1">
                <a:solidFill>
                  <a:schemeClr val="dk1"/>
                </a:solidFill>
              </a:rPr>
            </a:b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AcceptanceAuthority</a:t>
            </a:r>
            <a:r>
              <a:rPr lang="en" sz="1100">
                <a:solidFill>
                  <a:schemeClr val="dk1"/>
                </a:solidFill>
              </a:rPr>
              <a:t> (name/role)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ComplianceStatement</a:t>
            </a:r>
            <a:r>
              <a:rPr lang="en" sz="1100">
                <a:solidFill>
                  <a:schemeClr val="dk1"/>
                </a:solidFill>
              </a:rPr>
              <a:t> (met all criteria / exceptions accepted)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[REQ] FinalAsBuiltDatasetReference</a:t>
            </a:r>
            <a:r>
              <a:rPr lang="en" sz="1100">
                <a:solidFill>
                  <a:schemeClr val="dk1"/>
                </a:solidFill>
              </a:rPr>
              <a:t> (file set ID / repository tag)</a:t>
            </a:r>
            <a:endParaRPr sz="11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endParaRPr sz="13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735" y="0"/>
            <a:ext cx="733751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89" name="Google Shape;389;p5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Mohamed Ezzat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4077</Words>
  <Application>Microsoft Office PowerPoint</Application>
  <PresentationFormat>On-screen Show (16:9)</PresentationFormat>
  <Paragraphs>376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Inter</vt:lpstr>
      <vt:lpstr>Nunito Light</vt:lpstr>
      <vt:lpstr>Manrope</vt:lpstr>
      <vt:lpstr>Arial</vt:lpstr>
      <vt:lpstr>Simple Light</vt:lpstr>
      <vt:lpstr>Standardizing Rigid Inclusion Soil Improvement Data  with DIGGS</vt:lpstr>
      <vt:lpstr>Pre-Installation Phase   </vt:lpstr>
      <vt:lpstr>Stage 1: Site Investigation Planning</vt:lpstr>
      <vt:lpstr>Stage 2: Field Site Investigation Execution</vt:lpstr>
      <vt:lpstr>Stage 3: Laboratory Testing and Soil Characterization</vt:lpstr>
      <vt:lpstr>Stage 5: Feasibility and Selection of CMC/RI as the Ground Improvement Solution</vt:lpstr>
      <vt:lpstr>Stage 6: Define Design Basis and Acceptance Criteria</vt:lpstr>
      <vt:lpstr>Stage 7: Detailed CMC/RI System Design (Owner/Engineer Design or Design-Assist) </vt:lpstr>
      <vt:lpstr>Stage 10: Trial Section / Test Columns (Optional)</vt:lpstr>
      <vt:lpstr>Stage 8: Contractor Procurement and Method Statement Approval </vt:lpstr>
      <vt:lpstr>B. Installation Phase   </vt:lpstr>
      <vt:lpstr>Stage 9: Pre-Construction Site Preparation and Controls</vt:lpstr>
      <vt:lpstr>Stage 11: Production CMC Installation (Main Construction)</vt:lpstr>
      <vt:lpstr>Stage 11: Production CMC Installation (Main Construction)</vt:lpstr>
      <vt:lpstr>Stage 12: Column Head Treatment (Caps) and Platform Interface Works</vt:lpstr>
      <vt:lpstr>Stage 13: Load Transfer Platform (LTP) Construction</vt:lpstr>
      <vt:lpstr>C. Post-Installation </vt:lpstr>
      <vt:lpstr>Stage 14: Verification Testing Program</vt:lpstr>
      <vt:lpstr>Stage 15: Performance Monitoring and Final Acceptance </vt:lpstr>
      <vt:lpstr>Stage 16: Closeout and Handover </vt:lpstr>
      <vt:lpstr>Summary of the Parameters for DIGGS  </vt:lpstr>
      <vt:lpstr>PowerPoint Presentation</vt:lpstr>
      <vt:lpstr>  Pre-Installation</vt:lpstr>
      <vt:lpstr>  Pre-Installation</vt:lpstr>
      <vt:lpstr>  Pre-Installation</vt:lpstr>
      <vt:lpstr>  Pre-Installation</vt:lpstr>
      <vt:lpstr>  Pre-Installation</vt:lpstr>
      <vt:lpstr>  Pre-Installation</vt:lpstr>
      <vt:lpstr>  Installation</vt:lpstr>
      <vt:lpstr>  Installation</vt:lpstr>
      <vt:lpstr>  Installation</vt:lpstr>
      <vt:lpstr>  Installation</vt:lpstr>
      <vt:lpstr>  Installation</vt:lpstr>
      <vt:lpstr> Post-Installation</vt:lpstr>
      <vt:lpstr> Post-Installation</vt:lpstr>
      <vt:lpstr> Post-Installation</vt:lpstr>
      <vt:lpstr> Post-Installation</vt:lpstr>
      <vt:lpstr> Post-Installation</vt:lpstr>
      <vt:lpstr> Post-Installation</vt:lpstr>
      <vt:lpstr> Post-Installation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Mohamed Ezzat</cp:lastModifiedBy>
  <cp:revision>1</cp:revision>
  <dcterms:modified xsi:type="dcterms:W3CDTF">2026-02-24T21:27:06Z</dcterms:modified>
</cp:coreProperties>
</file>