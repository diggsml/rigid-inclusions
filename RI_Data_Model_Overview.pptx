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1"/>
  </p:normalViewPr>
  <p:slideViewPr>
    <p:cSldViewPr snapToGrid="0" snapToObjects="1">
      <p:cViewPr varScale="1">
        <p:scale>
          <a:sx n="133" d="100"/>
          <a:sy n="133" d="100"/>
        </p:scale>
        <p:origin x="3728" y="1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8FA8CC"/>
                </a:solidFill>
                <a:latin typeface="Calibri"/>
              </a:rPr>
              <a:t>DIGGS  ·  RIGID INCLUSION GROUND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Data Model for Rigid Inclusions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96926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 i="0">
                <a:solidFill>
                  <a:srgbClr val="C7D2E3"/>
                </a:solidFill>
                <a:latin typeface="Calibri"/>
              </a:rPr>
              <a:t>How project workflow — design, specification, construction, and post-installation verification — maps onto a connected, structured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969264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1">
                <a:solidFill>
                  <a:srgbClr val="7C89A6"/>
                </a:solidFill>
                <a:latin typeface="Calibri"/>
              </a:rPr>
              <a:t>Illustrated with a worked example: Riverside Embankment RI Foundation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Today, a project's story is scattered across files that don't talk to each other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0876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5B6472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800600" cy="3108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5B6472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Design calculations — a spreadsheet or calc package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5B6472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Specifications &amp; drawings — PDF and CAD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5B6472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Construction records — daily logs, as-built surveys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5B6472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Test reports — load tests, integrity tests — PDF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i="1">
                <a:solidFill>
                  <a:srgbClr val="5B6472"/>
                </a:solidFill>
                <a:latin typeface="Calibri"/>
              </a:rPr>
              <a:t>     None of these reference each other in a way software can follow.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50876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5875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59" y="17373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THE DIGGS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331720"/>
            <a:ext cx="4800600" cy="3108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2E5C8A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One structured record carries design intent, the limits it must satisfy, the reasoning behind it, and what was actually built and tested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2E5C8A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Every piece of data links back to what it came from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50" b="1">
                <a:solidFill>
                  <a:srgbClr val="2E5C8A"/>
                </a:solidFill>
                <a:latin typeface="Calibri"/>
              </a:rPr>
              <a:t>–  </a:t>
            </a:r>
            <a:r>
              <a:rPr sz="1550">
                <a:solidFill>
                  <a:srgbClr val="222B3A"/>
                </a:solidFill>
                <a:latin typeface="Calibri"/>
              </a:rPr>
              <a:t>“Did we build what we designed, and did it perform?” becomes a query — not an archaeology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DIGGS is an existing, open exchange format for geotechnical data (borings, samples, lab &amp; field tests). Rigid Inclusions extends it to ground improvement.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2 / 18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Every phase of the project has a home in the data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96596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9050">
            <a:solidFill>
              <a:srgbClr val="2E5C8A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550" b="1">
                <a:solidFill>
                  <a:srgbClr val="2E5C8A"/>
                </a:solidFill>
                <a:latin typeface="Calibri"/>
              </a:rPr>
              <a:t>DESIGN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What shall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be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2331720" cy="6400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862071" y="2674620"/>
            <a:ext cx="329185" cy="0"/>
          </a:xfrm>
          <a:prstGeom prst="line">
            <a:avLst/>
          </a:prstGeom>
          <a:ln w="25400">
            <a:solidFill>
              <a:srgbClr val="5B6472"/>
            </a:solidFill>
            <a:tailEnd type="triangle" w="med" len="med"/>
          </a:ln>
          <a:effectLst/>
        </p:spPr>
      </p:cxnSp>
      <p:sp>
        <p:nvSpPr>
          <p:cNvPr id="8" name="Rounded Rectangle 7"/>
          <p:cNvSpPr/>
          <p:nvPr/>
        </p:nvSpPr>
        <p:spPr>
          <a:xfrm>
            <a:off x="3218687" y="196596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E4F2EF"/>
          </a:solidFill>
          <a:ln w="19050">
            <a:solidFill>
              <a:srgbClr val="1E7F76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550" b="1">
                <a:solidFill>
                  <a:srgbClr val="1E7F76"/>
                </a:solidFill>
                <a:latin typeface="Calibri"/>
              </a:rPr>
              <a:t>SPECIFICATION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What limits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must 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7" y="1965960"/>
            <a:ext cx="2331720" cy="64008"/>
          </a:xfrm>
          <a:prstGeom prst="rect">
            <a:avLst/>
          </a:prstGeom>
          <a:solidFill>
            <a:srgbClr val="1E7F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577840" y="2674620"/>
            <a:ext cx="329183" cy="0"/>
          </a:xfrm>
          <a:prstGeom prst="line">
            <a:avLst/>
          </a:prstGeom>
          <a:ln w="25400">
            <a:solidFill>
              <a:srgbClr val="5B6472"/>
            </a:solidFill>
            <a:tailEnd type="triangle" w="med" len="med"/>
          </a:ln>
          <a:effectLst/>
        </p:spPr>
      </p:cxnSp>
      <p:sp>
        <p:nvSpPr>
          <p:cNvPr id="11" name="Rounded Rectangle 10"/>
          <p:cNvSpPr/>
          <p:nvPr/>
        </p:nvSpPr>
        <p:spPr>
          <a:xfrm>
            <a:off x="5934455" y="196596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9050">
            <a:solidFill>
              <a:srgbClr val="46536B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550" b="1">
                <a:solidFill>
                  <a:srgbClr val="46536B"/>
                </a:solidFill>
                <a:latin typeface="Calibri"/>
              </a:rPr>
              <a:t>CONSTRUCTION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What was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actually 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34455" y="1965960"/>
            <a:ext cx="2331720" cy="64008"/>
          </a:xfrm>
          <a:prstGeom prst="rect">
            <a:avLst/>
          </a:prstGeom>
          <a:solidFill>
            <a:srgbClr val="4653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293607" y="2674620"/>
            <a:ext cx="329185" cy="0"/>
          </a:xfrm>
          <a:prstGeom prst="line">
            <a:avLst/>
          </a:prstGeom>
          <a:ln w="25400">
            <a:solidFill>
              <a:srgbClr val="5B6472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8650224" y="1965960"/>
            <a:ext cx="2331720" cy="1417320"/>
          </a:xfrm>
          <a:prstGeom prst="roundRect">
            <a:avLst>
              <a:gd name="adj" fmla="val 8000"/>
            </a:avLst>
          </a:prstGeom>
          <a:solidFill>
            <a:srgbClr val="E7F3EC"/>
          </a:solidFill>
          <a:ln w="19050">
            <a:solidFill>
              <a:srgbClr val="3E8A5C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550" b="1">
                <a:solidFill>
                  <a:srgbClr val="3E8A5C"/>
                </a:solidFill>
                <a:latin typeface="Calibri"/>
              </a:rPr>
              <a:t>VERIFICATION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Did it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50" b="0">
                <a:solidFill>
                  <a:srgbClr val="222B3A"/>
                </a:solidFill>
                <a:latin typeface="Calibri"/>
              </a:rPr>
              <a:t>perform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50224" y="1965960"/>
            <a:ext cx="2331720" cy="64008"/>
          </a:xfrm>
          <a:prstGeom prst="rect">
            <a:avLst/>
          </a:prstGeom>
          <a:solidFill>
            <a:srgbClr val="3E8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10479024" cy="868680"/>
          </a:xfrm>
          <a:prstGeom prst="roundRect">
            <a:avLst>
              <a:gd name="adj" fmla="val 7000"/>
            </a:avLst>
          </a:prstGeom>
          <a:solidFill>
            <a:srgbClr val="F6EEDD"/>
          </a:solidFill>
          <a:ln w="15875">
            <a:solidFill>
              <a:srgbClr val="A8762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59352"/>
            <a:ext cx="1060704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A8762A"/>
                </a:solidFill>
                <a:latin typeface="Calibri"/>
              </a:rPr>
              <a:t>BASIS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70248"/>
            <a:ext cx="1060704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The engineering justification — governing standards, ground model, design method — underlies design and specification throughout.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668780" y="3383280"/>
            <a:ext cx="0" cy="502920"/>
          </a:xfrm>
          <a:prstGeom prst="line">
            <a:avLst/>
          </a:prstGeom>
          <a:ln w="19050">
            <a:solidFill>
              <a:srgbClr val="A8762A"/>
            </a:solidFill>
            <a:headEnd type="triangle" w="med" len="med"/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4384548" y="3383280"/>
            <a:ext cx="0" cy="502920"/>
          </a:xfrm>
          <a:prstGeom prst="line">
            <a:avLst/>
          </a:prstGeom>
          <a:ln w="19050">
            <a:solidFill>
              <a:srgbClr val="A8762A"/>
            </a:solidFill>
            <a:headEnd type="triangl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This deck walks each of these four groups, then shows a small worked example that carries data through all of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3 / 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One RI Program holds three kinds of content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92727" y="1417320"/>
            <a:ext cx="42062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RigidInclusionProgram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438247" y="2103120"/>
            <a:ext cx="3657600" cy="594359"/>
          </a:xfrm>
          <a:prstGeom prst="line">
            <a:avLst/>
          </a:prstGeom>
          <a:ln w="15875">
            <a:solidFill>
              <a:srgbClr val="8A93A3"/>
            </a:solidFill>
            <a:tailEnd type="triangle" w="med" len="med"/>
          </a:ln>
          <a:effectLst/>
        </p:spPr>
      </p:cxnSp>
      <p:sp>
        <p:nvSpPr>
          <p:cNvPr id="7" name="Rounded Rectangle 6"/>
          <p:cNvSpPr/>
          <p:nvPr/>
        </p:nvSpPr>
        <p:spPr>
          <a:xfrm>
            <a:off x="769467" y="2697479"/>
            <a:ext cx="3337560" cy="23317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9050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9467" y="2697479"/>
            <a:ext cx="3337560" cy="7315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0635" y="2898648"/>
            <a:ext cx="293522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5C8A"/>
                </a:solidFill>
                <a:latin typeface="Calibri"/>
              </a:rP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264408"/>
            <a:ext cx="293522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1">
                <a:solidFill>
                  <a:srgbClr val="222B3A"/>
                </a:solidFill>
                <a:latin typeface="Calibri"/>
              </a:rPr>
              <a:t>Intent — what shall be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0635" y="3749039"/>
            <a:ext cx="2935224" cy="11429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2E5C8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Column grid &amp; spacing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2E5C8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Diameter &amp; length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2E5C8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Platform thickness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2103120"/>
            <a:ext cx="0" cy="594359"/>
          </a:xfrm>
          <a:prstGeom prst="line">
            <a:avLst/>
          </a:prstGeom>
          <a:ln w="15875">
            <a:solidFill>
              <a:srgbClr val="8A93A3"/>
            </a:solidFill>
            <a:tailEnd type="triangle" w="med" len="med"/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4427067" y="2697479"/>
            <a:ext cx="3337560" cy="2331720"/>
          </a:xfrm>
          <a:prstGeom prst="roundRect">
            <a:avLst>
              <a:gd name="adj" fmla="val 6000"/>
            </a:avLst>
          </a:prstGeom>
          <a:solidFill>
            <a:srgbClr val="E4F2EF"/>
          </a:solidFill>
          <a:ln w="19050">
            <a:solidFill>
              <a:srgbClr val="1E7F7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7067" y="2697479"/>
            <a:ext cx="3337560" cy="73152"/>
          </a:xfrm>
          <a:prstGeom prst="rect">
            <a:avLst/>
          </a:prstGeom>
          <a:solidFill>
            <a:srgbClr val="1E7F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8235" y="2898648"/>
            <a:ext cx="293522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E7F76"/>
                </a:solidFill>
                <a:latin typeface="Calibri"/>
              </a:rPr>
              <a:t>SPECIFICATION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8235" y="3264408"/>
            <a:ext cx="293522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1">
                <a:solidFill>
                  <a:srgbClr val="222B3A"/>
                </a:solidFill>
                <a:latin typeface="Calibri"/>
              </a:rPr>
              <a:t>Constraint — what limits must 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8235" y="3749039"/>
            <a:ext cx="2935224" cy="11429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1E7F76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Installation technique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1E7F76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Tolerances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1E7F76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Acceptance criteria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847" y="2103120"/>
            <a:ext cx="3657600" cy="594359"/>
          </a:xfrm>
          <a:prstGeom prst="line">
            <a:avLst/>
          </a:prstGeom>
          <a:ln w="15875">
            <a:solidFill>
              <a:srgbClr val="8A93A3"/>
            </a:solidFill>
            <a:tailEnd type="triangle" w="med" len="med"/>
          </a:ln>
          <a:effectLst/>
        </p:spPr>
      </p:cxnSp>
      <p:sp>
        <p:nvSpPr>
          <p:cNvPr id="19" name="Rounded Rectangle 18"/>
          <p:cNvSpPr/>
          <p:nvPr/>
        </p:nvSpPr>
        <p:spPr>
          <a:xfrm>
            <a:off x="8084667" y="2697479"/>
            <a:ext cx="3337560" cy="2331720"/>
          </a:xfrm>
          <a:prstGeom prst="roundRect">
            <a:avLst>
              <a:gd name="adj" fmla="val 6000"/>
            </a:avLst>
          </a:prstGeom>
          <a:solidFill>
            <a:srgbClr val="F6EEDD"/>
          </a:solidFill>
          <a:ln w="19050">
            <a:solidFill>
              <a:srgbClr val="A8762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4667" y="2697479"/>
            <a:ext cx="3337560" cy="73152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5835" y="2898648"/>
            <a:ext cx="2935224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A8762A"/>
                </a:solidFill>
                <a:latin typeface="Calibri"/>
              </a:rPr>
              <a:t>BASIS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5835" y="3264408"/>
            <a:ext cx="2935224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i="1">
                <a:solidFill>
                  <a:srgbClr val="222B3A"/>
                </a:solidFill>
                <a:latin typeface="Calibri"/>
              </a:rPr>
              <a:t>Justification — what it's founded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5835" y="3749039"/>
            <a:ext cx="2935224" cy="1142999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A8762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Governing standards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A8762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Design method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A8762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Working life &amp; safety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0352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A project can hold several programs — one per package, consultant, or contract phase — all built from the same three ingredients.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4 / 18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DESIGN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A design can describe one feature — or an entire population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5448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5875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792224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POPULATION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187451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8116" y="257403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05306" y="257403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82496" y="257403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59685" y="257403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436876" y="257403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8116" y="290931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305306" y="290931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82496" y="290931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59685" y="290931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436876" y="290931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8116" y="324459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305306" y="324459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682496" y="324459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59685" y="324459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436876" y="324459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8116" y="357987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305306" y="357987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682496" y="357987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059685" y="357987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36876" y="3579876"/>
            <a:ext cx="64008" cy="64008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849624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5B6472"/>
                </a:solidFill>
                <a:latin typeface="Calibri"/>
              </a:rPr>
              <a:t>zone + 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1" y="2423160"/>
            <a:ext cx="2578608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A zone boundary plus a grid pattern (spacing, orientation) describes every column inside it — one design object, however many columns.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023360"/>
            <a:ext cx="4709160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087368"/>
            <a:ext cx="4434840" cy="4206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2E5C8A"/>
                </a:solidFill>
                <a:latin typeface="Calibri"/>
              </a:rPr>
              <a:t>Site-wide layout: triangular grid @ 2.0 m · Ø450 mm · 12 m long → governs thousands of columns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59" y="1554480"/>
            <a:ext cx="5257800" cy="3246120"/>
          </a:xfrm>
          <a:prstGeom prst="roundRect">
            <a:avLst>
              <a:gd name="adj" fmla="val 6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355079" y="179222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46536B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INSTANCE SCOPE</a:t>
            </a:r>
          </a:p>
        </p:txBody>
      </p:sp>
      <p:sp>
        <p:nvSpPr>
          <p:cNvPr id="34" name="Oval 33"/>
          <p:cNvSpPr/>
          <p:nvPr/>
        </p:nvSpPr>
        <p:spPr>
          <a:xfrm>
            <a:off x="7040879" y="2857500"/>
            <a:ext cx="502920" cy="502920"/>
          </a:xfrm>
          <a:prstGeom prst="ellipse">
            <a:avLst/>
          </a:prstGeom>
          <a:solidFill>
            <a:srgbClr val="46536B"/>
          </a:solidFill>
          <a:ln>
            <a:noFill/>
          </a:ln>
          <a:effectLst/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3849624"/>
            <a:ext cx="1874519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5B6472"/>
                </a:solidFill>
                <a:latin typeface="Calibri"/>
              </a:rPr>
              <a:t>one named feature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2423160"/>
            <a:ext cx="2578607" cy="1371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22B3A"/>
                </a:solidFill>
                <a:latin typeface="Calibri"/>
              </a:rPr>
              <a:t>Some things are just named once — a specific platform, or the system as a whole.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79" y="4023360"/>
            <a:ext cx="4709160" cy="548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4653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087368"/>
            <a:ext cx="4434840" cy="4206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 i="0">
                <a:solidFill>
                  <a:srgbClr val="46536B"/>
                </a:solidFill>
                <a:latin typeface="Calibri"/>
              </a:rPr>
              <a:t>LTP-North platform design — one named feature, one 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056632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Same design object type either way — only the scope changes.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5 / 18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A local exception states only what's different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463040" y="1691640"/>
            <a:ext cx="8229600" cy="310896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9050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1892808"/>
            <a:ext cx="76809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2E5C8A"/>
                </a:solidFill>
                <a:latin typeface="Calibri"/>
              </a:rPr>
              <a:t>Zone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58568"/>
            <a:ext cx="7680960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Ø450 mm  ·  12 m long  ·  triangular grid @ 2.0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2743200"/>
            <a:ext cx="329184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1B2A4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60" y="2871216"/>
            <a:ext cx="29260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Abutment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3310128"/>
            <a:ext cx="2926080" cy="10515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B2A4A"/>
                </a:solidFill>
                <a:latin typeface="Calibri"/>
              </a:rPr>
              <a:t>–  </a:t>
            </a:r>
            <a:r>
              <a:rPr sz="1150">
                <a:solidFill>
                  <a:srgbClr val="222B3A"/>
                </a:solidFill>
                <a:latin typeface="Calibri"/>
              </a:rPr>
              <a:t>15 m long, reinforced to 6 m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950" i="1">
                <a:solidFill>
                  <a:srgbClr val="5B6472"/>
                </a:solidFill>
                <a:latin typeface="Calibri"/>
              </a:rPr>
              <a:t>     diameter &amp; grid inherited, not restated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3054096"/>
            <a:ext cx="3337559" cy="0"/>
          </a:xfrm>
          <a:prstGeom prst="line">
            <a:avLst/>
          </a:prstGeom>
          <a:ln w="25400">
            <a:solidFill>
              <a:srgbClr val="1B2A4A"/>
            </a:solidFill>
            <a:tailEnd type="triangl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297680" y="2670048"/>
            <a:ext cx="15544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i="1">
                <a:solidFill>
                  <a:srgbClr val="1B2A4A"/>
                </a:solidFill>
                <a:latin typeface="Calibri"/>
              </a:rPr>
              <a:t>based on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Most specific wins. Change the parent design and every exception downstream still resolves correctly — nothing has to be re-entered.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6 / 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WHAT GETS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Foundation system → platforms → columns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5999" y="14630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46536B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 Foundation System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811779" y="2148840"/>
            <a:ext cx="1394461" cy="548640"/>
          </a:xfrm>
          <a:prstGeom prst="line">
            <a:avLst/>
          </a:prstGeom>
          <a:ln w="22225">
            <a:solidFill>
              <a:srgbClr val="46536B"/>
            </a:solidFill>
            <a:tailEnd type="triangle" w="med" len="med"/>
          </a:ln>
          <a:effectLst/>
        </p:spPr>
      </p:cxnSp>
      <p:sp>
        <p:nvSpPr>
          <p:cNvPr id="7" name="Rounded Rectangle 6"/>
          <p:cNvSpPr/>
          <p:nvPr/>
        </p:nvSpPr>
        <p:spPr>
          <a:xfrm>
            <a:off x="1645919" y="269748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>
                <a:solidFill>
                  <a:srgbClr val="46536B"/>
                </a:solidFill>
                <a:latin typeface="Calibri"/>
              </a:rPr>
              <a:t>Load Transfer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Platform — North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2148840"/>
            <a:ext cx="1394460" cy="548640"/>
          </a:xfrm>
          <a:prstGeom prst="line">
            <a:avLst/>
          </a:prstGeom>
          <a:ln w="22225">
            <a:solidFill>
              <a:srgbClr val="46536B"/>
            </a:solidFill>
            <a:tailEnd type="triangle" w="med" len="med"/>
          </a:ln>
          <a:effectLst/>
        </p:spPr>
      </p:cxnSp>
      <p:sp>
        <p:nvSpPr>
          <p:cNvPr id="9" name="Rounded Rectangle 8"/>
          <p:cNvSpPr/>
          <p:nvPr/>
        </p:nvSpPr>
        <p:spPr>
          <a:xfrm>
            <a:off x="4434840" y="269748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>
                <a:solidFill>
                  <a:srgbClr val="46536B"/>
                </a:solidFill>
                <a:latin typeface="Calibri"/>
              </a:rPr>
              <a:t>Load Transfer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50" b="0">
                <a:solidFill>
                  <a:srgbClr val="5B6472"/>
                </a:solidFill>
                <a:latin typeface="Calibri"/>
              </a:rPr>
              <a:t>Platform — South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203704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39" y="2194560"/>
            <a:ext cx="1371600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0" i="1">
                <a:solidFill>
                  <a:srgbClr val="46536B"/>
                </a:solidFill>
                <a:latin typeface="Calibri"/>
              </a:rPr>
              <a:t>mandatory link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11779" y="3474720"/>
            <a:ext cx="0" cy="502920"/>
          </a:xfrm>
          <a:prstGeom prst="line">
            <a:avLst/>
          </a:prstGeom>
          <a:ln w="15875">
            <a:solidFill>
              <a:srgbClr val="8A93A3"/>
            </a:solidFill>
            <a:prstDash val="dash"/>
            <a:tailEnd type="triangle" w="med" len="med"/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2011679" y="397764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6472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>
                <a:solidFill>
                  <a:srgbClr val="222B3A"/>
                </a:solidFill>
                <a:latin typeface="Calibri"/>
              </a:rPr>
              <a:t>CMC-N-001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Rigid Inclusion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00700" y="3474720"/>
            <a:ext cx="0" cy="502920"/>
          </a:xfrm>
          <a:prstGeom prst="line">
            <a:avLst/>
          </a:prstGeom>
          <a:ln w="15875">
            <a:solidFill>
              <a:srgbClr val="8A93A3"/>
            </a:solidFill>
            <a:prstDash val="dash"/>
            <a:tailEnd type="triangle" w="med" len="med"/>
          </a:ln>
          <a:effectLst/>
        </p:spPr>
      </p:cxnSp>
      <p:sp>
        <p:nvSpPr>
          <p:cNvPr id="15" name="Rounded Rectangle 14"/>
          <p:cNvSpPr/>
          <p:nvPr/>
        </p:nvSpPr>
        <p:spPr>
          <a:xfrm>
            <a:off x="4800600" y="3977640"/>
            <a:ext cx="16002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6472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>
                <a:solidFill>
                  <a:srgbClr val="222B3A"/>
                </a:solidFill>
                <a:latin typeface="Calibri"/>
              </a:rPr>
              <a:t>CMC-S-001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50" b="0">
                <a:solidFill>
                  <a:srgbClr val="5B6472"/>
                </a:solidFill>
                <a:latin typeface="Calibri"/>
              </a:rPr>
              <a:t>Rigid Inclusion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79" y="4727448"/>
            <a:ext cx="530352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0" i="1">
                <a:solidFill>
                  <a:srgbClr val="5B6472"/>
                </a:solidFill>
                <a:latin typeface="Calibri"/>
              </a:rPr>
              <a:t>Which platform a column sits under is read from its position on the ground — not stored as a link. The platform's footprint decides membership.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834640"/>
            <a:ext cx="2331720" cy="2148840"/>
          </a:xfrm>
          <a:prstGeom prst="roundRect">
            <a:avLst>
              <a:gd name="adj" fmla="val 6000"/>
            </a:avLst>
          </a:prstGeom>
          <a:solidFill>
            <a:srgbClr val="F6EEDD"/>
          </a:solidFill>
          <a:ln w="15875">
            <a:solidFill>
              <a:srgbClr val="A8762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2999232"/>
            <a:ext cx="19659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8762A"/>
                </a:solidFill>
                <a:latin typeface="Calibri"/>
              </a:rPr>
              <a:t>Trial column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337560"/>
            <a:ext cx="1965960" cy="1463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222B3A"/>
                </a:solidFill>
                <a:latin typeface="Calibri"/>
              </a:rPr>
              <a:t>Proves the method before production relies on it. Built independent of any platform — no parent reference, by 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7 / 18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ONE-WAY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The as-built cites its design — never the other way around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280160" y="173736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E8EEF6"/>
          </a:solidFill>
          <a:ln w="19050">
            <a:solidFill>
              <a:srgbClr val="2E5C8A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600" b="1">
                <a:solidFill>
                  <a:srgbClr val="2E5C8A"/>
                </a:solidFill>
                <a:latin typeface="Calibri"/>
              </a:rPr>
              <a:t>Design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issued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73736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9050">
            <a:solidFill>
              <a:srgbClr val="46536B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600" b="1">
                <a:solidFill>
                  <a:srgbClr val="46536B"/>
                </a:solidFill>
                <a:latin typeface="Calibri"/>
              </a:rPr>
              <a:t>As-built column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200" b="0">
                <a:solidFill>
                  <a:srgbClr val="5B6472"/>
                </a:solidFill>
                <a:latin typeface="Calibri"/>
              </a:rPr>
              <a:t>realized later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029200" y="2194560"/>
            <a:ext cx="2103120" cy="0"/>
          </a:xfrm>
          <a:prstGeom prst="line">
            <a:avLst/>
          </a:prstGeom>
          <a:ln w="28575">
            <a:solidFill>
              <a:srgbClr val="1B2A4A"/>
            </a:solidFill>
            <a:tailEnd type="triangl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166360" y="1353312"/>
            <a:ext cx="1828799" cy="3657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1">
                <a:solidFill>
                  <a:srgbClr val="1B2A4A"/>
                </a:solidFill>
                <a:latin typeface="Calibri"/>
              </a:rPr>
              <a:t>“was built to”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154680"/>
            <a:ext cx="9235440" cy="1645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B2A4A"/>
                </a:solidFill>
                <a:latin typeface="Calibri"/>
              </a:rPr>
              <a:t>–  </a:t>
            </a:r>
            <a:r>
              <a:rPr sz="1450">
                <a:solidFill>
                  <a:srgbClr val="222B3A"/>
                </a:solidFill>
                <a:latin typeface="Calibri"/>
              </a:rPr>
              <a:t>A design file never has to be reissued each time a new column goes in the ground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B2A4A"/>
                </a:solidFill>
                <a:latin typeface="Calibri"/>
              </a:rPr>
              <a:t>–  </a:t>
            </a:r>
            <a:r>
              <a:rPr sz="1450">
                <a:solidFill>
                  <a:srgbClr val="222B3A"/>
                </a:solidFill>
                <a:latin typeface="Calibri"/>
              </a:rPr>
              <a:t>Records are never edited after delivery — only added to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B2A4A"/>
                </a:solidFill>
                <a:latin typeface="Calibri"/>
              </a:rPr>
              <a:t>–  </a:t>
            </a:r>
            <a:r>
              <a:rPr sz="1450">
                <a:solidFill>
                  <a:srgbClr val="222B3A"/>
                </a:solidFill>
                <a:latin typeface="Calibri"/>
              </a:rPr>
              <a:t>When a design is revised, older columns still correctly cite the version that governed them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00600"/>
            <a:ext cx="10515600" cy="59436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4800600"/>
            <a:ext cx="10058400" cy="5943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Same rule, every relationship in DIGGS: every reference points backward, to what came before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8 / 18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THE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The engineering justification travels with the 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0020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6EEDD"/>
          </a:solidFill>
          <a:ln w="9525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658368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393192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Governing standards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0350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ASIRI, Eurocode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68296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368296"/>
            <a:ext cx="54864" cy="658368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368296"/>
            <a:ext cx="393192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Design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68296"/>
            <a:ext cx="60350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Arching model — Hewlett &amp; Randolph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36391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6EEDD"/>
          </a:solidFill>
          <a:ln w="9525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136391"/>
            <a:ext cx="54864" cy="658368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136391"/>
            <a:ext cx="393192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Working life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136391"/>
            <a:ext cx="60350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75 years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04487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904487"/>
            <a:ext cx="54864" cy="658368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904487"/>
            <a:ext cx="393192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Safety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04487"/>
            <a:ext cx="60350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EC7 — Design Approach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72583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F6EEDD"/>
          </a:solidFill>
          <a:ln w="9525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4672583"/>
            <a:ext cx="54864" cy="658368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672583"/>
            <a:ext cx="393192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1B2A4A"/>
                </a:solidFill>
                <a:latin typeface="Calibri"/>
              </a:rPr>
              <a:t>Consequence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672583"/>
            <a:ext cx="6035040" cy="65836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222B3A"/>
                </a:solidFill>
                <a:latin typeface="Calibri"/>
              </a:rPr>
              <a:t>CC2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1">
                <a:solidFill>
                  <a:srgbClr val="5B6472"/>
                </a:solidFill>
                <a:latin typeface="Calibri"/>
              </a:rPr>
              <a:t>Every design and specification links to a Basis, so a reviewer years later sees not just what was designed, but why.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9 / 18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LIMITS &amp;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One flexible recipe covers every tolerance and performance limit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80363" y="160020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E7F76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SUBJECT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3171" y="1988819"/>
            <a:ext cx="128016" cy="0"/>
          </a:xfrm>
          <a:prstGeom prst="line">
            <a:avLst/>
          </a:prstGeom>
          <a:ln w="22225">
            <a:solidFill>
              <a:srgbClr val="1E7F76"/>
            </a:solidFill>
            <a:tailEnd type="triangle" w="med" len="med"/>
          </a:ln>
          <a:effectLst/>
        </p:spPr>
      </p:cxnSp>
      <p:sp>
        <p:nvSpPr>
          <p:cNvPr id="7" name="Rounded Rectangle 6"/>
          <p:cNvSpPr/>
          <p:nvPr/>
        </p:nvSpPr>
        <p:spPr>
          <a:xfrm>
            <a:off x="3119475" y="160020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E7F76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STATISTIC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12283" y="1988819"/>
            <a:ext cx="128016" cy="0"/>
          </a:xfrm>
          <a:prstGeom prst="line">
            <a:avLst/>
          </a:prstGeom>
          <a:ln w="22225">
            <a:solidFill>
              <a:srgbClr val="1E7F76"/>
            </a:solidFill>
            <a:tailEnd type="triangle" w="med" len="med"/>
          </a:ln>
          <a:effectLst/>
        </p:spPr>
      </p:cxnSp>
      <p:sp>
        <p:nvSpPr>
          <p:cNvPr id="9" name="Rounded Rectangle 8"/>
          <p:cNvSpPr/>
          <p:nvPr/>
        </p:nvSpPr>
        <p:spPr>
          <a:xfrm>
            <a:off x="5158587" y="160020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E7F76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51395" y="1988819"/>
            <a:ext cx="128016" cy="0"/>
          </a:xfrm>
          <a:prstGeom prst="line">
            <a:avLst/>
          </a:prstGeom>
          <a:ln w="22225">
            <a:solidFill>
              <a:srgbClr val="1E7F76"/>
            </a:solidFill>
            <a:tailEnd type="triangle" w="med" len="med"/>
          </a:ln>
          <a:effectLst/>
        </p:spPr>
      </p:cxnSp>
      <p:sp>
        <p:nvSpPr>
          <p:cNvPr id="11" name="Rounded Rectangle 10"/>
          <p:cNvSpPr/>
          <p:nvPr/>
        </p:nvSpPr>
        <p:spPr>
          <a:xfrm>
            <a:off x="7197699" y="160020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E7F76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LIMIT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90507" y="1988819"/>
            <a:ext cx="128016" cy="0"/>
          </a:xfrm>
          <a:prstGeom prst="line">
            <a:avLst/>
          </a:prstGeom>
          <a:ln w="22225">
            <a:solidFill>
              <a:srgbClr val="1E7F76"/>
            </a:solidFill>
            <a:tailEnd type="triangle" w="med" len="med"/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9236811" y="1600200"/>
            <a:ext cx="1874519" cy="777240"/>
          </a:xfrm>
          <a:prstGeom prst="roundRect">
            <a:avLst>
              <a:gd name="adj" fmla="val 8000"/>
            </a:avLst>
          </a:prstGeom>
          <a:solidFill>
            <a:srgbClr val="1E7F76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363" y="2880360"/>
            <a:ext cx="10030968" cy="10058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5875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44955" y="300837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363" y="333756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plan position deviation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9475" y="333756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individual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8587" y="333756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7699" y="333756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222B3A"/>
                </a:solidFill>
                <a:latin typeface="Calibri"/>
              </a:rPr>
              <a:t>25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6811" y="333756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per element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0363" y="4069080"/>
            <a:ext cx="10030968" cy="10058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15875">
            <a:solidFill>
              <a:srgbClr val="3E8A5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44955" y="419709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3E8A5C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363" y="452628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settlement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9475" y="452628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8587" y="452628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7699" y="452628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 i="0">
                <a:solidFill>
                  <a:srgbClr val="222B3A"/>
                </a:solidFill>
                <a:latin typeface="Calibri"/>
              </a:rPr>
              <a:t>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6811" y="4526280"/>
            <a:ext cx="1874519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0" i="0">
                <a:solidFill>
                  <a:srgbClr val="222B3A"/>
                </a:solidFill>
                <a:latin typeface="Calibri"/>
              </a:rPr>
              <a:t>per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Same shape whether it's checking a construction tolerance or a post-installation performance result — no one-off elements per limit type.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10 / 18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Test results are structured data, tied to a specific column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0876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E7F3EC"/>
          </a:solidFill>
          <a:ln w="15875">
            <a:solidFill>
              <a:srgbClr val="3E8A5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3E8A5C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STATIC LOAD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7091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222B3A"/>
                </a:solidFill>
                <a:latin typeface="Calibri"/>
              </a:rPr>
              <a:t>Applied load vs. head settlement, recorded as a data series.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39"/>
            <a:ext cx="3977639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1051560" y="4326940"/>
            <a:ext cx="925829" cy="153619"/>
          </a:xfrm>
          <a:prstGeom prst="line">
            <a:avLst/>
          </a:prstGeom>
          <a:ln w="28575">
            <a:solidFill>
              <a:srgbClr val="3E8A5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1977389" y="4070908"/>
            <a:ext cx="925831" cy="256032"/>
          </a:xfrm>
          <a:prstGeom prst="line">
            <a:avLst/>
          </a:prstGeom>
          <a:ln w="28575">
            <a:solidFill>
              <a:srgbClr val="3E8A5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2903220" y="3712463"/>
            <a:ext cx="925830" cy="358445"/>
          </a:xfrm>
          <a:prstGeom prst="line">
            <a:avLst/>
          </a:prstGeom>
          <a:ln w="28575">
            <a:solidFill>
              <a:srgbClr val="3E8A5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3829050" y="3200399"/>
            <a:ext cx="925829" cy="512064"/>
          </a:xfrm>
          <a:prstGeom prst="line">
            <a:avLst/>
          </a:prstGeom>
          <a:ln w="28575">
            <a:solidFill>
              <a:srgbClr val="3E8A5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914400" y="4645152"/>
            <a:ext cx="3977639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1">
                <a:solidFill>
                  <a:srgbClr val="5B6472"/>
                </a:solidFill>
                <a:latin typeface="Calibri"/>
              </a:rPr>
              <a:t>0 → 1,400 kN  ·  0 → 16.2 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59" y="150876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E7F3EC"/>
          </a:solidFill>
          <a:ln w="15875">
            <a:solidFill>
              <a:srgbClr val="3E8A5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79" y="17373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3E8A5C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LOW-STRAIN INTEGRITY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286000"/>
            <a:ext cx="470916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0" i="0">
                <a:solidFill>
                  <a:srgbClr val="222B3A"/>
                </a:solidFill>
                <a:latin typeface="Calibri"/>
              </a:rPr>
              <a:t>Relative impedance vs. depth — flags necking or voids along the column.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063239"/>
            <a:ext cx="3977639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6629400" y="3200399"/>
            <a:ext cx="1851660" cy="768097"/>
          </a:xfrm>
          <a:prstGeom prst="line">
            <a:avLst/>
          </a:prstGeom>
          <a:ln w="28575">
            <a:solidFill>
              <a:srgbClr val="3E8A5C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8481060" y="3968496"/>
            <a:ext cx="1851660" cy="512064"/>
          </a:xfrm>
          <a:prstGeom prst="line">
            <a:avLst/>
          </a:prstGeom>
          <a:ln w="28575">
            <a:solidFill>
              <a:srgbClr val="3E8A5C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6492240" y="4645152"/>
            <a:ext cx="3977639" cy="2286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0" i="1">
                <a:solidFill>
                  <a:srgbClr val="5B6472"/>
                </a:solidFill>
                <a:latin typeface="Calibri"/>
              </a:rPr>
              <a:t>impedance 1.00 → 0.95 over 12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Each result cites the column it was measured on — so pass/fail traces back to one column, one design, one specification.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11 / 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A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Riverside Embankment — a small project, every concept present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141732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1">
                <a:solidFill>
                  <a:srgbClr val="5B6472"/>
                </a:solidFill>
                <a:latin typeface="Calibri"/>
              </a:rPr>
              <a:t>Embankment settlement &amp; stability improvement over soft 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015" y="21488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2015" y="2148840"/>
            <a:ext cx="54864" cy="14173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319" y="224028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319" y="292836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Foundation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9223" y="21488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9223" y="2148840"/>
            <a:ext cx="54864" cy="1417320"/>
          </a:xfrm>
          <a:prstGeom prst="rect">
            <a:avLst/>
          </a:prstGeom>
          <a:solidFill>
            <a:srgbClr val="4653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5527" y="224028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5527" y="292836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Load transfer platforms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21488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6431" y="2148840"/>
            <a:ext cx="54864" cy="1417320"/>
          </a:xfrm>
          <a:prstGeom prst="rect">
            <a:avLst/>
          </a:prstGeom>
          <a:solidFill>
            <a:srgbClr val="4653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2735" y="224028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292836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Columns (2 production + 1 trial)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3639" y="214884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3639" y="2148840"/>
            <a:ext cx="54864" cy="14173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9943" y="224028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9943" y="292836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Design objects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015" y="379476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2015" y="3794760"/>
            <a:ext cx="54864" cy="1417320"/>
          </a:xfrm>
          <a:prstGeom prst="rect">
            <a:avLst/>
          </a:prstGeom>
          <a:solidFill>
            <a:srgbClr val="1E7F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319" y="388620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1 + 1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319" y="457428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Specification + acceptance criterion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9223" y="379476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9223" y="3794760"/>
            <a:ext cx="54864" cy="1417320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35527" y="388620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5527" y="457428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Basis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6431" y="379476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96431" y="3794760"/>
            <a:ext cx="54864" cy="1417320"/>
          </a:xfrm>
          <a:prstGeom prst="rect">
            <a:avLst/>
          </a:prstGeom>
          <a:solidFill>
            <a:srgbClr val="3E8A5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42735" y="3886200"/>
            <a:ext cx="2350008" cy="779526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2735" y="4574286"/>
            <a:ext cx="2350008" cy="59527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Post-installation test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12 / 18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EXAMPLE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Site-wide layout, plus a system-level performance target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50876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5875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73351"/>
            <a:ext cx="4800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E5C8A"/>
                </a:solidFill>
                <a:latin typeface="Calibri"/>
              </a:rPr>
              <a:t>RIColumnDesign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site-wide · population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92724"/>
            <a:ext cx="480060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dirty="0">
                <a:solidFill>
                  <a:srgbClr val="2E5C8A"/>
                </a:solidFill>
                <a:latin typeface="Calibri"/>
              </a:rPr>
              <a:t>–  </a:t>
            </a:r>
            <a:r>
              <a:rPr sz="1250" dirty="0">
                <a:solidFill>
                  <a:srgbClr val="222B3A"/>
                </a:solidFill>
                <a:latin typeface="Calibri"/>
              </a:rPr>
              <a:t>Triangular grid @ 2.0 m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dirty="0">
                <a:solidFill>
                  <a:srgbClr val="2E5C8A"/>
                </a:solidFill>
                <a:latin typeface="Calibri"/>
              </a:rPr>
              <a:t>–  </a:t>
            </a:r>
            <a:r>
              <a:rPr sz="1250" dirty="0">
                <a:solidFill>
                  <a:srgbClr val="222B3A"/>
                </a:solidFill>
                <a:latin typeface="Calibri"/>
              </a:rPr>
              <a:t>Ø450 mm · 12.0 m long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dirty="0">
                <a:solidFill>
                  <a:srgbClr val="2E5C8A"/>
                </a:solidFill>
                <a:latin typeface="Calibri"/>
              </a:rPr>
              <a:t>–  </a:t>
            </a:r>
            <a:r>
              <a:rPr sz="1250" dirty="0">
                <a:solidFill>
                  <a:srgbClr val="222B3A"/>
                </a:solidFill>
                <a:latin typeface="Calibri"/>
              </a:rPr>
              <a:t>7% area replacement 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508760"/>
            <a:ext cx="5257800" cy="196596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 w="15875">
            <a:solidFill>
              <a:srgbClr val="2E5C8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1673351"/>
            <a:ext cx="480060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2E5C8A"/>
                </a:solidFill>
                <a:latin typeface="Calibri"/>
              </a:rPr>
              <a:t>RISystemDesign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65960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the embankment · instance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286000"/>
            <a:ext cx="4800600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E5C8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Predicted settlement: 32 mm (total)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>
                <a:solidFill>
                  <a:srgbClr val="2E5C8A"/>
                </a:solidFill>
                <a:latin typeface="Calibri"/>
              </a:rPr>
              <a:t>–  </a:t>
            </a:r>
            <a:r>
              <a:rPr sz="1250">
                <a:solidFill>
                  <a:srgbClr val="222B3A"/>
                </a:solidFill>
                <a:latin typeface="Calibri"/>
              </a:rPr>
              <a:t>Settlement efficacy: 0.62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59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46536B"/>
                </a:solidFill>
                <a:latin typeface="Calibri"/>
              </a:rPr>
              <a:t>RILTPDesign — North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59"/>
            <a:ext cx="480060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6536B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0.60 m thick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6536B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load efficacy 0.82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3794759"/>
            <a:ext cx="5257800" cy="1325880"/>
          </a:xfrm>
          <a:prstGeom prst="roundRect">
            <a:avLst>
              <a:gd name="adj" fmla="val 6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3931920"/>
            <a:ext cx="4800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46536B"/>
                </a:solidFill>
                <a:latin typeface="Calibri"/>
              </a:rPr>
              <a:t>RILTPDesign — South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251959"/>
            <a:ext cx="480060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6536B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0.75 m thick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46536B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load efficacy 0.79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All four design objects cite the same Basis and the same governing Specification.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13 / 18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EXAMPLE · AS-BUILT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One system, two platforms, three columns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1417320"/>
            <a:ext cx="4754880" cy="640080"/>
          </a:xfrm>
          <a:prstGeom prst="roundRect">
            <a:avLst>
              <a:gd name="adj" fmla="val 8000"/>
            </a:avLst>
          </a:prstGeom>
          <a:solidFill>
            <a:srgbClr val="46536B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Riverside Embankment RI Foundation System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08960" y="2057400"/>
            <a:ext cx="1371600" cy="457200"/>
          </a:xfrm>
          <a:prstGeom prst="line">
            <a:avLst/>
          </a:prstGeom>
          <a:ln w="19050">
            <a:solidFill>
              <a:srgbClr val="46536B"/>
            </a:solidFill>
            <a:tailEnd type="triangle" w="med" len="med"/>
          </a:ln>
          <a:effectLst/>
        </p:spPr>
      </p:cxnSp>
      <p:sp>
        <p:nvSpPr>
          <p:cNvPr id="7" name="Rounded Rectangle 6"/>
          <p:cNvSpPr/>
          <p:nvPr/>
        </p:nvSpPr>
        <p:spPr>
          <a:xfrm>
            <a:off x="1965960" y="2514600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 dirty="0">
                <a:solidFill>
                  <a:srgbClr val="46536B"/>
                </a:solidFill>
                <a:latin typeface="Calibri"/>
              </a:rPr>
              <a:t>LTP-North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050" b="0" dirty="0">
                <a:solidFill>
                  <a:srgbClr val="5B6472"/>
                </a:solidFill>
                <a:latin typeface="Calibri"/>
              </a:rPr>
              <a:t>0.60 m thick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0" y="2057400"/>
            <a:ext cx="1371600" cy="457200"/>
          </a:xfrm>
          <a:prstGeom prst="line">
            <a:avLst/>
          </a:prstGeom>
          <a:ln w="19050">
            <a:solidFill>
              <a:srgbClr val="46536B"/>
            </a:solidFill>
            <a:tailEnd type="triangle" w="med" len="med"/>
          </a:ln>
          <a:effectLst/>
        </p:spPr>
      </p:cxnSp>
      <p:sp>
        <p:nvSpPr>
          <p:cNvPr id="9" name="Rounded Rectangle 8"/>
          <p:cNvSpPr/>
          <p:nvPr/>
        </p:nvSpPr>
        <p:spPr>
          <a:xfrm>
            <a:off x="4709160" y="2514600"/>
            <a:ext cx="2286000" cy="73152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 w="15875">
            <a:solidFill>
              <a:srgbClr val="46536B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300" b="1" dirty="0">
                <a:solidFill>
                  <a:srgbClr val="46536B"/>
                </a:solidFill>
                <a:latin typeface="Calibri"/>
              </a:rPr>
              <a:t>LTP-South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050" b="0" dirty="0">
                <a:solidFill>
                  <a:srgbClr val="5B6472"/>
                </a:solidFill>
                <a:latin typeface="Calibri"/>
              </a:rPr>
              <a:t>0.75 m thick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3246120"/>
            <a:ext cx="0" cy="457200"/>
          </a:xfrm>
          <a:prstGeom prst="line">
            <a:avLst/>
          </a:prstGeom>
          <a:ln w="15875">
            <a:solidFill>
              <a:srgbClr val="8A93A3"/>
            </a:solidFill>
            <a:prstDash val="dash"/>
            <a:tailEnd type="triangle" w="med" len="med"/>
          </a:ln>
          <a:effectLst/>
        </p:spPr>
      </p:cxnSp>
      <p:sp>
        <p:nvSpPr>
          <p:cNvPr id="11" name="Rounded Rectangle 10"/>
          <p:cNvSpPr/>
          <p:nvPr/>
        </p:nvSpPr>
        <p:spPr>
          <a:xfrm>
            <a:off x="2125980" y="37033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6472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00" b="1" dirty="0">
                <a:solidFill>
                  <a:srgbClr val="222B3A"/>
                </a:solidFill>
                <a:latin typeface="Calibri"/>
              </a:rPr>
              <a:t>CMC-N-001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50" b="0" dirty="0">
                <a:solidFill>
                  <a:srgbClr val="5B6472"/>
                </a:solidFill>
                <a:latin typeface="Calibri"/>
              </a:rPr>
              <a:t>12.0 m · Ø450 mm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3246120"/>
            <a:ext cx="0" cy="457200"/>
          </a:xfrm>
          <a:prstGeom prst="line">
            <a:avLst/>
          </a:prstGeom>
          <a:ln w="15875">
            <a:solidFill>
              <a:srgbClr val="8A93A3"/>
            </a:solidFill>
            <a:prstDash val="dash"/>
            <a:tailEnd type="triangle" w="med" len="med"/>
          </a:ln>
          <a:effectLst/>
        </p:spPr>
      </p:cxnSp>
      <p:sp>
        <p:nvSpPr>
          <p:cNvPr id="13" name="Rounded Rectangle 12"/>
          <p:cNvSpPr/>
          <p:nvPr/>
        </p:nvSpPr>
        <p:spPr>
          <a:xfrm>
            <a:off x="4869180" y="370332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B6472"/>
            </a:solidFill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00" b="1" dirty="0">
                <a:solidFill>
                  <a:srgbClr val="222B3A"/>
                </a:solidFill>
                <a:latin typeface="Calibri"/>
              </a:rPr>
              <a:t>CMC-S-001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950" b="0" dirty="0">
                <a:solidFill>
                  <a:srgbClr val="5B6472"/>
                </a:solidFill>
                <a:latin typeface="Calibri"/>
              </a:rPr>
              <a:t>12.0 m · Ø450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480560"/>
            <a:ext cx="502920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Membership by geometry — position inside the platform's footprint —
not a stored reference.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377440" cy="2194560"/>
          </a:xfrm>
          <a:prstGeom prst="roundRect">
            <a:avLst>
              <a:gd name="adj" fmla="val 6000"/>
            </a:avLst>
          </a:prstGeom>
          <a:solidFill>
            <a:srgbClr val="F6EEDD"/>
          </a:solidFill>
          <a:ln w="15875">
            <a:solidFill>
              <a:srgbClr val="A8762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19" y="2706624"/>
            <a:ext cx="201168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8762A"/>
                </a:solidFill>
                <a:latin typeface="Calibri"/>
              </a:rPr>
              <a:t>CMC-TRIAL-001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3063239"/>
            <a:ext cx="2011680" cy="1554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A8762A"/>
                </a:solidFill>
                <a:latin typeface="Calibri"/>
              </a:rPr>
              <a:t>–  </a:t>
            </a:r>
            <a:r>
              <a:rPr sz="1050">
                <a:solidFill>
                  <a:srgbClr val="222B3A"/>
                </a:solidFill>
                <a:latin typeface="Calibri"/>
              </a:rPr>
              <a:t>12.0 m · Ø450 mm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A8762A"/>
                </a:solidFill>
                <a:latin typeface="Calibri"/>
              </a:rPr>
              <a:t>–  </a:t>
            </a:r>
            <a:r>
              <a:rPr sz="1050">
                <a:solidFill>
                  <a:srgbClr val="222B3A"/>
                </a:solidFill>
                <a:latin typeface="Calibri"/>
              </a:rPr>
              <a:t>No parent RIFS reference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850" i="1">
                <a:solidFill>
                  <a:srgbClr val="5B6472"/>
                </a:solidFill>
                <a:latin typeface="Calibri"/>
              </a:rPr>
              <a:t>     built ahead of production to prove the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14 / 18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EXAMPLE ·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Prove the method, then confirm production quality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" y="160020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E7F3EC"/>
          </a:solidFill>
          <a:ln w="15875">
            <a:solidFill>
              <a:srgbClr val="3E8A5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3E8A5C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STATIC LOAD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7091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22B3A"/>
                </a:solidFill>
                <a:latin typeface="Calibri"/>
              </a:rPr>
              <a:t>on CMC-TRIAL-001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709160" cy="1645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3E8A5C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Loaded to 1,400 kN → 16.2 mm settlement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3E8A5C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Run before production relied on the method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i="1">
                <a:solidFill>
                  <a:srgbClr val="5B6472"/>
                </a:solidFill>
                <a:latin typeface="Calibri"/>
              </a:rPr>
              <a:t>     the normal target for a trial column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600200"/>
            <a:ext cx="5257800" cy="3291840"/>
          </a:xfrm>
          <a:prstGeom prst="roundRect">
            <a:avLst>
              <a:gd name="adj" fmla="val 6000"/>
            </a:avLst>
          </a:prstGeom>
          <a:solidFill>
            <a:srgbClr val="E7F3EC"/>
          </a:solidFill>
          <a:ln w="15875">
            <a:solidFill>
              <a:srgbClr val="3E8A5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55079" y="18288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3E8A5C"/>
          </a:solidFill>
          <a:ln>
            <a:noFill/>
          </a:ln>
          <a:effectLst/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LOW-STRAIN INTEGRITY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2377440"/>
            <a:ext cx="47091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22B3A"/>
                </a:solidFill>
                <a:latin typeface="Calibri"/>
              </a:rPr>
              <a:t>on CMC-N-001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788920"/>
            <a:ext cx="4709160" cy="1645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3E8A5C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Relative impedance 1.00 → 0.95 over 12 m depth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3E8A5C"/>
                </a:solidFill>
                <a:latin typeface="Calibri"/>
              </a:rPr>
              <a:t>–  </a:t>
            </a:r>
            <a:r>
              <a:rPr sz="1200">
                <a:solidFill>
                  <a:srgbClr val="222B3A"/>
                </a:solidFill>
                <a:latin typeface="Calibri"/>
              </a:rPr>
              <a:t>A production column, checked after installation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i="1">
                <a:solidFill>
                  <a:srgbClr val="5B6472"/>
                </a:solidFill>
                <a:latin typeface="Calibri"/>
              </a:rPr>
              <a:t>     no anomalies indicated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166359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1B2A4A"/>
                </a:solidFill>
                <a:latin typeface="Calibri"/>
              </a:rPr>
              <a:t>Both results are stored as data series and cite the exact column tested — traceable straight back to its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15 / 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PUTTING 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How it all connects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87544" y="1417320"/>
            <a:ext cx="3017520" cy="594360"/>
          </a:xfrm>
          <a:prstGeom prst="roundRect">
            <a:avLst>
              <a:gd name="adj" fmla="val 8000"/>
            </a:avLst>
          </a:prstGeom>
          <a:solidFill>
            <a:srgbClr val="A8762A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BASIS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4231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2E5C8A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DESIGN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050" b="0">
                <a:solidFill>
                  <a:srgbClr val="D6E2F0"/>
                </a:solidFill>
                <a:latin typeface="Calibri"/>
              </a:rPr>
              <a:t>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423160"/>
            <a:ext cx="3657600" cy="685800"/>
          </a:xfrm>
          <a:prstGeom prst="roundRect">
            <a:avLst>
              <a:gd name="adj" fmla="val 8000"/>
            </a:avLst>
          </a:prstGeom>
          <a:solidFill>
            <a:srgbClr val="1E7F76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SPECIFICATION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050" b="0">
                <a:solidFill>
                  <a:srgbClr val="D3ECE8"/>
                </a:solidFill>
                <a:latin typeface="Calibri"/>
              </a:rPr>
              <a:t>constraint + acceptance criteria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383280" y="2011680"/>
            <a:ext cx="2713024" cy="411480"/>
          </a:xfrm>
          <a:prstGeom prst="line">
            <a:avLst/>
          </a:prstGeom>
          <a:ln w="22225">
            <a:solidFill>
              <a:srgbClr val="A8762A"/>
            </a:solidFill>
            <a:tailEnd type="triangle" w="med" len="med"/>
          </a:ln>
          <a:effectLst/>
        </p:spPr>
      </p:cxnSp>
      <p:cxnSp>
        <p:nvCxnSpPr>
          <p:cNvPr id="9" name="Connector 8"/>
          <p:cNvCxnSpPr/>
          <p:nvPr/>
        </p:nvCxnSpPr>
        <p:spPr>
          <a:xfrm flipH="1" flipV="1">
            <a:off x="6096304" y="2011680"/>
            <a:ext cx="2681936" cy="411480"/>
          </a:xfrm>
          <a:prstGeom prst="line">
            <a:avLst/>
          </a:prstGeom>
          <a:ln w="22225">
            <a:solidFill>
              <a:srgbClr val="A8762A"/>
            </a:solidFill>
            <a:tailEnd type="triangle" w="med" len="med"/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212080" y="2766060"/>
            <a:ext cx="1737360" cy="0"/>
          </a:xfrm>
          <a:prstGeom prst="line">
            <a:avLst/>
          </a:prstGeom>
          <a:ln w="22225">
            <a:solidFill>
              <a:srgbClr val="1E7F76"/>
            </a:solidFill>
            <a:tailEnd type="triangle" w="med" len="med"/>
          </a:ln>
          <a:effectLst/>
        </p:spPr>
      </p:cxnSp>
      <p:sp>
        <p:nvSpPr>
          <p:cNvPr id="11" name="Rounded Rectangle 10"/>
          <p:cNvSpPr/>
          <p:nvPr/>
        </p:nvSpPr>
        <p:spPr>
          <a:xfrm>
            <a:off x="2027224" y="352044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46536B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PHYSICAL OBJECTS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0">
                <a:solidFill>
                  <a:srgbClr val="DCE0E9"/>
                </a:solidFill>
                <a:latin typeface="Calibri"/>
              </a:rPr>
              <a:t>RI Foundation System  ·  Load Transfer Platform  ·  Rigid Inclusion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83280" y="3108960"/>
            <a:ext cx="0" cy="411480"/>
          </a:xfrm>
          <a:prstGeom prst="line">
            <a:avLst/>
          </a:prstGeom>
          <a:ln w="22225">
            <a:solidFill>
              <a:srgbClr val="2E5C8A"/>
            </a:solidFill>
            <a:tailEnd type="triangle" w="med" len="med"/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8778240" y="3108960"/>
            <a:ext cx="0" cy="411480"/>
          </a:xfrm>
          <a:prstGeom prst="line">
            <a:avLst/>
          </a:prstGeom>
          <a:ln w="22225">
            <a:solidFill>
              <a:srgbClr val="1E7F76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2027224" y="452628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3E8A5C"/>
          </a:solidFill>
          <a:ln>
            <a:noFill/>
          </a:ln>
          <a:effectLst/>
        </p:spPr>
        <p:txBody>
          <a:bodyPr wrap="square" lIns="109728" tIns="27432" rIns="109728" bIns="27432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POST-INSTALLATION TESTS</a:t>
            </a:r>
          </a:p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050" b="0">
                <a:solidFill>
                  <a:srgbClr val="D7ECDF"/>
                </a:solidFill>
                <a:latin typeface="Calibri"/>
              </a:rPr>
              <a:t>Test / Monitor results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096304" y="4206240"/>
            <a:ext cx="0" cy="320040"/>
          </a:xfrm>
          <a:prstGeom prst="line">
            <a:avLst/>
          </a:prstGeom>
          <a:ln w="22225">
            <a:solidFill>
              <a:srgbClr val="46536B"/>
            </a:solidFill>
            <a:tailEnd type="triangl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02920" y="5486400"/>
            <a:ext cx="11155680" cy="5029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Every arrow points back to what came before it, all the way up the chain — basis at the top, tests at the bottom.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16 / 18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51560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E5C8A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66928"/>
            <a:ext cx="1124712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700" b="1" i="0">
                <a:solidFill>
                  <a:srgbClr val="1B2A4A"/>
                </a:solidFill>
                <a:latin typeface="Calibri"/>
              </a:rPr>
              <a:t>What this structure buys the project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25296"/>
            <a:ext cx="731520" cy="0"/>
          </a:xfrm>
          <a:prstGeom prst="line">
            <a:avLst/>
          </a:prstGeom>
          <a:ln w="31750">
            <a:solidFill>
              <a:srgbClr val="2E5C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600200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105156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728216"/>
            <a:ext cx="2103120" cy="795527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E5C8A"/>
                </a:solidFill>
                <a:latin typeface="Calibri"/>
              </a:rPr>
              <a:t>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09928"/>
            <a:ext cx="7955279" cy="83210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Thousands of columns, a handful of design objects — not thousands of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88920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73152" cy="1051560"/>
          </a:xfrm>
          <a:prstGeom prst="rect">
            <a:avLst/>
          </a:prstGeom>
          <a:solidFill>
            <a:srgbClr val="1E7F7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916936"/>
            <a:ext cx="2103120" cy="795527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1E7F76"/>
                </a:solidFill>
                <a:latin typeface="Calibri"/>
              </a:rPr>
              <a:t>Traceable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898648"/>
            <a:ext cx="7955279" cy="83210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 dirty="0">
                <a:solidFill>
                  <a:srgbClr val="222B3A"/>
                </a:solidFill>
                <a:latin typeface="Calibri"/>
              </a:rPr>
              <a:t>Every built column can answer “what was I designed to, and did I pass?” by following references, not searching PDFs.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977639"/>
            <a:ext cx="73152" cy="1051560"/>
          </a:xfrm>
          <a:prstGeom prst="rect">
            <a:avLst/>
          </a:prstGeom>
          <a:solidFill>
            <a:srgbClr val="4653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105655"/>
            <a:ext cx="2103120" cy="795527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46536B"/>
                </a:solidFill>
                <a:latin typeface="Calibri"/>
              </a:rPr>
              <a:t>Durable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087368"/>
            <a:ext cx="7955279" cy="83210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Records are appended, never edited. Revision history is built in, not bolted on afterward.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66359"/>
            <a:ext cx="106070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C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5166359"/>
            <a:ext cx="73152" cy="1051560"/>
          </a:xfrm>
          <a:prstGeom prst="rect">
            <a:avLst/>
          </a:prstGeom>
          <a:solidFill>
            <a:srgbClr val="A876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294375"/>
            <a:ext cx="2103120" cy="795527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A8762A"/>
                </a:solidFill>
                <a:latin typeface="Calibri"/>
              </a:rPr>
              <a:t>Reusable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276088"/>
            <a:ext cx="7955279" cy="83210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 i="0">
                <a:solidFill>
                  <a:srgbClr val="222B3A"/>
                </a:solidFill>
                <a:latin typeface="Calibri"/>
              </a:rPr>
              <a:t>Rigid Inclusions is the pilot. The same design / specification / basis pattern extends to grouting, deep foundations, and other ground-improvement techniques.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17 / 18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9692640" cy="822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C7D2E3"/>
                </a:solidFill>
                <a:latin typeface="Calibri"/>
              </a:rPr>
              <a:t>Schema validated against 130+ test cases, built as an extension of the existing DIGGS geotechnical data exchange standard.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DIGGS Rigid Inclusion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28816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50" b="0" i="0">
                <a:solidFill>
                  <a:srgbClr val="8A93A3"/>
                </a:solidFill>
                <a:latin typeface="Calibri"/>
              </a:rPr>
              <a:t>18 / 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9525">
            <a:solidFill>
              <a:srgbClr val="D7DC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3978</TotalTime>
  <Words>1544</Words>
  <Application>Microsoft Macintosh PowerPoint</Application>
  <PresentationFormat>Widescreen</PresentationFormat>
  <Paragraphs>264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Ponti</cp:lastModifiedBy>
  <cp:revision>2</cp:revision>
  <dcterms:created xsi:type="dcterms:W3CDTF">2013-01-27T09:14:16Z</dcterms:created>
  <dcterms:modified xsi:type="dcterms:W3CDTF">2026-08-20T07:02:54Z</dcterms:modified>
  <cp:category/>
</cp:coreProperties>
</file>