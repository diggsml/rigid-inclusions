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4"/>
  </p:notesMasterIdLst>
  <p:sldIdLst>
    <p:sldId id="256" r:id="rId2"/>
    <p:sldId id="257" r:id="rId3"/>
    <p:sldId id="258" r:id="rId4"/>
    <p:sldId id="259" r:id="rId5"/>
    <p:sldId id="260" r:id="rId6"/>
    <p:sldId id="261" r:id="rId7"/>
    <p:sldId id="262" r:id="rId8"/>
    <p:sldId id="263" r:id="rId9"/>
    <p:sldId id="265" r:id="rId10"/>
    <p:sldId id="266" r:id="rId11"/>
    <p:sldId id="267" r:id="rId12"/>
    <p:sldId id="264" r:id="rId13"/>
    <p:sldId id="268" r:id="rId14"/>
    <p:sldId id="269" r:id="rId15"/>
    <p:sldId id="270" r:id="rId16"/>
    <p:sldId id="271" r:id="rId17"/>
    <p:sldId id="272" r:id="rId18"/>
    <p:sldId id="273" r:id="rId19"/>
    <p:sldId id="274" r:id="rId20"/>
    <p:sldId id="275" r:id="rId21"/>
    <p:sldId id="276"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77" r:id="rId42"/>
    <p:sldId id="297" r:id="rId43"/>
  </p:sldIdLst>
  <p:sldSz cx="9144000" cy="5143500" type="screen16x9"/>
  <p:notesSz cx="6858000" cy="9144000"/>
  <p:embeddedFontLst>
    <p:embeddedFont>
      <p:font typeface="Inter" panose="020B0604020202020204" charset="0"/>
      <p:regular r:id="rId45"/>
      <p:bold r:id="rId46"/>
      <p:italic r:id="rId47"/>
      <p:boldItalic r:id="rId48"/>
    </p:embeddedFont>
    <p:embeddedFont>
      <p:font typeface="Manrope" panose="020B0604020202020204" charset="0"/>
      <p:regular r:id="rId49"/>
      <p:bold r:id="rId50"/>
    </p:embeddedFont>
    <p:embeddedFont>
      <p:font typeface="Nunito Light" pitchFamily="2" charset="0"/>
      <p:regular r:id="rId51"/>
      <p:bold r:id="rId52"/>
      <p:italic r:id="rId53"/>
      <p:boldItalic r:id="rId5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E5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19D4AA-B814-45FA-BA42-D526EBE8AE7A}" v="2665" dt="2026-03-27T09:32:27.566"/>
    <p1510:client id="{F12A8FAE-3EBC-45CE-B2D5-2CB5A482AF26}" v="66" dt="2026-03-27T09:32:56.9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3.fntdata"/><Relationship Id="rId50" Type="http://schemas.openxmlformats.org/officeDocument/2006/relationships/font" Target="fonts/font6.fntdata"/><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3" Type="http://schemas.openxmlformats.org/officeDocument/2006/relationships/font" Target="fonts/font9.fntdata"/><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59"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5.fntdata"/><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3cad6b1ceec_0_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3cad6b1ceec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3ca7bf51f07_0_20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3ca7bf51f07_0_20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cad6b1ceec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cad6b1ceec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3cad6b1cee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3cad6b1cee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cad6b1ceec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cad6b1ceec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cad6b1ceec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3cad6b1ceec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cad6b1ceec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cad6b1ceec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cad6b1ceec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cad6b1ceec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cad6b1ceec_0_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cad6b1ceec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cad6b1ceec_0_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3cad6b1ceec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cad6b1ceec_0_1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cad6b1ceec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cad6b1ceec_0_1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3cad6b1ceec_0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cad6b1ceec_0_1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3cad6b1ce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cad6b1ceec_0_1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3cad6b1ceec_0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cad6b1ceec_0_1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3cad6b1ceec_0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3cad6b1ceec_0_1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3cad6b1ceec_0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3cad6b1ceec_0_1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3cad6b1ceec_0_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cad6b1ceec_0_1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3cad6b1ceec_0_1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3cad6b1ceec_0_2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3cad6b1ceec_0_2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3cad6b1ceec_0_2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3cad6b1ceec_0_2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cad6b1ceec_0_2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3cad6b1ceec_0_2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3cad6b1ceec_0_2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3cad6b1ceec_0_2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cad6b1ceec_0_2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3cad6b1ceec_0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3cad6b1ceec_0_2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3cad6b1ceec_0_2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3cad6b1ceec_0_2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3cad6b1ceec_0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3cad6b1ceec_0_2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3cad6b1ceec_0_2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3cad6b1ceec_0_2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3cad6b1ceec_0_2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g3cad6b1ceec_0_2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0" name="Google Shape;310;g3cad6b1ceec_0_2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3cad6b1ceec_0_2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 name="Google Shape;318;g3cad6b1ceec_0_2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3cad6b1ceec_0_3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 name="Google Shape;325;g3cad6b1ceec_0_3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3cad6b1ceec_0_3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 name="Google Shape;331;g3cad6b1ceec_0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3cad6b1ceec_0_3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 name="Google Shape;337;g3cad6b1ceec_0_3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3cad6b1ceec_0_2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 name="Google Shape;343;g3cad6b1ceec_0_2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3cad6b1ceec_0_3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0" name="Google Shape;350;g3cad6b1ceec_0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3cad6b1ceec_0_3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 name="Google Shape;356;g3cad6b1ceec_0_3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3cad6b1ceec_0_3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2" name="Google Shape;362;g3cad6b1ceec_0_3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3cad6b1ceec_0_3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8" name="Google Shape;368;g3cad6b1ceec_0_3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3cad6b1ceec_0_3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3cad6b1ceec_0_3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g3cad6b1ceec_0_3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3cad6b1ceec_0_3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cad6b1ceec_0_3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3cad6b1ceec_0_3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3cad6b1ceec_0_2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3cad6b1ceec_0_2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439933" y="719000"/>
            <a:ext cx="8520600" cy="20526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
                <a:latin typeface="Manrope"/>
                <a:ea typeface="Manrope"/>
                <a:cs typeface="Manrope"/>
                <a:sym typeface="Manrope"/>
              </a:rPr>
              <a:t>Standardizing </a:t>
            </a:r>
            <a:r>
              <a:rPr lang="en">
                <a:solidFill>
                  <a:srgbClr val="004E52"/>
                </a:solidFill>
                <a:latin typeface="Manrope"/>
                <a:ea typeface="Manrope"/>
                <a:cs typeface="Manrope"/>
                <a:sym typeface="Manrope"/>
              </a:rPr>
              <a:t>Rigid Inclusion </a:t>
            </a:r>
            <a:r>
              <a:rPr lang="en">
                <a:latin typeface="Manrope"/>
                <a:ea typeface="Manrope"/>
                <a:cs typeface="Manrope"/>
                <a:sym typeface="Manrope"/>
              </a:rPr>
              <a:t>Soil Improvement Data </a:t>
            </a:r>
            <a:br>
              <a:rPr lang="en">
                <a:latin typeface="Manrope"/>
                <a:ea typeface="Manrope"/>
                <a:cs typeface="Manrope"/>
                <a:sym typeface="Manrope"/>
              </a:rPr>
            </a:br>
            <a:r>
              <a:rPr lang="en">
                <a:latin typeface="Manrope"/>
                <a:ea typeface="Manrope"/>
                <a:cs typeface="Manrope"/>
                <a:sym typeface="Manrope"/>
              </a:rPr>
              <a:t>with </a:t>
            </a:r>
            <a:r>
              <a:rPr lang="en">
                <a:solidFill>
                  <a:srgbClr val="004E52"/>
                </a:solidFill>
                <a:latin typeface="Manrope"/>
                <a:ea typeface="Manrope"/>
                <a:cs typeface="Manrope"/>
                <a:sym typeface="Manrope"/>
              </a:rPr>
              <a:t>DIGGS</a:t>
            </a:r>
            <a:endParaRPr>
              <a:solidFill>
                <a:srgbClr val="004E52"/>
              </a:solidFill>
              <a:latin typeface="Manrope"/>
              <a:ea typeface="Manrope"/>
              <a:cs typeface="Manrope"/>
              <a:sym typeface="Manrope"/>
            </a:endParaRPr>
          </a:p>
        </p:txBody>
      </p:sp>
      <p:sp>
        <p:nvSpPr>
          <p:cNvPr id="55" name="Google Shape;55;p13"/>
          <p:cNvSpPr txBox="1">
            <a:spLocks noGrp="1"/>
          </p:cNvSpPr>
          <p:nvPr>
            <p:ph type="subTitle" idx="1"/>
          </p:nvPr>
        </p:nvSpPr>
        <p:spPr>
          <a:xfrm>
            <a:off x="439925" y="297007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latin typeface="Manrope"/>
                <a:ea typeface="Manrope"/>
                <a:cs typeface="Manrope"/>
                <a:sym typeface="Manrope"/>
              </a:rPr>
              <a:t>Dr. Mohamed Ezzat</a:t>
            </a:r>
            <a:endParaRPr>
              <a:latin typeface="Manrope"/>
              <a:ea typeface="Manrope"/>
              <a:cs typeface="Manrope"/>
              <a:sym typeface="Manrope"/>
            </a:endParaRPr>
          </a:p>
        </p:txBody>
      </p:sp>
      <p:pic>
        <p:nvPicPr>
          <p:cNvPr id="56" name="Google Shape;56;p13"/>
          <p:cNvPicPr preferRelativeResize="0"/>
          <p:nvPr/>
        </p:nvPicPr>
        <p:blipFill rotWithShape="1">
          <a:blip r:embed="rId3">
            <a:alphaModFix/>
          </a:blip>
          <a:srcRect r="44781" b="69849"/>
          <a:stretch/>
        </p:blipFill>
        <p:spPr>
          <a:xfrm>
            <a:off x="2906163" y="4114325"/>
            <a:ext cx="2323225" cy="655924"/>
          </a:xfrm>
          <a:prstGeom prst="rect">
            <a:avLst/>
          </a:prstGeom>
          <a:noFill/>
          <a:ln>
            <a:noFill/>
          </a:ln>
        </p:spPr>
      </p:pic>
      <p:pic>
        <p:nvPicPr>
          <p:cNvPr id="57" name="Google Shape;57;p13"/>
          <p:cNvPicPr preferRelativeResize="0"/>
          <p:nvPr/>
        </p:nvPicPr>
        <p:blipFill>
          <a:blip r:embed="rId4">
            <a:alphaModFix/>
          </a:blip>
          <a:stretch>
            <a:fillRect/>
          </a:stretch>
        </p:blipFill>
        <p:spPr>
          <a:xfrm>
            <a:off x="5348862" y="3869562"/>
            <a:ext cx="1145425" cy="11454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4"/>
          <p:cNvSpPr txBox="1">
            <a:spLocks noGrp="1"/>
          </p:cNvSpPr>
          <p:nvPr>
            <p:ph type="ctrTitle"/>
          </p:nvPr>
        </p:nvSpPr>
        <p:spPr>
          <a:xfrm>
            <a:off x="-24" y="1062075"/>
            <a:ext cx="9144000" cy="2052600"/>
          </a:xfrm>
          <a:prstGeom prst="rect">
            <a:avLst/>
          </a:prstGeom>
          <a:solidFill>
            <a:schemeClr val="accent6"/>
          </a:solidFill>
        </p:spPr>
        <p:txBody>
          <a:bodyPr spcFirstLastPara="1" wrap="square" lIns="91425" tIns="91425" rIns="91425" bIns="91425" anchor="b" anchorCtr="0">
            <a:normAutofit/>
          </a:bodyPr>
          <a:lstStyle/>
          <a:p>
            <a:pPr marL="457200" lvl="0" indent="-337820" algn="ctr" rtl="0">
              <a:spcBef>
                <a:spcPts val="0"/>
              </a:spcBef>
              <a:spcAft>
                <a:spcPts val="0"/>
              </a:spcAft>
              <a:buClr>
                <a:srgbClr val="000000"/>
              </a:buClr>
              <a:buSzPts val="1720"/>
              <a:buFont typeface="Manrope"/>
              <a:buAutoNum type="alphaUcPeriod"/>
            </a:pPr>
            <a:r>
              <a:rPr lang="en" sz="1720">
                <a:solidFill>
                  <a:srgbClr val="000000"/>
                </a:solidFill>
                <a:latin typeface="Manrope"/>
                <a:ea typeface="Manrope"/>
                <a:cs typeface="Manrope"/>
                <a:sym typeface="Manrope"/>
              </a:rPr>
              <a:t>Pre-Installation Phase  </a:t>
            </a:r>
            <a:endParaRPr sz="1720">
              <a:solidFill>
                <a:srgbClr val="000000"/>
              </a:solidFill>
              <a:latin typeface="Manrope"/>
              <a:ea typeface="Manrope"/>
              <a:cs typeface="Manrope"/>
              <a:sym typeface="Manrope"/>
            </a:endParaRPr>
          </a:p>
          <a:p>
            <a:pPr marL="0" lvl="0" indent="0" algn="ctr" rtl="0">
              <a:spcBef>
                <a:spcPts val="0"/>
              </a:spcBef>
              <a:spcAft>
                <a:spcPts val="0"/>
              </a:spcAft>
              <a:buNone/>
            </a:pPr>
            <a:endParaRPr/>
          </a:p>
        </p:txBody>
      </p:sp>
      <p:pic>
        <p:nvPicPr>
          <p:cNvPr id="63" name="Google Shape;63;p14"/>
          <p:cNvPicPr preferRelativeResize="0"/>
          <p:nvPr/>
        </p:nvPicPr>
        <p:blipFill rotWithShape="1">
          <a:blip r:embed="rId3">
            <a:alphaModFix/>
          </a:blip>
          <a:srcRect r="44781" b="69849"/>
          <a:stretch/>
        </p:blipFill>
        <p:spPr>
          <a:xfrm>
            <a:off x="2777938" y="3686400"/>
            <a:ext cx="2323225" cy="655924"/>
          </a:xfrm>
          <a:prstGeom prst="rect">
            <a:avLst/>
          </a:prstGeom>
          <a:noFill/>
          <a:ln>
            <a:noFill/>
          </a:ln>
        </p:spPr>
      </p:pic>
      <p:pic>
        <p:nvPicPr>
          <p:cNvPr id="64" name="Google Shape;64;p14"/>
          <p:cNvPicPr preferRelativeResize="0"/>
          <p:nvPr/>
        </p:nvPicPr>
        <p:blipFill>
          <a:blip r:embed="rId4">
            <a:alphaModFix/>
          </a:blip>
          <a:stretch>
            <a:fillRect/>
          </a:stretch>
        </p:blipFill>
        <p:spPr>
          <a:xfrm>
            <a:off x="5220637" y="3441637"/>
            <a:ext cx="1145425" cy="11454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8" name="Google Shape;82;p16">
            <a:extLst>
              <a:ext uri="{FF2B5EF4-FFF2-40B4-BE49-F238E27FC236}">
                <a16:creationId xmlns:a16="http://schemas.microsoft.com/office/drawing/2014/main" id="{5B2323CC-EE33-854B-9CB9-B1358BE82D96}"/>
              </a:ext>
            </a:extLst>
          </p:cNvPr>
          <p:cNvSpPr/>
          <p:nvPr/>
        </p:nvSpPr>
        <p:spPr>
          <a:xfrm rot="16200000">
            <a:off x="5129125" y="608800"/>
            <a:ext cx="3455700" cy="4574100"/>
          </a:xfrm>
          <a:prstGeom prst="round1Rect">
            <a:avLst>
              <a:gd name="adj" fmla="val 8032"/>
            </a:avLst>
          </a:prstGeom>
          <a:solidFill>
            <a:schemeClr val="lt2"/>
          </a:solidFill>
          <a:ln>
            <a:noFill/>
          </a:ln>
          <a:effectLst>
            <a:outerShdw blurRad="171450" dist="114300" dir="13440000" algn="bl" rotWithShape="0">
              <a:schemeClr val="dk1">
                <a:alpha val="392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Nunito Light"/>
              <a:ea typeface="Nunito Light"/>
              <a:cs typeface="Nunito Light"/>
              <a:sym typeface="Nunito Light"/>
            </a:endParaRPr>
          </a:p>
        </p:txBody>
      </p:sp>
      <p:sp>
        <p:nvSpPr>
          <p:cNvPr id="69" name="Google Shape;69;p15"/>
          <p:cNvSpPr txBox="1">
            <a:spLocks noGrp="1"/>
          </p:cNvSpPr>
          <p:nvPr>
            <p:ph type="title"/>
          </p:nvPr>
        </p:nvSpPr>
        <p:spPr>
          <a:xfrm>
            <a:off x="201800" y="132275"/>
            <a:ext cx="6472500" cy="486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800" b="1">
                <a:latin typeface="Manrope"/>
                <a:ea typeface="Manrope"/>
                <a:cs typeface="Manrope"/>
                <a:sym typeface="Manrope"/>
              </a:rPr>
              <a:t>Stage 1: Site Investigation Planning</a:t>
            </a:r>
            <a:endParaRPr sz="1800" b="1">
              <a:latin typeface="Manrope"/>
              <a:ea typeface="Manrope"/>
              <a:cs typeface="Manrope"/>
              <a:sym typeface="Manrope"/>
            </a:endParaRPr>
          </a:p>
        </p:txBody>
      </p:sp>
      <p:sp>
        <p:nvSpPr>
          <p:cNvPr id="70" name="Google Shape;70;p15"/>
          <p:cNvSpPr txBox="1">
            <a:spLocks noGrp="1"/>
          </p:cNvSpPr>
          <p:nvPr>
            <p:ph type="body" idx="1"/>
          </p:nvPr>
        </p:nvSpPr>
        <p:spPr>
          <a:xfrm>
            <a:off x="201800" y="618875"/>
            <a:ext cx="8286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000">
                <a:solidFill>
                  <a:schemeClr val="dk1"/>
                </a:solidFill>
                <a:latin typeface="Inter"/>
                <a:ea typeface="Inter"/>
                <a:cs typeface="Inter"/>
                <a:sym typeface="Inter"/>
              </a:rPr>
              <a:t>Plan a ground investigation program that is good enough to (a) confirm ground conditions, (b) quantify variability, and (c) support RI/CMC design (settlement and bearing) and constructability.</a:t>
            </a:r>
            <a:endParaRPr sz="1000">
              <a:solidFill>
                <a:schemeClr val="dk1"/>
              </a:solidFill>
              <a:latin typeface="Inter"/>
              <a:ea typeface="Inter"/>
              <a:cs typeface="Inter"/>
              <a:sym typeface="Inter"/>
            </a:endParaRPr>
          </a:p>
        </p:txBody>
      </p:sp>
      <p:sp>
        <p:nvSpPr>
          <p:cNvPr id="72" name="Google Shape;72;p15"/>
          <p:cNvSpPr txBox="1">
            <a:spLocks noGrp="1"/>
          </p:cNvSpPr>
          <p:nvPr>
            <p:ph type="body" idx="1"/>
          </p:nvPr>
        </p:nvSpPr>
        <p:spPr>
          <a:xfrm>
            <a:off x="5037275" y="1419438"/>
            <a:ext cx="35607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2000">
                <a:solidFill>
                  <a:schemeClr val="dk1"/>
                </a:solidFill>
                <a:latin typeface="Inter"/>
                <a:ea typeface="Inter"/>
                <a:cs typeface="Inter"/>
                <a:sym typeface="Inter"/>
              </a:rPr>
              <a:t>DIGGS - </a:t>
            </a:r>
            <a:r>
              <a:rPr lang="en" sz="2000">
                <a:solidFill>
                  <a:srgbClr val="CC4125"/>
                </a:solidFill>
                <a:latin typeface="Inter"/>
                <a:ea typeface="Inter"/>
                <a:cs typeface="Inter"/>
                <a:sym typeface="Inter"/>
              </a:rPr>
              <a:t>Feature</a:t>
            </a:r>
            <a:endParaRPr sz="2000">
              <a:solidFill>
                <a:srgbClr val="CC4125"/>
              </a:solidFill>
              <a:latin typeface="Inter"/>
              <a:ea typeface="Inter"/>
              <a:cs typeface="Inter"/>
              <a:sym typeface="Inter"/>
            </a:endParaRPr>
          </a:p>
        </p:txBody>
      </p:sp>
      <p:sp>
        <p:nvSpPr>
          <p:cNvPr id="73" name="Google Shape;73;p15"/>
          <p:cNvSpPr txBox="1">
            <a:spLocks noGrp="1"/>
          </p:cNvSpPr>
          <p:nvPr>
            <p:ph type="body" idx="1"/>
          </p:nvPr>
        </p:nvSpPr>
        <p:spPr>
          <a:xfrm>
            <a:off x="201800" y="1328550"/>
            <a:ext cx="4356600" cy="3195900"/>
          </a:xfrm>
          <a:prstGeom prst="rect">
            <a:avLst/>
          </a:prstGeom>
        </p:spPr>
        <p:txBody>
          <a:bodyPr spcFirstLastPara="1" wrap="square" lIns="91425" tIns="91425" rIns="91425" bIns="91425" anchor="t" anchorCtr="0">
            <a:normAutofit lnSpcReduction="10000"/>
          </a:bodyPr>
          <a:lstStyle/>
          <a:p>
            <a:pPr marL="0" lvl="0" indent="0" algn="l" rtl="0">
              <a:spcBef>
                <a:spcPts val="1200"/>
              </a:spcBef>
              <a:spcAft>
                <a:spcPts val="0"/>
              </a:spcAft>
              <a:buClr>
                <a:schemeClr val="dk1"/>
              </a:buClr>
              <a:buSzPts val="1100"/>
              <a:buFont typeface="Arial"/>
              <a:buNone/>
            </a:pPr>
            <a:r>
              <a:rPr lang="en" sz="1100" b="1">
                <a:solidFill>
                  <a:schemeClr val="dk1"/>
                </a:solidFill>
                <a:latin typeface="Inter"/>
                <a:ea typeface="Inter"/>
                <a:cs typeface="Inter"/>
                <a:sym typeface="Inter"/>
              </a:rPr>
              <a:t>Report at end of stage (key parameters):</a:t>
            </a:r>
            <a:endParaRPr sz="1100" b="1">
              <a:solidFill>
                <a:schemeClr val="dk1"/>
              </a:solidFill>
              <a:latin typeface="Inter"/>
              <a:ea typeface="Inter"/>
              <a:cs typeface="Inter"/>
              <a:sym typeface="Inter"/>
            </a:endParaRPr>
          </a:p>
          <a:p>
            <a:pPr indent="-298450">
              <a:spcBef>
                <a:spcPts val="1200"/>
              </a:spcBef>
              <a:buClr>
                <a:schemeClr val="dk1"/>
              </a:buClr>
              <a:buSzPts val="1100"/>
              <a:buFont typeface="Inter"/>
              <a:buChar char="●"/>
            </a:pPr>
            <a:r>
              <a:rPr lang="en" sz="1100">
                <a:solidFill>
                  <a:schemeClr val="dk1"/>
                </a:solidFill>
                <a:latin typeface="Inter"/>
                <a:ea typeface="Inter"/>
                <a:cs typeface="Inter"/>
                <a:sym typeface="Inter"/>
              </a:rPr>
              <a:t>Investigation plan: number/location of boreholes and                  CPTs, target depths, sampling plan</a:t>
            </a:r>
            <a:br>
              <a:rPr lang="en" sz="1100">
                <a:latin typeface="Inter"/>
                <a:ea typeface="Inter"/>
                <a:cs typeface="Inter"/>
              </a:rPr>
            </a:br>
            <a:endParaRPr sz="1100">
              <a:solidFill>
                <a:schemeClr val="dk1"/>
              </a:solidFill>
              <a:latin typeface="Inter"/>
              <a:ea typeface="Inter"/>
              <a:cs typeface="Inter"/>
              <a:sym typeface="Inter"/>
            </a:endParaRPr>
          </a:p>
          <a:p>
            <a:pPr marL="457200" lvl="0" indent="-298450" algn="l" rtl="0">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Proposed lab test matrix (classification + strength + compressibility)</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Groundwater measurement plan (standpipes/piezometers, monitoring period)</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Utility clearance / access constraints</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Health &amp; safety plan for drilling and site access</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Investigation schedule + responsible parties</a:t>
            </a:r>
            <a:endParaRPr sz="1100">
              <a:solidFill>
                <a:schemeClr val="dk1"/>
              </a:solidFill>
              <a:latin typeface="Inter"/>
              <a:ea typeface="Inter"/>
              <a:cs typeface="Inter"/>
              <a:sym typeface="Inter"/>
            </a:endParaRPr>
          </a:p>
          <a:p>
            <a:pPr marL="0" lvl="0" indent="0" algn="l" rtl="0">
              <a:spcBef>
                <a:spcPts val="1200"/>
              </a:spcBef>
              <a:spcAft>
                <a:spcPts val="1200"/>
              </a:spcAft>
              <a:buNone/>
            </a:pPr>
            <a:endParaRPr>
              <a:latin typeface="Inter"/>
              <a:ea typeface="Inter"/>
              <a:cs typeface="Inter"/>
              <a:sym typeface="Inter"/>
            </a:endParaRPr>
          </a:p>
        </p:txBody>
      </p:sp>
      <p:sp>
        <p:nvSpPr>
          <p:cNvPr id="75" name="Google Shape;75;p15"/>
          <p:cNvSpPr txBox="1">
            <a:spLocks noGrp="1"/>
          </p:cNvSpPr>
          <p:nvPr>
            <p:ph type="title"/>
          </p:nvPr>
        </p:nvSpPr>
        <p:spPr>
          <a:xfrm>
            <a:off x="7077300" y="132275"/>
            <a:ext cx="1795200" cy="486600"/>
          </a:xfrm>
          <a:prstGeom prst="rect">
            <a:avLst/>
          </a:prstGeom>
          <a:solidFill>
            <a:schemeClr val="accent6"/>
          </a:solidFill>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 sz="1720">
                <a:latin typeface="Manrope"/>
                <a:ea typeface="Manrope"/>
                <a:cs typeface="Manrope"/>
                <a:sym typeface="Manrope"/>
              </a:rPr>
              <a:t>Pre-Installation</a:t>
            </a:r>
            <a:endParaRPr sz="1720">
              <a:latin typeface="Manrope"/>
              <a:ea typeface="Manrope"/>
              <a:cs typeface="Manrope"/>
              <a:sym typeface="Manrope"/>
            </a:endParaRPr>
          </a:p>
        </p:txBody>
      </p:sp>
      <p:sp>
        <p:nvSpPr>
          <p:cNvPr id="6" name="TextBox 5">
            <a:extLst>
              <a:ext uri="{FF2B5EF4-FFF2-40B4-BE49-F238E27FC236}">
                <a16:creationId xmlns:a16="http://schemas.microsoft.com/office/drawing/2014/main" id="{85DF25DE-CBF6-A354-C149-2CE862001D59}"/>
              </a:ext>
            </a:extLst>
          </p:cNvPr>
          <p:cNvSpPr txBox="1"/>
          <p:nvPr/>
        </p:nvSpPr>
        <p:spPr>
          <a:xfrm>
            <a:off x="4714874" y="1917532"/>
            <a:ext cx="4932947" cy="35394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Need new objects:</a:t>
            </a:r>
          </a:p>
          <a:p>
            <a:pPr marL="342900" indent="-342900">
              <a:buAutoNum type="arabicPeriod"/>
            </a:pPr>
            <a:r>
              <a:rPr lang="en-US" err="1"/>
              <a:t>RigidInclusionProgram</a:t>
            </a:r>
            <a:r>
              <a:rPr lang="en-US"/>
              <a:t> (main Program object</a:t>
            </a:r>
          </a:p>
          <a:p>
            <a:pPr marL="800100" lvl="1" indent="-342900">
              <a:buFont typeface="Courier New"/>
              <a:buChar char="o"/>
            </a:pPr>
            <a:r>
              <a:rPr lang="en-US" err="1"/>
              <a:t>ExplorationDesign</a:t>
            </a:r>
            <a:r>
              <a:rPr lang="en-US"/>
              <a:t> – phase design object</a:t>
            </a:r>
          </a:p>
          <a:p>
            <a:pPr marL="1257300" lvl="2" indent="-342900">
              <a:buFont typeface="Wingdings"/>
              <a:buChar char="§"/>
            </a:pPr>
            <a:r>
              <a:rPr lang="en-US" err="1"/>
              <a:t>TargetSF</a:t>
            </a:r>
            <a:endParaRPr lang="en-US"/>
          </a:p>
          <a:p>
            <a:pPr marL="1714500" lvl="3" indent="-342900">
              <a:buFont typeface="Wingdings"/>
              <a:buChar char="§"/>
            </a:pPr>
            <a:r>
              <a:rPr lang="en-US" err="1"/>
              <a:t>TargetInstallation</a:t>
            </a:r>
            <a:endParaRPr lang="en-US"/>
          </a:p>
          <a:p>
            <a:pPr marL="1257300" lvl="2" indent="-342900">
              <a:buFont typeface="Wingdings"/>
              <a:buChar char="§"/>
            </a:pPr>
            <a:r>
              <a:rPr lang="en-US" err="1"/>
              <a:t>TargetSample</a:t>
            </a:r>
          </a:p>
          <a:p>
            <a:pPr marL="1257300" lvl="2" indent="-342900">
              <a:buFont typeface="Wingdings"/>
              <a:buChar char="§"/>
            </a:pPr>
            <a:r>
              <a:rPr lang="en-US" err="1"/>
              <a:t>TargetTests</a:t>
            </a:r>
            <a:endParaRPr lang="en-US"/>
          </a:p>
          <a:p>
            <a:pPr marL="342900" indent="-342900">
              <a:buAutoNum type="arabicPeriod"/>
            </a:pPr>
            <a:r>
              <a:rPr lang="en-US"/>
              <a:t>Questions:</a:t>
            </a:r>
          </a:p>
          <a:p>
            <a:pPr marL="800100" lvl="1" indent="-342900">
              <a:buFont typeface="Courier New"/>
              <a:buChar char="o"/>
            </a:pPr>
            <a:r>
              <a:rPr lang="en-US"/>
              <a:t>Utility/access - per hole location or general for plan?</a:t>
            </a:r>
          </a:p>
          <a:p>
            <a:pPr marL="800100" lvl="1" indent="-342900">
              <a:buFont typeface="Courier New"/>
              <a:buChar char="o"/>
            </a:pPr>
            <a:r>
              <a:rPr lang="en-US"/>
              <a:t>Health &amp; safety – string, file, or detailed object?</a:t>
            </a:r>
          </a:p>
          <a:p>
            <a:pPr marL="342900" indent="-342900">
              <a:buAutoNum type="arabicPeriod"/>
            </a:pPr>
            <a:r>
              <a:rPr lang="en-US"/>
              <a:t>Responsible parties covered by inherited </a:t>
            </a:r>
            <a:r>
              <a:rPr lang="en-US" err="1"/>
              <a:t>Roles</a:t>
            </a:r>
            <a:r>
              <a:rPr lang="en-US"/>
              <a:t> property at Program and/or Design levels</a:t>
            </a:r>
          </a:p>
          <a:p>
            <a:pPr marL="800100" lvl="1" indent="-342900">
              <a:buFont typeface="Courier New"/>
              <a:buChar char="o"/>
            </a:pPr>
            <a:endParaRPr lang="en-US"/>
          </a:p>
          <a:p>
            <a:pPr marL="2171700" lvl="4" indent="-342900">
              <a:buFont typeface="Courier New"/>
              <a:buChar char="o"/>
            </a:pPr>
            <a:endParaRPr lang="en-US"/>
          </a:p>
          <a:p>
            <a:r>
              <a:rPr lang="en-US"/>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6"/>
          <p:cNvSpPr txBox="1">
            <a:spLocks noGrp="1"/>
          </p:cNvSpPr>
          <p:nvPr>
            <p:ph type="title"/>
          </p:nvPr>
        </p:nvSpPr>
        <p:spPr>
          <a:xfrm>
            <a:off x="201800" y="132275"/>
            <a:ext cx="6472500" cy="486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800" b="1">
                <a:latin typeface="Manrope"/>
                <a:ea typeface="Manrope"/>
                <a:cs typeface="Manrope"/>
                <a:sym typeface="Manrope"/>
              </a:rPr>
              <a:t>Stage 2: Field Site Investigation Execution</a:t>
            </a:r>
            <a:endParaRPr sz="1800" b="1">
              <a:latin typeface="Manrope"/>
              <a:ea typeface="Manrope"/>
              <a:cs typeface="Manrope"/>
              <a:sym typeface="Manrope"/>
            </a:endParaRPr>
          </a:p>
        </p:txBody>
      </p:sp>
      <p:sp>
        <p:nvSpPr>
          <p:cNvPr id="81" name="Google Shape;81;p16"/>
          <p:cNvSpPr txBox="1">
            <a:spLocks noGrp="1"/>
          </p:cNvSpPr>
          <p:nvPr>
            <p:ph type="body" idx="1"/>
          </p:nvPr>
        </p:nvSpPr>
        <p:spPr>
          <a:xfrm>
            <a:off x="201800" y="618875"/>
            <a:ext cx="8286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000">
                <a:solidFill>
                  <a:schemeClr val="dk1"/>
                </a:solidFill>
                <a:latin typeface="Inter"/>
                <a:ea typeface="Inter"/>
                <a:cs typeface="Inter"/>
                <a:sym typeface="Inter"/>
              </a:rPr>
              <a:t>Perform borings, CPT/CPTu (often very valuable for CMC), trial pits if needed, groundwater measurements, and obtain good quality samples.</a:t>
            </a:r>
            <a:endParaRPr sz="1000">
              <a:solidFill>
                <a:schemeClr val="dk1"/>
              </a:solidFill>
              <a:latin typeface="Inter"/>
              <a:ea typeface="Inter"/>
              <a:cs typeface="Inter"/>
              <a:sym typeface="Inter"/>
            </a:endParaRPr>
          </a:p>
        </p:txBody>
      </p:sp>
      <p:sp>
        <p:nvSpPr>
          <p:cNvPr id="82" name="Google Shape;82;p16"/>
          <p:cNvSpPr/>
          <p:nvPr/>
        </p:nvSpPr>
        <p:spPr>
          <a:xfrm rot="-5400000">
            <a:off x="5129125" y="608800"/>
            <a:ext cx="3455700" cy="4574100"/>
          </a:xfrm>
          <a:prstGeom prst="round1Rect">
            <a:avLst>
              <a:gd name="adj" fmla="val 8032"/>
            </a:avLst>
          </a:prstGeom>
          <a:solidFill>
            <a:schemeClr val="lt2"/>
          </a:solidFill>
          <a:ln>
            <a:noFill/>
          </a:ln>
          <a:effectLst>
            <a:outerShdw blurRad="171450" dist="114300" dir="13440000" algn="bl" rotWithShape="0">
              <a:schemeClr val="dk1">
                <a:alpha val="392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Nunito Light"/>
              <a:ea typeface="Nunito Light"/>
              <a:cs typeface="Nunito Light"/>
              <a:sym typeface="Nunito Light"/>
            </a:endParaRPr>
          </a:p>
        </p:txBody>
      </p:sp>
      <p:sp>
        <p:nvSpPr>
          <p:cNvPr id="83" name="Google Shape;83;p16"/>
          <p:cNvSpPr txBox="1">
            <a:spLocks noGrp="1"/>
          </p:cNvSpPr>
          <p:nvPr>
            <p:ph type="body" idx="1"/>
          </p:nvPr>
        </p:nvSpPr>
        <p:spPr>
          <a:xfrm>
            <a:off x="5037275" y="1419438"/>
            <a:ext cx="35607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2000">
                <a:solidFill>
                  <a:schemeClr val="dk1"/>
                </a:solidFill>
                <a:latin typeface="Inter"/>
                <a:ea typeface="Inter"/>
                <a:cs typeface="Inter"/>
                <a:sym typeface="Inter"/>
              </a:rPr>
              <a:t>DIGGS - </a:t>
            </a:r>
            <a:r>
              <a:rPr lang="en" sz="2000">
                <a:solidFill>
                  <a:srgbClr val="CC4125"/>
                </a:solidFill>
                <a:latin typeface="Inter"/>
                <a:ea typeface="Inter"/>
                <a:cs typeface="Inter"/>
                <a:sym typeface="Inter"/>
              </a:rPr>
              <a:t>Feature</a:t>
            </a:r>
            <a:endParaRPr sz="2000">
              <a:solidFill>
                <a:srgbClr val="CC4125"/>
              </a:solidFill>
              <a:latin typeface="Inter"/>
              <a:ea typeface="Inter"/>
              <a:cs typeface="Inter"/>
              <a:sym typeface="Inter"/>
            </a:endParaRPr>
          </a:p>
        </p:txBody>
      </p:sp>
      <p:sp>
        <p:nvSpPr>
          <p:cNvPr id="84" name="Google Shape;84;p16"/>
          <p:cNvSpPr txBox="1">
            <a:spLocks noGrp="1"/>
          </p:cNvSpPr>
          <p:nvPr>
            <p:ph type="body" idx="1"/>
          </p:nvPr>
        </p:nvSpPr>
        <p:spPr>
          <a:xfrm>
            <a:off x="201800" y="1328550"/>
            <a:ext cx="4356600" cy="31959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None/>
            </a:pPr>
            <a:r>
              <a:rPr lang="en" sz="1100" b="1">
                <a:solidFill>
                  <a:schemeClr val="dk1"/>
                </a:solidFill>
                <a:latin typeface="Inter"/>
                <a:ea typeface="Inter"/>
                <a:cs typeface="Inter"/>
                <a:sym typeface="Inter"/>
              </a:rPr>
              <a:t>Report at end of stage (key parameters):</a:t>
            </a:r>
            <a:endParaRPr sz="1100" b="1">
              <a:solidFill>
                <a:schemeClr val="dk1"/>
              </a:solidFill>
              <a:latin typeface="Inter"/>
              <a:ea typeface="Inter"/>
              <a:cs typeface="Inter"/>
              <a:sym typeface="Inter"/>
            </a:endParaRPr>
          </a:p>
          <a:p>
            <a:pPr marL="457200" lvl="0" indent="-298450" algn="l" rtl="0">
              <a:spcBef>
                <a:spcPts val="1200"/>
              </a:spcBef>
              <a:spcAft>
                <a:spcPts val="0"/>
              </a:spcAft>
              <a:buClr>
                <a:srgbClr val="000000"/>
              </a:buClr>
              <a:buSzPts val="1100"/>
              <a:buFont typeface="Inter"/>
              <a:buChar char="●"/>
            </a:pPr>
            <a:r>
              <a:rPr lang="en" sz="1100">
                <a:solidFill>
                  <a:schemeClr val="dk1"/>
                </a:solidFill>
                <a:latin typeface="Inter"/>
                <a:ea typeface="Inter"/>
                <a:cs typeface="Inter"/>
                <a:sym typeface="Inter"/>
              </a:rPr>
              <a:t>Borehole logs: stratigraphy, sample depths, recovery, RQD (if rock), SPT N-values (if used)</a:t>
            </a:r>
            <a:endParaRPr sz="1100">
              <a:solidFill>
                <a:schemeClr val="dk1"/>
              </a:solidFill>
              <a:latin typeface="Inter"/>
              <a:ea typeface="Inter"/>
              <a:cs typeface="Inter"/>
              <a:sym typeface="Inter"/>
            </a:endParaRPr>
          </a:p>
          <a:p>
            <a:pPr marL="457200" lvl="0" indent="-298450" algn="l" rtl="0">
              <a:spcBef>
                <a:spcPts val="0"/>
              </a:spcBef>
              <a:spcAft>
                <a:spcPts val="0"/>
              </a:spcAft>
              <a:buClr>
                <a:srgbClr val="000000"/>
              </a:buClr>
              <a:buSzPts val="1100"/>
              <a:buFont typeface="Inter"/>
              <a:buChar char="●"/>
            </a:pPr>
            <a:r>
              <a:rPr lang="en" sz="1100">
                <a:solidFill>
                  <a:schemeClr val="dk1"/>
                </a:solidFill>
                <a:latin typeface="Inter"/>
                <a:ea typeface="Inter"/>
                <a:cs typeface="Inter"/>
                <a:sym typeface="Inter"/>
              </a:rPr>
              <a:t>CPT/CPTu logs: qc, fs, u2, inferred soil behavior type</a:t>
            </a:r>
            <a:endParaRPr sz="1100">
              <a:solidFill>
                <a:schemeClr val="dk1"/>
              </a:solidFill>
              <a:latin typeface="Inter"/>
              <a:ea typeface="Inter"/>
              <a:cs typeface="Inter"/>
              <a:sym typeface="Inter"/>
            </a:endParaRPr>
          </a:p>
          <a:p>
            <a:pPr marL="457200" lvl="0" indent="-298450" algn="l" rtl="0">
              <a:spcBef>
                <a:spcPts val="0"/>
              </a:spcBef>
              <a:spcAft>
                <a:spcPts val="0"/>
              </a:spcAft>
              <a:buClr>
                <a:srgbClr val="000000"/>
              </a:buClr>
              <a:buSzPts val="1100"/>
              <a:buFont typeface="Inter"/>
              <a:buChar char="●"/>
            </a:pPr>
            <a:r>
              <a:rPr lang="en" sz="1100">
                <a:solidFill>
                  <a:schemeClr val="dk1"/>
                </a:solidFill>
                <a:latin typeface="Inter"/>
                <a:ea typeface="Inter"/>
                <a:cs typeface="Inter"/>
                <a:sym typeface="Inter"/>
              </a:rPr>
              <a:t>Groundwater levels (date/time stamped) and installation details for piezometers</a:t>
            </a:r>
            <a:endParaRPr sz="1100">
              <a:solidFill>
                <a:schemeClr val="dk1"/>
              </a:solidFill>
              <a:latin typeface="Inter"/>
              <a:ea typeface="Inter"/>
              <a:cs typeface="Inter"/>
              <a:sym typeface="Inter"/>
            </a:endParaRPr>
          </a:p>
          <a:p>
            <a:pPr marL="457200" lvl="0" indent="-298450" algn="l" rtl="0">
              <a:spcBef>
                <a:spcPts val="0"/>
              </a:spcBef>
              <a:spcAft>
                <a:spcPts val="0"/>
              </a:spcAft>
              <a:buClr>
                <a:srgbClr val="000000"/>
              </a:buClr>
              <a:buSzPts val="1100"/>
              <a:buFont typeface="Inter"/>
              <a:buChar char="●"/>
            </a:pPr>
            <a:r>
              <a:rPr lang="en" sz="1100">
                <a:solidFill>
                  <a:schemeClr val="dk1"/>
                </a:solidFill>
                <a:latin typeface="Inter"/>
                <a:ea typeface="Inter"/>
                <a:cs typeface="Inter"/>
                <a:sym typeface="Inter"/>
              </a:rPr>
              <a:t>In-situ test results (vane shear, pressuremeter/dilatometer if done)</a:t>
            </a:r>
            <a:endParaRPr sz="1100">
              <a:solidFill>
                <a:schemeClr val="dk1"/>
              </a:solidFill>
              <a:latin typeface="Inter"/>
              <a:ea typeface="Inter"/>
              <a:cs typeface="Inter"/>
              <a:sym typeface="Inter"/>
            </a:endParaRPr>
          </a:p>
          <a:p>
            <a:pPr marL="457200" lvl="0" indent="-298450" algn="l" rtl="0">
              <a:spcBef>
                <a:spcPts val="0"/>
              </a:spcBef>
              <a:spcAft>
                <a:spcPts val="0"/>
              </a:spcAft>
              <a:buClr>
                <a:srgbClr val="000000"/>
              </a:buClr>
              <a:buSzPts val="1100"/>
              <a:buFont typeface="Inter"/>
              <a:buChar char="●"/>
            </a:pPr>
            <a:r>
              <a:rPr lang="en" sz="1100">
                <a:solidFill>
                  <a:schemeClr val="dk1"/>
                </a:solidFill>
                <a:latin typeface="Inter"/>
                <a:ea typeface="Inter"/>
                <a:cs typeface="Inter"/>
                <a:sym typeface="Inter"/>
              </a:rPr>
              <a:t>Any anomalies: fill pockets, obstructions, boulders, artesian conditions, contamination indicators</a:t>
            </a:r>
            <a:endParaRPr sz="1100">
              <a:solidFill>
                <a:schemeClr val="dk1"/>
              </a:solidFill>
              <a:latin typeface="Inter"/>
              <a:ea typeface="Inter"/>
              <a:cs typeface="Inter"/>
              <a:sym typeface="Inter"/>
            </a:endParaRPr>
          </a:p>
          <a:p>
            <a:pPr marL="457200" lvl="0" indent="-298450" algn="l" rtl="0">
              <a:spcBef>
                <a:spcPts val="0"/>
              </a:spcBef>
              <a:spcAft>
                <a:spcPts val="0"/>
              </a:spcAft>
              <a:buClr>
                <a:srgbClr val="000000"/>
              </a:buClr>
              <a:buSzPts val="1100"/>
              <a:buFont typeface="Inter"/>
              <a:buChar char="●"/>
            </a:pPr>
            <a:r>
              <a:rPr lang="en" sz="1100">
                <a:solidFill>
                  <a:schemeClr val="dk1"/>
                </a:solidFill>
                <a:latin typeface="Inter"/>
                <a:ea typeface="Inter"/>
                <a:cs typeface="Inter"/>
                <a:sym typeface="Inter"/>
              </a:rPr>
              <a:t>Coordinates and elevations of all investigation points</a:t>
            </a:r>
            <a:endParaRPr sz="1100">
              <a:solidFill>
                <a:schemeClr val="dk1"/>
              </a:solidFill>
              <a:latin typeface="Inter"/>
              <a:ea typeface="Inter"/>
              <a:cs typeface="Inter"/>
              <a:sym typeface="Inter"/>
            </a:endParaRPr>
          </a:p>
          <a:p>
            <a:pPr marL="0" lvl="0" indent="0" algn="l" rtl="0">
              <a:spcBef>
                <a:spcPts val="1200"/>
              </a:spcBef>
              <a:spcAft>
                <a:spcPts val="1200"/>
              </a:spcAft>
              <a:buNone/>
            </a:pPr>
            <a:endParaRPr sz="1100">
              <a:latin typeface="Inter"/>
              <a:ea typeface="Inter"/>
              <a:cs typeface="Inter"/>
              <a:sym typeface="Inter"/>
            </a:endParaRPr>
          </a:p>
        </p:txBody>
      </p:sp>
      <p:sp>
        <p:nvSpPr>
          <p:cNvPr id="85" name="Google Shape;85;p16"/>
          <p:cNvSpPr txBox="1">
            <a:spLocks noGrp="1"/>
          </p:cNvSpPr>
          <p:nvPr>
            <p:ph type="body" idx="1"/>
          </p:nvPr>
        </p:nvSpPr>
        <p:spPr>
          <a:xfrm>
            <a:off x="4956679" y="1880464"/>
            <a:ext cx="4356600" cy="2140660"/>
          </a:xfrm>
          <a:prstGeom prst="rect">
            <a:avLst/>
          </a:prstGeom>
        </p:spPr>
        <p:txBody>
          <a:bodyPr spcFirstLastPara="1" wrap="square" lIns="91425" tIns="91425" rIns="91425" bIns="91425" anchor="t" anchorCtr="0">
            <a:normAutofit fontScale="62500" lnSpcReduction="20000"/>
          </a:bodyPr>
          <a:lstStyle/>
          <a:p>
            <a:pPr marL="0" indent="0">
              <a:lnSpc>
                <a:spcPct val="114999"/>
              </a:lnSpc>
              <a:buNone/>
            </a:pPr>
            <a:r>
              <a:rPr lang="en">
                <a:latin typeface="Inter"/>
                <a:ea typeface="Inter"/>
                <a:sym typeface="Inter"/>
              </a:rPr>
              <a:t>All existing:</a:t>
            </a:r>
            <a:endParaRPr lang="en-US"/>
          </a:p>
          <a:p>
            <a:pPr marL="342900">
              <a:lnSpc>
                <a:spcPct val="114999"/>
              </a:lnSpc>
              <a:buAutoNum type="arabicPeriod"/>
            </a:pPr>
            <a:r>
              <a:rPr lang="en">
                <a:latin typeface="Inter"/>
                <a:ea typeface="Inter"/>
              </a:rPr>
              <a:t>Borehole</a:t>
            </a:r>
          </a:p>
          <a:p>
            <a:pPr marL="342900" lvl="0" algn="l">
              <a:lnSpc>
                <a:spcPct val="114999"/>
              </a:lnSpc>
              <a:spcBef>
                <a:spcPts val="0"/>
              </a:spcBef>
              <a:buAutoNum type="arabicPeriod"/>
            </a:pPr>
            <a:r>
              <a:rPr lang="en">
                <a:latin typeface="Inter"/>
                <a:ea typeface="Inter"/>
              </a:rPr>
              <a:t>Sounding</a:t>
            </a:r>
          </a:p>
          <a:p>
            <a:pPr marL="342900">
              <a:lnSpc>
                <a:spcPct val="114999"/>
              </a:lnSpc>
              <a:buAutoNum type="arabicPeriod"/>
            </a:pPr>
            <a:r>
              <a:rPr lang="en">
                <a:latin typeface="Inter"/>
                <a:ea typeface="Inter"/>
              </a:rPr>
              <a:t>Well</a:t>
            </a:r>
          </a:p>
          <a:p>
            <a:pPr marL="342900">
              <a:lnSpc>
                <a:spcPct val="114999"/>
              </a:lnSpc>
              <a:buAutoNum type="arabicPeriod"/>
            </a:pPr>
            <a:r>
              <a:rPr lang="en">
                <a:latin typeface="Inter"/>
                <a:ea typeface="Inter"/>
              </a:rPr>
              <a:t>Monitor</a:t>
            </a:r>
          </a:p>
          <a:p>
            <a:pPr marL="342900">
              <a:lnSpc>
                <a:spcPct val="114999"/>
              </a:lnSpc>
              <a:buAutoNum type="arabicPeriod"/>
            </a:pPr>
            <a:r>
              <a:rPr lang="en" err="1">
                <a:latin typeface="Inter"/>
                <a:ea typeface="Inter"/>
              </a:rPr>
              <a:t>SamplingActivity</a:t>
            </a:r>
          </a:p>
          <a:p>
            <a:pPr marL="342900">
              <a:lnSpc>
                <a:spcPct val="114999"/>
              </a:lnSpc>
              <a:buAutoNum type="arabicPeriod"/>
            </a:pPr>
            <a:r>
              <a:rPr lang="en">
                <a:latin typeface="Inter"/>
                <a:ea typeface="Inter"/>
              </a:rPr>
              <a:t>Sample</a:t>
            </a:r>
          </a:p>
          <a:p>
            <a:pPr marL="342900">
              <a:lnSpc>
                <a:spcPct val="114999"/>
              </a:lnSpc>
              <a:buAutoNum type="arabicPeriod"/>
            </a:pPr>
            <a:r>
              <a:rPr lang="en">
                <a:latin typeface="Inter"/>
                <a:ea typeface="Inter"/>
              </a:rPr>
              <a:t>Test</a:t>
            </a:r>
          </a:p>
          <a:p>
            <a:pPr marL="800100" lvl="1" indent="-342900">
              <a:lnSpc>
                <a:spcPct val="114999"/>
              </a:lnSpc>
              <a:buSzPts val="1800"/>
              <a:buFont typeface="Courier New"/>
              <a:buChar char="o"/>
            </a:pPr>
            <a:r>
              <a:rPr lang="en" err="1">
                <a:latin typeface="Inter"/>
                <a:ea typeface="Inter"/>
              </a:rPr>
              <a:t>StaticConePenetrationTest</a:t>
            </a:r>
            <a:endParaRPr lang="en">
              <a:latin typeface="Inter"/>
              <a:ea typeface="Inter"/>
            </a:endParaRPr>
          </a:p>
          <a:p>
            <a:pPr marL="800100" lvl="1" indent="-342900">
              <a:lnSpc>
                <a:spcPct val="114999"/>
              </a:lnSpc>
              <a:buFont typeface="Courier New"/>
              <a:buChar char="o"/>
            </a:pPr>
            <a:r>
              <a:rPr lang="en" err="1">
                <a:latin typeface="Inter"/>
                <a:ea typeface="Inter"/>
              </a:rPr>
              <a:t>VaneShearTest</a:t>
            </a:r>
          </a:p>
          <a:p>
            <a:pPr marL="800100" lvl="1" indent="-342900">
              <a:lnSpc>
                <a:spcPct val="114999"/>
              </a:lnSpc>
              <a:buFont typeface="Courier New"/>
              <a:buChar char="o"/>
            </a:pPr>
            <a:r>
              <a:rPr lang="en" err="1">
                <a:latin typeface="Inter"/>
                <a:ea typeface="Inter"/>
              </a:rPr>
              <a:t>PressuremeterTest</a:t>
            </a:r>
            <a:r>
              <a:rPr lang="en">
                <a:latin typeface="Inter"/>
                <a:ea typeface="Inter"/>
              </a:rPr>
              <a:t> (check)</a:t>
            </a:r>
          </a:p>
          <a:p>
            <a:pPr marL="800100" lvl="1" indent="-342900">
              <a:lnSpc>
                <a:spcPct val="114999"/>
              </a:lnSpc>
              <a:buFont typeface="Courier New"/>
              <a:buChar char="o"/>
            </a:pPr>
            <a:r>
              <a:rPr lang="en" err="1">
                <a:latin typeface="Inter"/>
                <a:ea typeface="Inter"/>
              </a:rPr>
              <a:t>FlatPlateDilatometerTest</a:t>
            </a:r>
            <a:r>
              <a:rPr lang="en">
                <a:latin typeface="Inter"/>
                <a:ea typeface="Inter"/>
              </a:rPr>
              <a:t> (check)</a:t>
            </a:r>
          </a:p>
          <a:p>
            <a:pPr marL="342900" indent="-342900">
              <a:lnSpc>
                <a:spcPct val="114999"/>
              </a:lnSpc>
              <a:buAutoNum type="arabicPeriod"/>
            </a:pPr>
            <a:r>
              <a:rPr lang="en" err="1">
                <a:latin typeface="Inter"/>
                <a:ea typeface="Inter"/>
              </a:rPr>
              <a:t>LithologySystem</a:t>
            </a:r>
          </a:p>
          <a:p>
            <a:pPr marL="0" indent="0">
              <a:spcAft>
                <a:spcPts val="1200"/>
              </a:spcAft>
              <a:buNone/>
            </a:pPr>
            <a:endParaRPr lang="en-US">
              <a:latin typeface="Inter"/>
              <a:ea typeface="Inter"/>
            </a:endParaRPr>
          </a:p>
        </p:txBody>
      </p:sp>
      <p:sp>
        <p:nvSpPr>
          <p:cNvPr id="86" name="Google Shape;86;p16"/>
          <p:cNvSpPr txBox="1">
            <a:spLocks noGrp="1"/>
          </p:cNvSpPr>
          <p:nvPr>
            <p:ph type="title"/>
          </p:nvPr>
        </p:nvSpPr>
        <p:spPr>
          <a:xfrm>
            <a:off x="7077300" y="132275"/>
            <a:ext cx="1795200" cy="486600"/>
          </a:xfrm>
          <a:prstGeom prst="rect">
            <a:avLst/>
          </a:prstGeom>
          <a:solidFill>
            <a:schemeClr val="accent6"/>
          </a:solidFill>
        </p:spPr>
        <p:txBody>
          <a:bodyPr spcFirstLastPara="1" wrap="square" lIns="91425" tIns="91425" rIns="91425" bIns="91425" anchor="t" anchorCtr="0">
            <a:noAutofit/>
          </a:bodyPr>
          <a:lstStyle/>
          <a:p>
            <a:pPr marL="0" marR="0" lvl="0" indent="0" algn="ctr" rtl="0">
              <a:lnSpc>
                <a:spcPct val="100000"/>
              </a:lnSpc>
              <a:spcBef>
                <a:spcPts val="0"/>
              </a:spcBef>
              <a:spcAft>
                <a:spcPts val="0"/>
              </a:spcAft>
              <a:buSzPts val="990"/>
              <a:buNone/>
            </a:pPr>
            <a:r>
              <a:rPr lang="en" sz="1720">
                <a:latin typeface="Manrope"/>
                <a:ea typeface="Manrope"/>
                <a:cs typeface="Manrope"/>
                <a:sym typeface="Manrope"/>
              </a:rPr>
              <a:t>Pre-Installation</a:t>
            </a:r>
            <a:endParaRPr sz="1720">
              <a:latin typeface="Manrope"/>
              <a:ea typeface="Manrope"/>
              <a:cs typeface="Manrope"/>
              <a:sym typeface="Manrop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7"/>
          <p:cNvSpPr txBox="1">
            <a:spLocks noGrp="1"/>
          </p:cNvSpPr>
          <p:nvPr>
            <p:ph type="title"/>
          </p:nvPr>
        </p:nvSpPr>
        <p:spPr>
          <a:xfrm>
            <a:off x="201800" y="132275"/>
            <a:ext cx="6472500" cy="486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800" b="1">
                <a:latin typeface="Manrope"/>
                <a:ea typeface="Manrope"/>
                <a:cs typeface="Manrope"/>
                <a:sym typeface="Manrope"/>
              </a:rPr>
              <a:t>Stage 3: Laboratory Testing and Soil Characterization</a:t>
            </a:r>
            <a:endParaRPr sz="1800" b="1">
              <a:latin typeface="Manrope"/>
              <a:ea typeface="Manrope"/>
              <a:cs typeface="Manrope"/>
              <a:sym typeface="Manrope"/>
            </a:endParaRPr>
          </a:p>
        </p:txBody>
      </p:sp>
      <p:sp>
        <p:nvSpPr>
          <p:cNvPr id="92" name="Google Shape;92;p17"/>
          <p:cNvSpPr txBox="1">
            <a:spLocks noGrp="1"/>
          </p:cNvSpPr>
          <p:nvPr>
            <p:ph type="body" idx="1"/>
          </p:nvPr>
        </p:nvSpPr>
        <p:spPr>
          <a:xfrm>
            <a:off x="201800" y="618875"/>
            <a:ext cx="8286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000">
                <a:solidFill>
                  <a:schemeClr val="dk1"/>
                </a:solidFill>
                <a:latin typeface="Inter"/>
                <a:ea typeface="Inter"/>
                <a:cs typeface="Inter"/>
                <a:sym typeface="Inter"/>
              </a:rPr>
              <a:t>Lab tests define engineering parameters: strength, compressibility, index properties, unit weights, permeability.</a:t>
            </a:r>
            <a:endParaRPr sz="1000">
              <a:solidFill>
                <a:schemeClr val="dk1"/>
              </a:solidFill>
              <a:latin typeface="Inter"/>
              <a:ea typeface="Inter"/>
              <a:cs typeface="Inter"/>
              <a:sym typeface="Inter"/>
            </a:endParaRPr>
          </a:p>
        </p:txBody>
      </p:sp>
      <p:sp>
        <p:nvSpPr>
          <p:cNvPr id="93" name="Google Shape;93;p17"/>
          <p:cNvSpPr/>
          <p:nvPr/>
        </p:nvSpPr>
        <p:spPr>
          <a:xfrm rot="-5400000">
            <a:off x="5129125" y="608800"/>
            <a:ext cx="3455700" cy="4574100"/>
          </a:xfrm>
          <a:prstGeom prst="round1Rect">
            <a:avLst>
              <a:gd name="adj" fmla="val 8032"/>
            </a:avLst>
          </a:prstGeom>
          <a:solidFill>
            <a:schemeClr val="lt2"/>
          </a:solidFill>
          <a:ln>
            <a:noFill/>
          </a:ln>
          <a:effectLst>
            <a:outerShdw blurRad="171450" dist="114300" dir="13440000" algn="bl" rotWithShape="0">
              <a:schemeClr val="dk1">
                <a:alpha val="392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Nunito Light"/>
              <a:ea typeface="Nunito Light"/>
              <a:cs typeface="Nunito Light"/>
              <a:sym typeface="Nunito Light"/>
            </a:endParaRPr>
          </a:p>
        </p:txBody>
      </p:sp>
      <p:sp>
        <p:nvSpPr>
          <p:cNvPr id="94" name="Google Shape;94;p17"/>
          <p:cNvSpPr txBox="1">
            <a:spLocks noGrp="1"/>
          </p:cNvSpPr>
          <p:nvPr>
            <p:ph type="body" idx="1"/>
          </p:nvPr>
        </p:nvSpPr>
        <p:spPr>
          <a:xfrm>
            <a:off x="5037275" y="1419438"/>
            <a:ext cx="35607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2000">
                <a:solidFill>
                  <a:schemeClr val="dk1"/>
                </a:solidFill>
                <a:latin typeface="Inter"/>
                <a:ea typeface="Inter"/>
                <a:cs typeface="Inter"/>
                <a:sym typeface="Inter"/>
              </a:rPr>
              <a:t>DIGGS - </a:t>
            </a:r>
            <a:r>
              <a:rPr lang="en" sz="2000">
                <a:solidFill>
                  <a:srgbClr val="CC4125"/>
                </a:solidFill>
                <a:latin typeface="Inter"/>
                <a:ea typeface="Inter"/>
                <a:cs typeface="Inter"/>
                <a:sym typeface="Inter"/>
              </a:rPr>
              <a:t>Feature</a:t>
            </a:r>
            <a:endParaRPr sz="2000">
              <a:solidFill>
                <a:srgbClr val="CC4125"/>
              </a:solidFill>
              <a:latin typeface="Inter"/>
              <a:ea typeface="Inter"/>
              <a:cs typeface="Inter"/>
              <a:sym typeface="Inter"/>
            </a:endParaRPr>
          </a:p>
        </p:txBody>
      </p:sp>
      <p:sp>
        <p:nvSpPr>
          <p:cNvPr id="95" name="Google Shape;95;p17"/>
          <p:cNvSpPr txBox="1">
            <a:spLocks noGrp="1"/>
          </p:cNvSpPr>
          <p:nvPr>
            <p:ph type="body" idx="1"/>
          </p:nvPr>
        </p:nvSpPr>
        <p:spPr>
          <a:xfrm>
            <a:off x="201800" y="1328550"/>
            <a:ext cx="4356600" cy="3195900"/>
          </a:xfrm>
          <a:prstGeom prst="rect">
            <a:avLst/>
          </a:prstGeom>
        </p:spPr>
        <p:txBody>
          <a:bodyPr spcFirstLastPara="1" wrap="square" lIns="91425" tIns="91425" rIns="91425" bIns="91425" anchor="t" anchorCtr="0">
            <a:normAutofit lnSpcReduction="20000"/>
          </a:bodyPr>
          <a:lstStyle/>
          <a:p>
            <a:pPr marL="0" lvl="0" indent="0" algn="l" rtl="0">
              <a:spcBef>
                <a:spcPts val="1200"/>
              </a:spcBef>
              <a:spcAft>
                <a:spcPts val="0"/>
              </a:spcAft>
              <a:buNone/>
            </a:pPr>
            <a:r>
              <a:rPr lang="en" sz="1100" b="1">
                <a:solidFill>
                  <a:schemeClr val="dk1"/>
                </a:solidFill>
                <a:latin typeface="Inter"/>
                <a:ea typeface="Inter"/>
                <a:cs typeface="Inter"/>
                <a:sym typeface="Inter"/>
              </a:rPr>
              <a:t>Report at end of stage (key parameters):</a:t>
            </a:r>
            <a:endParaRPr sz="1100" b="1">
              <a:solidFill>
                <a:schemeClr val="dk1"/>
              </a:solidFill>
              <a:latin typeface="Inter"/>
              <a:ea typeface="Inter"/>
              <a:cs typeface="Inter"/>
              <a:sym typeface="Inter"/>
            </a:endParaRPr>
          </a:p>
          <a:p>
            <a:pPr marL="457200" lvl="0" indent="-298450" algn="l" rtl="0">
              <a:spcBef>
                <a:spcPts val="1200"/>
              </a:spcBef>
              <a:spcAft>
                <a:spcPts val="0"/>
              </a:spcAft>
              <a:buClr>
                <a:schemeClr val="dk1"/>
              </a:buClr>
              <a:buSzPts val="1100"/>
              <a:buFont typeface="Inter"/>
              <a:buChar char="●"/>
            </a:pPr>
            <a:r>
              <a:rPr lang="en" sz="1100">
                <a:solidFill>
                  <a:schemeClr val="dk1"/>
                </a:solidFill>
                <a:latin typeface="Inter"/>
                <a:ea typeface="Inter"/>
                <a:cs typeface="Inter"/>
                <a:sym typeface="Inter"/>
              </a:rPr>
              <a:t>Index: moisture content, Atterberg limits, grain size distribution, unit weight</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Strength: UU/CIU/CD triaxial, direct shear (as applicable), undrained shear strength Su correlations</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Compressibility: oedometer/consolidation parameters (Cc, Cr, mv, Cv)</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Chemical aggressivity (if durability/cement compatibility is relevant): sulfates, chlorides, pH</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Summary statistics and variability by layer (mean, range, COV)</a:t>
            </a:r>
            <a:endParaRPr sz="1100">
              <a:solidFill>
                <a:schemeClr val="dk1"/>
              </a:solidFill>
              <a:latin typeface="Inter"/>
              <a:ea typeface="Inter"/>
              <a:cs typeface="Inter"/>
              <a:sym typeface="Inter"/>
            </a:endParaRPr>
          </a:p>
          <a:p>
            <a:pPr marL="0" lvl="0" indent="0" algn="l" rtl="0">
              <a:spcBef>
                <a:spcPts val="1200"/>
              </a:spcBef>
              <a:spcAft>
                <a:spcPts val="1200"/>
              </a:spcAft>
              <a:buNone/>
            </a:pPr>
            <a:endParaRPr>
              <a:latin typeface="Inter"/>
              <a:ea typeface="Inter"/>
              <a:cs typeface="Inter"/>
              <a:sym typeface="Inter"/>
            </a:endParaRPr>
          </a:p>
        </p:txBody>
      </p:sp>
      <p:sp>
        <p:nvSpPr>
          <p:cNvPr id="97" name="Google Shape;97;p17"/>
          <p:cNvSpPr txBox="1">
            <a:spLocks noGrp="1"/>
          </p:cNvSpPr>
          <p:nvPr>
            <p:ph type="title"/>
          </p:nvPr>
        </p:nvSpPr>
        <p:spPr>
          <a:xfrm>
            <a:off x="7077300" y="132275"/>
            <a:ext cx="1795200" cy="486600"/>
          </a:xfrm>
          <a:prstGeom prst="rect">
            <a:avLst/>
          </a:prstGeom>
          <a:solidFill>
            <a:schemeClr val="accent6"/>
          </a:solidFill>
        </p:spPr>
        <p:txBody>
          <a:bodyPr spcFirstLastPara="1" wrap="square" lIns="91425" tIns="91425" rIns="91425" bIns="91425" anchor="t" anchorCtr="0">
            <a:noAutofit/>
          </a:bodyPr>
          <a:lstStyle/>
          <a:p>
            <a:pPr marL="0" marR="0" lvl="0" indent="0" algn="ctr" rtl="0">
              <a:lnSpc>
                <a:spcPct val="100000"/>
              </a:lnSpc>
              <a:spcBef>
                <a:spcPts val="0"/>
              </a:spcBef>
              <a:spcAft>
                <a:spcPts val="0"/>
              </a:spcAft>
              <a:buSzPts val="990"/>
              <a:buNone/>
            </a:pPr>
            <a:r>
              <a:rPr lang="en" sz="1720">
                <a:latin typeface="Manrope"/>
                <a:ea typeface="Manrope"/>
                <a:cs typeface="Manrope"/>
                <a:sym typeface="Manrope"/>
              </a:rPr>
              <a:t>Pre-Installation</a:t>
            </a:r>
            <a:endParaRPr sz="1720">
              <a:latin typeface="Manrope"/>
              <a:ea typeface="Manrope"/>
              <a:cs typeface="Manrope"/>
              <a:sym typeface="Manrope"/>
            </a:endParaRPr>
          </a:p>
        </p:txBody>
      </p:sp>
      <p:sp>
        <p:nvSpPr>
          <p:cNvPr id="2" name="TextBox 1">
            <a:extLst>
              <a:ext uri="{FF2B5EF4-FFF2-40B4-BE49-F238E27FC236}">
                <a16:creationId xmlns:a16="http://schemas.microsoft.com/office/drawing/2014/main" id="{FCC19F4C-45A2-773D-9CE7-E6E1003BD62A}"/>
              </a:ext>
            </a:extLst>
          </p:cNvPr>
          <p:cNvSpPr txBox="1"/>
          <p:nvPr/>
        </p:nvSpPr>
        <p:spPr>
          <a:xfrm>
            <a:off x="4637942" y="1861037"/>
            <a:ext cx="4513384" cy="28931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solidFill>
                  <a:srgbClr val="595959"/>
                </a:solidFill>
                <a:latin typeface="Inter"/>
                <a:ea typeface="Inter"/>
              </a:rPr>
              <a:t>All existing:</a:t>
            </a:r>
          </a:p>
          <a:p>
            <a:pPr marL="228600">
              <a:buAutoNum type="arabicPeriod"/>
            </a:pPr>
            <a:r>
              <a:rPr lang="en-US" sz="1200">
                <a:solidFill>
                  <a:srgbClr val="595959"/>
                </a:solidFill>
                <a:latin typeface="Inter"/>
                <a:ea typeface="Inter"/>
              </a:rPr>
              <a:t>Test</a:t>
            </a:r>
          </a:p>
          <a:p>
            <a:pPr marL="685800" lvl="1">
              <a:buFont typeface="Courier New,monospace"/>
              <a:buChar char="o"/>
            </a:pPr>
            <a:r>
              <a:rPr lang="en-US" sz="1200" err="1">
                <a:solidFill>
                  <a:srgbClr val="595959"/>
                </a:solidFill>
                <a:latin typeface="Inter"/>
                <a:ea typeface="Inter"/>
              </a:rPr>
              <a:t>WaterContenTest</a:t>
            </a:r>
            <a:endParaRPr lang="en-US" sz="1200">
              <a:solidFill>
                <a:srgbClr val="595959"/>
              </a:solidFill>
              <a:latin typeface="Inter"/>
              <a:ea typeface="Inter"/>
            </a:endParaRPr>
          </a:p>
          <a:p>
            <a:pPr marL="685800" lvl="1">
              <a:buFont typeface="Courier New,monospace"/>
              <a:buChar char="o"/>
            </a:pPr>
            <a:r>
              <a:rPr lang="en-US" sz="1200" err="1">
                <a:solidFill>
                  <a:srgbClr val="595959"/>
                </a:solidFill>
                <a:latin typeface="Inter"/>
                <a:ea typeface="Inter"/>
              </a:rPr>
              <a:t>AtterbergLimitsTest</a:t>
            </a:r>
          </a:p>
          <a:p>
            <a:pPr marL="685800" lvl="1">
              <a:buFont typeface="Courier New,monospace"/>
              <a:buChar char="o"/>
            </a:pPr>
            <a:r>
              <a:rPr lang="en-US" sz="1200" err="1">
                <a:solidFill>
                  <a:srgbClr val="595959"/>
                </a:solidFill>
                <a:latin typeface="Inter"/>
                <a:ea typeface="Inter"/>
              </a:rPr>
              <a:t>ParticleSizeTest</a:t>
            </a:r>
          </a:p>
          <a:p>
            <a:pPr marL="685800" lvl="1">
              <a:buFont typeface="Courier New,monospace"/>
              <a:buChar char="o"/>
            </a:pPr>
            <a:r>
              <a:rPr lang="en-US" sz="1200" err="1">
                <a:solidFill>
                  <a:srgbClr val="595959"/>
                </a:solidFill>
                <a:latin typeface="Inter"/>
                <a:ea typeface="Inter"/>
              </a:rPr>
              <a:t>LabDensityTest</a:t>
            </a:r>
          </a:p>
          <a:p>
            <a:pPr marL="685800" lvl="1">
              <a:buFont typeface="Courier New,monospace"/>
              <a:buChar char="o"/>
            </a:pPr>
            <a:r>
              <a:rPr lang="en-US" sz="1200" err="1">
                <a:solidFill>
                  <a:srgbClr val="595959"/>
                </a:solidFill>
                <a:latin typeface="Inter"/>
                <a:ea typeface="Inter"/>
              </a:rPr>
              <a:t>TriaxialTest</a:t>
            </a:r>
          </a:p>
          <a:p>
            <a:pPr marL="685800" lvl="1">
              <a:buFont typeface="Courier New,monospace"/>
              <a:buChar char="o"/>
            </a:pPr>
            <a:r>
              <a:rPr lang="en-US" sz="1200" err="1">
                <a:solidFill>
                  <a:srgbClr val="595959"/>
                </a:solidFill>
                <a:latin typeface="Inter"/>
                <a:ea typeface="Inter"/>
              </a:rPr>
              <a:t>DirectShearTest</a:t>
            </a:r>
          </a:p>
          <a:p>
            <a:pPr marL="685800" lvl="1">
              <a:buFont typeface="Courier New,monospace"/>
              <a:buChar char="o"/>
            </a:pPr>
            <a:r>
              <a:rPr lang="en-US" sz="1200" err="1">
                <a:solidFill>
                  <a:srgbClr val="595959"/>
                </a:solidFill>
                <a:latin typeface="Inter"/>
                <a:ea typeface="Inter"/>
              </a:rPr>
              <a:t>ConsolidationTest</a:t>
            </a:r>
            <a:endParaRPr lang="en-US" sz="1200">
              <a:solidFill>
                <a:srgbClr val="595959"/>
              </a:solidFill>
              <a:latin typeface="Inter"/>
              <a:ea typeface="Inter"/>
            </a:endParaRPr>
          </a:p>
          <a:p>
            <a:pPr marL="685800" lvl="1" algn="l">
              <a:buFont typeface="Courier New,monospace"/>
              <a:buChar char="o"/>
            </a:pPr>
            <a:r>
              <a:rPr lang="en-US" sz="1200" err="1">
                <a:solidFill>
                  <a:srgbClr val="595959"/>
                </a:solidFill>
                <a:latin typeface="Inter"/>
                <a:ea typeface="Inter"/>
              </a:rPr>
              <a:t>ChemicalTest</a:t>
            </a:r>
            <a:endParaRPr lang="en-US" sz="1200">
              <a:solidFill>
                <a:srgbClr val="595959"/>
              </a:solidFill>
              <a:latin typeface="Inter"/>
              <a:ea typeface="Inter"/>
            </a:endParaRPr>
          </a:p>
          <a:p>
            <a:pPr marL="228600">
              <a:buAutoNum type="arabicPeriod"/>
            </a:pPr>
            <a:r>
              <a:rPr lang="en-US" sz="1200" err="1">
                <a:solidFill>
                  <a:srgbClr val="595959"/>
                </a:solidFill>
                <a:latin typeface="Inter"/>
                <a:ea typeface="Inter"/>
              </a:rPr>
              <a:t>GeoUnitSystem</a:t>
            </a:r>
            <a:r>
              <a:rPr lang="en-US" sz="1200">
                <a:solidFill>
                  <a:srgbClr val="595959"/>
                </a:solidFill>
                <a:latin typeface="Inter"/>
                <a:ea typeface="Inter"/>
              </a:rPr>
              <a:t>/Observations - for layer definitions and characteristic property values – presently range only – will have to add for other statistics</a:t>
            </a:r>
          </a:p>
          <a:p>
            <a:pPr marL="800100" lvl="1">
              <a:buFont typeface="Courier New,monospace"/>
              <a:buChar char="o"/>
            </a:pPr>
            <a:endParaRPr lang="en-US" sz="600">
              <a:latin typeface="Inter"/>
              <a:ea typeface="Inter"/>
            </a:endParaRPr>
          </a:p>
          <a:p>
            <a:pPr marL="800100" lvl="1">
              <a:buFont typeface="Courier New,monospace"/>
              <a:buChar char="o"/>
            </a:pPr>
            <a:endParaRPr lang="en-US" sz="600">
              <a:latin typeface="Inter"/>
              <a:ea typeface="Inter"/>
            </a:endParaRPr>
          </a:p>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8"/>
          <p:cNvSpPr txBox="1">
            <a:spLocks noGrp="1"/>
          </p:cNvSpPr>
          <p:nvPr>
            <p:ph type="title"/>
          </p:nvPr>
        </p:nvSpPr>
        <p:spPr>
          <a:xfrm>
            <a:off x="201800" y="132275"/>
            <a:ext cx="7051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800" b="1">
                <a:latin typeface="Manrope"/>
                <a:ea typeface="Manrope"/>
                <a:cs typeface="Manrope"/>
                <a:sym typeface="Manrope"/>
              </a:rPr>
              <a:t>Stage 5: Feasibility and Selection of CMC/RI as the Ground Improvement Solution</a:t>
            </a:r>
            <a:endParaRPr sz="1800" b="1">
              <a:latin typeface="Manrope"/>
              <a:ea typeface="Manrope"/>
              <a:cs typeface="Manrope"/>
              <a:sym typeface="Manrope"/>
            </a:endParaRPr>
          </a:p>
        </p:txBody>
      </p:sp>
      <p:sp>
        <p:nvSpPr>
          <p:cNvPr id="103" name="Google Shape;103;p18"/>
          <p:cNvSpPr txBox="1">
            <a:spLocks noGrp="1"/>
          </p:cNvSpPr>
          <p:nvPr>
            <p:ph type="body" idx="1"/>
          </p:nvPr>
        </p:nvSpPr>
        <p:spPr>
          <a:xfrm>
            <a:off x="201800" y="775863"/>
            <a:ext cx="8280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000">
                <a:solidFill>
                  <a:schemeClr val="dk1"/>
                </a:solidFill>
                <a:latin typeface="Inter"/>
                <a:ea typeface="Inter"/>
                <a:cs typeface="Inter"/>
                <a:sym typeface="Inter"/>
              </a:rPr>
              <a:t>Confirm that CMC/RI is the right solution versus alternatives (piles, stone columns, preloading, DSM, etc.).</a:t>
            </a:r>
            <a:endParaRPr sz="1000">
              <a:solidFill>
                <a:schemeClr val="dk1"/>
              </a:solidFill>
              <a:latin typeface="Inter"/>
              <a:ea typeface="Inter"/>
              <a:cs typeface="Inter"/>
              <a:sym typeface="Inter"/>
            </a:endParaRPr>
          </a:p>
        </p:txBody>
      </p:sp>
      <p:sp>
        <p:nvSpPr>
          <p:cNvPr id="104" name="Google Shape;104;p18"/>
          <p:cNvSpPr/>
          <p:nvPr/>
        </p:nvSpPr>
        <p:spPr>
          <a:xfrm rot="-5400000">
            <a:off x="5129125" y="608800"/>
            <a:ext cx="3455700" cy="4574100"/>
          </a:xfrm>
          <a:prstGeom prst="round1Rect">
            <a:avLst>
              <a:gd name="adj" fmla="val 8032"/>
            </a:avLst>
          </a:prstGeom>
          <a:solidFill>
            <a:schemeClr val="lt2"/>
          </a:solidFill>
          <a:ln>
            <a:noFill/>
          </a:ln>
          <a:effectLst>
            <a:outerShdw blurRad="171450" dist="114300" dir="13440000" algn="bl" rotWithShape="0">
              <a:schemeClr val="dk1">
                <a:alpha val="392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Nunito Light"/>
              <a:ea typeface="Nunito Light"/>
              <a:cs typeface="Nunito Light"/>
              <a:sym typeface="Nunito Light"/>
            </a:endParaRPr>
          </a:p>
        </p:txBody>
      </p:sp>
      <p:sp>
        <p:nvSpPr>
          <p:cNvPr id="105" name="Google Shape;105;p18"/>
          <p:cNvSpPr txBox="1">
            <a:spLocks noGrp="1"/>
          </p:cNvSpPr>
          <p:nvPr>
            <p:ph type="body" idx="1"/>
          </p:nvPr>
        </p:nvSpPr>
        <p:spPr>
          <a:xfrm>
            <a:off x="5037275" y="1419438"/>
            <a:ext cx="35607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2000">
                <a:solidFill>
                  <a:schemeClr val="dk1"/>
                </a:solidFill>
                <a:latin typeface="Inter"/>
                <a:ea typeface="Inter"/>
                <a:cs typeface="Inter"/>
                <a:sym typeface="Inter"/>
              </a:rPr>
              <a:t>DIGGS - </a:t>
            </a:r>
            <a:r>
              <a:rPr lang="en" sz="2000">
                <a:solidFill>
                  <a:srgbClr val="CC4125"/>
                </a:solidFill>
                <a:latin typeface="Inter"/>
                <a:ea typeface="Inter"/>
                <a:cs typeface="Inter"/>
                <a:sym typeface="Inter"/>
              </a:rPr>
              <a:t>Feature</a:t>
            </a:r>
            <a:endParaRPr sz="2000">
              <a:solidFill>
                <a:srgbClr val="CC4125"/>
              </a:solidFill>
              <a:latin typeface="Inter"/>
              <a:ea typeface="Inter"/>
              <a:cs typeface="Inter"/>
              <a:sym typeface="Inter"/>
            </a:endParaRPr>
          </a:p>
        </p:txBody>
      </p:sp>
      <p:sp>
        <p:nvSpPr>
          <p:cNvPr id="106" name="Google Shape;106;p18"/>
          <p:cNvSpPr txBox="1">
            <a:spLocks noGrp="1"/>
          </p:cNvSpPr>
          <p:nvPr>
            <p:ph type="body" idx="1"/>
          </p:nvPr>
        </p:nvSpPr>
        <p:spPr>
          <a:xfrm>
            <a:off x="201800" y="1328550"/>
            <a:ext cx="4356600" cy="31959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100" b="1">
                <a:solidFill>
                  <a:schemeClr val="dk1"/>
                </a:solidFill>
                <a:latin typeface="Inter"/>
                <a:ea typeface="Inter"/>
                <a:cs typeface="Inter"/>
                <a:sym typeface="Inter"/>
              </a:rPr>
              <a:t>Report at end of stage (key parameters):</a:t>
            </a:r>
            <a:endParaRPr sz="1100" b="1">
              <a:solidFill>
                <a:schemeClr val="dk1"/>
              </a:solidFill>
              <a:latin typeface="Inter"/>
              <a:ea typeface="Inter"/>
              <a:cs typeface="Inter"/>
              <a:sym typeface="Inter"/>
            </a:endParaRPr>
          </a:p>
          <a:p>
            <a:pPr marL="457200" lvl="0" indent="-298450" algn="l" rtl="0">
              <a:spcBef>
                <a:spcPts val="1200"/>
              </a:spcBef>
              <a:spcAft>
                <a:spcPts val="0"/>
              </a:spcAft>
              <a:buClr>
                <a:schemeClr val="dk1"/>
              </a:buClr>
              <a:buSzPts val="1100"/>
              <a:buFont typeface="Inter"/>
              <a:buChar char="●"/>
            </a:pPr>
            <a:r>
              <a:rPr lang="en" sz="1100">
                <a:solidFill>
                  <a:schemeClr val="dk1"/>
                </a:solidFill>
                <a:latin typeface="Inter"/>
                <a:ea typeface="Inter"/>
                <a:cs typeface="Inter"/>
                <a:sym typeface="Inter"/>
              </a:rPr>
              <a:t>Target performance criteria: allowable total settlement, differential settlement, bearing/stability targets</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Concept options and screening rationale (cost/schedule/risk)</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Constructability assessment (access, spoil, groundwater, obstructions)</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Preliminary RI/CMC concept: approximate spacing, diameter, depth range, load transfer platform (LTP) concept</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Key risks + mitigation (e.g., soft layers thickness uncertainty → additional investigation)</a:t>
            </a:r>
            <a:endParaRPr sz="1100">
              <a:solidFill>
                <a:schemeClr val="dk1"/>
              </a:solidFill>
              <a:latin typeface="Inter"/>
              <a:ea typeface="Inter"/>
              <a:cs typeface="Inter"/>
              <a:sym typeface="Inter"/>
            </a:endParaRPr>
          </a:p>
          <a:p>
            <a:pPr marL="0" lvl="0" indent="0" algn="l" rtl="0">
              <a:spcBef>
                <a:spcPts val="1200"/>
              </a:spcBef>
              <a:spcAft>
                <a:spcPts val="1200"/>
              </a:spcAft>
              <a:buNone/>
            </a:pPr>
            <a:endParaRPr sz="1100">
              <a:latin typeface="Inter"/>
              <a:ea typeface="Inter"/>
              <a:cs typeface="Inter"/>
              <a:sym typeface="Inter"/>
            </a:endParaRPr>
          </a:p>
        </p:txBody>
      </p:sp>
      <p:sp>
        <p:nvSpPr>
          <p:cNvPr id="107" name="Google Shape;107;p18"/>
          <p:cNvSpPr txBox="1">
            <a:spLocks noGrp="1"/>
          </p:cNvSpPr>
          <p:nvPr>
            <p:ph type="body" idx="1"/>
          </p:nvPr>
        </p:nvSpPr>
        <p:spPr>
          <a:xfrm>
            <a:off x="4465776" y="1873136"/>
            <a:ext cx="4678983" cy="2338488"/>
          </a:xfrm>
          <a:prstGeom prst="rect">
            <a:avLst/>
          </a:prstGeom>
        </p:spPr>
        <p:txBody>
          <a:bodyPr spcFirstLastPara="1" wrap="square" lIns="91425" tIns="91425" rIns="91425" bIns="91425" anchor="t" anchorCtr="0">
            <a:noAutofit/>
          </a:bodyPr>
          <a:lstStyle/>
          <a:p>
            <a:pPr marL="0" indent="0">
              <a:lnSpc>
                <a:spcPct val="114999"/>
              </a:lnSpc>
              <a:buNone/>
            </a:pPr>
            <a:r>
              <a:rPr lang="en" sz="1200">
                <a:latin typeface="Inter"/>
                <a:ea typeface="Inter"/>
                <a:sym typeface="Inter"/>
              </a:rPr>
              <a:t>New objects required - </a:t>
            </a:r>
            <a:endParaRPr lang="en" sz="1200">
              <a:latin typeface="Inter"/>
              <a:ea typeface="Inter"/>
            </a:endParaRPr>
          </a:p>
          <a:p>
            <a:pPr marL="0" indent="0">
              <a:lnSpc>
                <a:spcPct val="114999"/>
              </a:lnSpc>
              <a:buNone/>
            </a:pPr>
            <a:r>
              <a:rPr lang="en" sz="1200">
                <a:latin typeface="Inter"/>
                <a:ea typeface="Inter"/>
              </a:rPr>
              <a:t> Need to flesh this out – there's a mix of stuff here, possible objects</a:t>
            </a:r>
          </a:p>
          <a:p>
            <a:pPr marL="228600" indent="-228600">
              <a:lnSpc>
                <a:spcPct val="114999"/>
              </a:lnSpc>
              <a:buAutoNum type="arabicPeriod"/>
            </a:pPr>
            <a:r>
              <a:rPr lang="en" sz="1200" err="1">
                <a:latin typeface="Inter"/>
                <a:ea typeface="Inter"/>
              </a:rPr>
              <a:t>RIPerformanceSpecifications</a:t>
            </a:r>
            <a:r>
              <a:rPr lang="en" sz="1200">
                <a:latin typeface="Inter"/>
                <a:ea typeface="Inter"/>
              </a:rPr>
              <a:t> (</a:t>
            </a:r>
            <a:r>
              <a:rPr lang="en" sz="1200" err="1">
                <a:latin typeface="Inter"/>
                <a:ea typeface="Inter"/>
              </a:rPr>
              <a:t>ProgramSpecification</a:t>
            </a:r>
            <a:r>
              <a:rPr lang="en" sz="1200">
                <a:latin typeface="Inter"/>
                <a:ea typeface="Inter"/>
              </a:rPr>
              <a:t>)</a:t>
            </a:r>
          </a:p>
          <a:p>
            <a:pPr marL="228600" indent="-228600">
              <a:lnSpc>
                <a:spcPct val="114999"/>
              </a:lnSpc>
              <a:buAutoNum type="arabicPeriod"/>
            </a:pPr>
            <a:r>
              <a:rPr lang="en" sz="1200" err="1">
                <a:latin typeface="Inter"/>
                <a:ea typeface="Inter"/>
              </a:rPr>
              <a:t>RIFeasibilty</a:t>
            </a:r>
            <a:r>
              <a:rPr lang="en" sz="1200">
                <a:latin typeface="Inter"/>
                <a:ea typeface="Inter"/>
              </a:rPr>
              <a:t> (</a:t>
            </a:r>
            <a:r>
              <a:rPr lang="en" sz="1200" err="1">
                <a:latin typeface="Inter"/>
                <a:ea typeface="Inter"/>
              </a:rPr>
              <a:t>ProgramDesign</a:t>
            </a:r>
            <a:r>
              <a:rPr lang="en" sz="1200">
                <a:latin typeface="Inter"/>
                <a:ea typeface="Inter"/>
              </a:rPr>
              <a:t>) - RI assessment vs others, would include risks/mitigations, soil conditions, etc.</a:t>
            </a:r>
          </a:p>
          <a:p>
            <a:pPr marL="228600" indent="-228600">
              <a:lnSpc>
                <a:spcPct val="114999"/>
              </a:lnSpc>
              <a:buAutoNum type="arabicPeriod"/>
            </a:pPr>
            <a:r>
              <a:rPr lang="en" sz="1200" err="1">
                <a:latin typeface="Inter"/>
                <a:ea typeface="Inter"/>
              </a:rPr>
              <a:t>RIConcepts</a:t>
            </a:r>
            <a:r>
              <a:rPr lang="en" sz="1200">
                <a:latin typeface="Inter"/>
                <a:ea typeface="Inter"/>
              </a:rPr>
              <a:t> (</a:t>
            </a:r>
            <a:r>
              <a:rPr lang="en" sz="1200" err="1">
                <a:latin typeface="Inter"/>
                <a:ea typeface="Inter"/>
              </a:rPr>
              <a:t>ProgramDesign</a:t>
            </a:r>
            <a:r>
              <a:rPr lang="en" sz="1200">
                <a:latin typeface="Inter"/>
                <a:ea typeface="Inter"/>
              </a:rPr>
              <a:t>) - general design properties – multiple ideas here, or is this essentially final concept/design?</a:t>
            </a:r>
          </a:p>
          <a:p>
            <a:pPr marL="228600" indent="-228600">
              <a:lnSpc>
                <a:spcPct val="114999"/>
              </a:lnSpc>
              <a:buAutoNum type="arabicPeriod"/>
            </a:pPr>
            <a:endParaRPr lang="en" sz="1200">
              <a:latin typeface="Inter"/>
              <a:ea typeface="Inter"/>
            </a:endParaRPr>
          </a:p>
          <a:p>
            <a:pPr marL="228600" indent="-228600">
              <a:lnSpc>
                <a:spcPct val="114999"/>
              </a:lnSpc>
              <a:buAutoNum type="arabicPeriod"/>
            </a:pPr>
            <a:endParaRPr lang="en" sz="1200">
              <a:latin typeface="Inter"/>
              <a:ea typeface="Inter"/>
            </a:endParaRPr>
          </a:p>
          <a:p>
            <a:pPr marL="0" indent="0">
              <a:lnSpc>
                <a:spcPct val="114999"/>
              </a:lnSpc>
              <a:buNone/>
            </a:pPr>
            <a:r>
              <a:rPr lang="en" sz="1200">
                <a:latin typeface="Inter"/>
                <a:ea typeface="Inter"/>
              </a:rPr>
              <a:t> </a:t>
            </a:r>
          </a:p>
          <a:p>
            <a:pPr marL="0" indent="0">
              <a:spcAft>
                <a:spcPts val="1200"/>
              </a:spcAft>
              <a:buNone/>
            </a:pPr>
            <a:endParaRPr lang="en-US" sz="1200">
              <a:latin typeface="Inter"/>
              <a:ea typeface="Inter"/>
              <a:cs typeface="Inter"/>
            </a:endParaRPr>
          </a:p>
        </p:txBody>
      </p:sp>
      <p:sp>
        <p:nvSpPr>
          <p:cNvPr id="108" name="Google Shape;108;p18"/>
          <p:cNvSpPr txBox="1">
            <a:spLocks noGrp="1"/>
          </p:cNvSpPr>
          <p:nvPr>
            <p:ph type="title"/>
          </p:nvPr>
        </p:nvSpPr>
        <p:spPr>
          <a:xfrm>
            <a:off x="7077300" y="132275"/>
            <a:ext cx="1795200" cy="486600"/>
          </a:xfrm>
          <a:prstGeom prst="rect">
            <a:avLst/>
          </a:prstGeom>
          <a:solidFill>
            <a:schemeClr val="accent6"/>
          </a:solidFill>
        </p:spPr>
        <p:txBody>
          <a:bodyPr spcFirstLastPara="1" wrap="square" lIns="91425" tIns="91425" rIns="91425" bIns="91425" anchor="t" anchorCtr="0">
            <a:noAutofit/>
          </a:bodyPr>
          <a:lstStyle/>
          <a:p>
            <a:pPr marL="0" marR="0" lvl="0" indent="0" algn="ctr" rtl="0">
              <a:lnSpc>
                <a:spcPct val="100000"/>
              </a:lnSpc>
              <a:spcBef>
                <a:spcPts val="0"/>
              </a:spcBef>
              <a:spcAft>
                <a:spcPts val="0"/>
              </a:spcAft>
              <a:buSzPts val="990"/>
              <a:buNone/>
            </a:pPr>
            <a:r>
              <a:rPr lang="en" sz="1720">
                <a:latin typeface="Manrope"/>
                <a:ea typeface="Manrope"/>
                <a:cs typeface="Manrope"/>
                <a:sym typeface="Manrope"/>
              </a:rPr>
              <a:t>Pre-Installation</a:t>
            </a:r>
            <a:endParaRPr sz="1720">
              <a:latin typeface="Manrope"/>
              <a:ea typeface="Manrope"/>
              <a:cs typeface="Manrope"/>
              <a:sym typeface="Manrope"/>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9"/>
          <p:cNvSpPr txBox="1">
            <a:spLocks noGrp="1"/>
          </p:cNvSpPr>
          <p:nvPr>
            <p:ph type="title"/>
          </p:nvPr>
        </p:nvSpPr>
        <p:spPr>
          <a:xfrm>
            <a:off x="201800" y="132275"/>
            <a:ext cx="7051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800" b="1">
                <a:solidFill>
                  <a:srgbClr val="0000FF"/>
                </a:solidFill>
                <a:latin typeface="Manrope"/>
                <a:ea typeface="Manrope"/>
                <a:cs typeface="Manrope"/>
                <a:sym typeface="Manrope"/>
              </a:rPr>
              <a:t>Stage 6</a:t>
            </a:r>
            <a:r>
              <a:rPr lang="en" sz="1800" b="1">
                <a:latin typeface="Manrope"/>
                <a:ea typeface="Manrope"/>
                <a:cs typeface="Manrope"/>
                <a:sym typeface="Manrope"/>
              </a:rPr>
              <a:t>: Define Design Basis and Acceptance Criteria</a:t>
            </a:r>
            <a:endParaRPr sz="1800" b="1">
              <a:latin typeface="Manrope"/>
              <a:ea typeface="Manrope"/>
              <a:cs typeface="Manrope"/>
              <a:sym typeface="Manrope"/>
            </a:endParaRPr>
          </a:p>
        </p:txBody>
      </p:sp>
      <p:sp>
        <p:nvSpPr>
          <p:cNvPr id="114" name="Google Shape;114;p19"/>
          <p:cNvSpPr txBox="1">
            <a:spLocks noGrp="1"/>
          </p:cNvSpPr>
          <p:nvPr>
            <p:ph type="body" idx="1"/>
          </p:nvPr>
        </p:nvSpPr>
        <p:spPr>
          <a:xfrm>
            <a:off x="201800" y="775863"/>
            <a:ext cx="8280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000">
                <a:solidFill>
                  <a:schemeClr val="dk1"/>
                </a:solidFill>
                <a:latin typeface="Inter"/>
                <a:ea typeface="Inter"/>
                <a:cs typeface="Inter"/>
                <a:sym typeface="Inter"/>
              </a:rPr>
              <a:t>Set the “Acceptance Criteria” before detailed design and construction: what counts as compliant installation and compliant performance.</a:t>
            </a:r>
            <a:endParaRPr sz="1000">
              <a:solidFill>
                <a:schemeClr val="dk1"/>
              </a:solidFill>
              <a:latin typeface="Inter"/>
              <a:ea typeface="Inter"/>
              <a:cs typeface="Inter"/>
              <a:sym typeface="Inter"/>
            </a:endParaRPr>
          </a:p>
        </p:txBody>
      </p:sp>
      <p:sp>
        <p:nvSpPr>
          <p:cNvPr id="115" name="Google Shape;115;p19"/>
          <p:cNvSpPr/>
          <p:nvPr/>
        </p:nvSpPr>
        <p:spPr>
          <a:xfrm rot="-5400000">
            <a:off x="5129125" y="608800"/>
            <a:ext cx="3455700" cy="4574100"/>
          </a:xfrm>
          <a:prstGeom prst="round1Rect">
            <a:avLst>
              <a:gd name="adj" fmla="val 8032"/>
            </a:avLst>
          </a:prstGeom>
          <a:solidFill>
            <a:schemeClr val="lt2"/>
          </a:solidFill>
          <a:ln>
            <a:noFill/>
          </a:ln>
          <a:effectLst>
            <a:outerShdw blurRad="171450" dist="114300" dir="13440000" algn="bl" rotWithShape="0">
              <a:schemeClr val="dk1">
                <a:alpha val="392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Nunito Light"/>
              <a:ea typeface="Nunito Light"/>
              <a:cs typeface="Nunito Light"/>
              <a:sym typeface="Nunito Light"/>
            </a:endParaRPr>
          </a:p>
        </p:txBody>
      </p:sp>
      <p:sp>
        <p:nvSpPr>
          <p:cNvPr id="116" name="Google Shape;116;p19"/>
          <p:cNvSpPr txBox="1">
            <a:spLocks noGrp="1"/>
          </p:cNvSpPr>
          <p:nvPr>
            <p:ph type="body" idx="1"/>
          </p:nvPr>
        </p:nvSpPr>
        <p:spPr>
          <a:xfrm>
            <a:off x="5037275" y="1419438"/>
            <a:ext cx="35607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2000">
                <a:solidFill>
                  <a:schemeClr val="dk1"/>
                </a:solidFill>
                <a:latin typeface="Inter"/>
                <a:ea typeface="Inter"/>
                <a:cs typeface="Inter"/>
                <a:sym typeface="Inter"/>
              </a:rPr>
              <a:t>DIGGS - </a:t>
            </a:r>
            <a:r>
              <a:rPr lang="en" sz="2000">
                <a:solidFill>
                  <a:srgbClr val="CC4125"/>
                </a:solidFill>
                <a:latin typeface="Inter"/>
                <a:ea typeface="Inter"/>
                <a:cs typeface="Inter"/>
                <a:sym typeface="Inter"/>
              </a:rPr>
              <a:t>Feature</a:t>
            </a:r>
            <a:endParaRPr sz="2000">
              <a:solidFill>
                <a:srgbClr val="CC4125"/>
              </a:solidFill>
              <a:latin typeface="Inter"/>
              <a:ea typeface="Inter"/>
              <a:cs typeface="Inter"/>
              <a:sym typeface="Inter"/>
            </a:endParaRPr>
          </a:p>
        </p:txBody>
      </p:sp>
      <p:sp>
        <p:nvSpPr>
          <p:cNvPr id="117" name="Google Shape;117;p19"/>
          <p:cNvSpPr txBox="1">
            <a:spLocks noGrp="1"/>
          </p:cNvSpPr>
          <p:nvPr>
            <p:ph type="body" idx="1"/>
          </p:nvPr>
        </p:nvSpPr>
        <p:spPr>
          <a:xfrm>
            <a:off x="201800" y="1328550"/>
            <a:ext cx="4356600" cy="31959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100" b="1">
                <a:solidFill>
                  <a:schemeClr val="dk1"/>
                </a:solidFill>
                <a:latin typeface="Inter"/>
                <a:ea typeface="Inter"/>
                <a:cs typeface="Inter"/>
                <a:sym typeface="Inter"/>
              </a:rPr>
              <a:t>Report at end of stage (key parameters):</a:t>
            </a:r>
            <a:endParaRPr sz="1100" b="1">
              <a:solidFill>
                <a:schemeClr val="dk1"/>
              </a:solidFill>
              <a:latin typeface="Inter"/>
              <a:ea typeface="Inter"/>
              <a:cs typeface="Inter"/>
              <a:sym typeface="Inter"/>
            </a:endParaRPr>
          </a:p>
          <a:p>
            <a:pPr marL="457200" lvl="0" indent="-298450" algn="l" rtl="0">
              <a:spcBef>
                <a:spcPts val="1200"/>
              </a:spcBef>
              <a:spcAft>
                <a:spcPts val="0"/>
              </a:spcAft>
              <a:buClr>
                <a:schemeClr val="dk1"/>
              </a:buClr>
              <a:buSzPts val="1100"/>
              <a:buFont typeface="Inter"/>
              <a:buChar char="●"/>
            </a:pPr>
            <a:r>
              <a:rPr lang="en" sz="1100">
                <a:solidFill>
                  <a:schemeClr val="dk1"/>
                </a:solidFill>
                <a:latin typeface="Inter"/>
                <a:ea typeface="Inter"/>
                <a:cs typeface="Inter"/>
                <a:sym typeface="Inter"/>
              </a:rPr>
              <a:t>Structural loads and load combinations to be supported (service and ultimate)</a:t>
            </a:r>
            <a:endParaRPr sz="1100">
              <a:solidFill>
                <a:schemeClr val="dk1"/>
              </a:solidFill>
              <a:latin typeface="Inter"/>
              <a:ea typeface="Inter"/>
              <a:cs typeface="Inter"/>
              <a:sym typeface="Inter"/>
            </a:endParaRPr>
          </a:p>
          <a:p>
            <a:pPr marL="457200" lvl="0" indent="-298450" algn="l" rtl="0">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Settlement criteria and monitoring locations</a:t>
            </a:r>
            <a:endParaRPr sz="1100">
              <a:solidFill>
                <a:schemeClr val="dk1"/>
              </a:solidFill>
              <a:latin typeface="Inter"/>
              <a:ea typeface="Inter"/>
              <a:cs typeface="Inter"/>
              <a:sym typeface="Inter"/>
            </a:endParaRPr>
          </a:p>
          <a:p>
            <a:pPr marL="457200" lvl="0" indent="-298450" algn="l" rtl="0">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Minimum column toe level / required bearing layer definition</a:t>
            </a:r>
            <a:endParaRPr sz="1100">
              <a:solidFill>
                <a:schemeClr val="dk1"/>
              </a:solidFill>
              <a:latin typeface="Inter"/>
              <a:ea typeface="Inter"/>
              <a:cs typeface="Inter"/>
              <a:sym typeface="Inter"/>
            </a:endParaRPr>
          </a:p>
          <a:p>
            <a:pPr marL="457200" lvl="0" indent="-298450" algn="l" rtl="0">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Minimum LTP thickness and material requirements (if known)</a:t>
            </a:r>
            <a:endParaRPr sz="1100">
              <a:solidFill>
                <a:schemeClr val="dk1"/>
              </a:solidFill>
              <a:latin typeface="Inter"/>
              <a:ea typeface="Inter"/>
              <a:cs typeface="Inter"/>
              <a:sym typeface="Inter"/>
            </a:endParaRPr>
          </a:p>
          <a:p>
            <a:pPr marL="457200" lvl="0" indent="-298450" algn="l" rtl="0">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Installation acceptance metrics (examples):</a:t>
            </a:r>
            <a:endParaRPr sz="1100">
              <a:solidFill>
                <a:schemeClr val="dk1"/>
              </a:solidFill>
              <a:latin typeface="Inter"/>
              <a:ea typeface="Inter"/>
              <a:cs typeface="Inter"/>
              <a:sym typeface="Inter"/>
            </a:endParaRPr>
          </a:p>
          <a:p>
            <a:pPr marL="914400" lvl="1" indent="-298450" algn="l" rtl="0">
              <a:spcBef>
                <a:spcPts val="0"/>
              </a:spcBef>
              <a:spcAft>
                <a:spcPts val="0"/>
              </a:spcAft>
              <a:buClr>
                <a:schemeClr val="dk1"/>
              </a:buClr>
              <a:buSzPts val="1100"/>
              <a:buFont typeface="Inter"/>
              <a:buAutoNum type="alphaLcPeriod"/>
            </a:pPr>
            <a:r>
              <a:rPr lang="en" sz="1100">
                <a:solidFill>
                  <a:schemeClr val="dk1"/>
                </a:solidFill>
                <a:latin typeface="Inter"/>
                <a:ea typeface="Inter"/>
                <a:cs typeface="Inter"/>
                <a:sym typeface="Inter"/>
              </a:rPr>
              <a:t>minimum depth / toe tolerance</a:t>
            </a:r>
            <a:endParaRPr sz="1100">
              <a:solidFill>
                <a:schemeClr val="dk1"/>
              </a:solidFill>
              <a:latin typeface="Inter"/>
              <a:ea typeface="Inter"/>
              <a:cs typeface="Inter"/>
              <a:sym typeface="Inter"/>
            </a:endParaRPr>
          </a:p>
          <a:p>
            <a:pPr marL="914400" lvl="1" indent="-298450" algn="l" rtl="0">
              <a:spcBef>
                <a:spcPts val="0"/>
              </a:spcBef>
              <a:spcAft>
                <a:spcPts val="0"/>
              </a:spcAft>
              <a:buClr>
                <a:schemeClr val="dk1"/>
              </a:buClr>
              <a:buSzPts val="1100"/>
              <a:buFont typeface="Inter"/>
              <a:buAutoNum type="alphaLcPeriod"/>
            </a:pPr>
            <a:r>
              <a:rPr lang="en" sz="1100">
                <a:solidFill>
                  <a:schemeClr val="dk1"/>
                </a:solidFill>
                <a:latin typeface="Inter"/>
                <a:ea typeface="Inter"/>
                <a:cs typeface="Inter"/>
                <a:sym typeface="Inter"/>
              </a:rPr>
              <a:t>minimum grout volume ratio or expected theoretical vs actual take</a:t>
            </a:r>
            <a:endParaRPr sz="1100">
              <a:solidFill>
                <a:schemeClr val="dk1"/>
              </a:solidFill>
              <a:latin typeface="Inter"/>
              <a:ea typeface="Inter"/>
              <a:cs typeface="Inter"/>
              <a:sym typeface="Inter"/>
            </a:endParaRPr>
          </a:p>
          <a:p>
            <a:pPr marL="914400" lvl="1" indent="-298450" algn="l" rtl="0">
              <a:spcBef>
                <a:spcPts val="0"/>
              </a:spcBef>
              <a:spcAft>
                <a:spcPts val="0"/>
              </a:spcAft>
              <a:buClr>
                <a:schemeClr val="dk1"/>
              </a:buClr>
              <a:buSzPts val="1100"/>
              <a:buFont typeface="Inter"/>
              <a:buAutoNum type="alphaLcPeriod"/>
            </a:pPr>
            <a:r>
              <a:rPr lang="en" sz="1100">
                <a:solidFill>
                  <a:schemeClr val="dk1"/>
                </a:solidFill>
                <a:latin typeface="Inter"/>
                <a:ea typeface="Inter"/>
                <a:cs typeface="Inter"/>
                <a:sym typeface="Inter"/>
              </a:rPr>
              <a:t>limits on withdrawal rate / pressure range</a:t>
            </a:r>
            <a:endParaRPr sz="1100">
              <a:solidFill>
                <a:schemeClr val="dk1"/>
              </a:solidFill>
              <a:latin typeface="Inter"/>
              <a:ea typeface="Inter"/>
              <a:cs typeface="Inter"/>
              <a:sym typeface="Inter"/>
            </a:endParaRPr>
          </a:p>
          <a:p>
            <a:pPr marL="914400" lvl="1" indent="-298450" algn="l" rtl="0">
              <a:spcBef>
                <a:spcPts val="0"/>
              </a:spcBef>
              <a:spcAft>
                <a:spcPts val="0"/>
              </a:spcAft>
              <a:buClr>
                <a:schemeClr val="dk1"/>
              </a:buClr>
              <a:buSzPts val="1100"/>
              <a:buFont typeface="Inter"/>
              <a:buAutoNum type="alphaLcPeriod"/>
            </a:pPr>
            <a:r>
              <a:rPr lang="en" sz="1100">
                <a:solidFill>
                  <a:schemeClr val="dk1"/>
                </a:solidFill>
                <a:latin typeface="Inter"/>
                <a:ea typeface="Inter"/>
                <a:cs typeface="Inter"/>
                <a:sym typeface="Inter"/>
              </a:rPr>
              <a:t>verticality tolerance</a:t>
            </a:r>
            <a:endParaRPr sz="1100">
              <a:solidFill>
                <a:schemeClr val="dk1"/>
              </a:solidFill>
              <a:latin typeface="Inter"/>
              <a:ea typeface="Inter"/>
              <a:cs typeface="Inter"/>
              <a:sym typeface="Inter"/>
            </a:endParaRPr>
          </a:p>
          <a:p>
            <a:pPr marL="457200" lvl="0" indent="-298450" algn="l" rtl="0">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Verification test types and preliminary frequencies (to be finalized with contractor)</a:t>
            </a:r>
            <a:endParaRPr sz="1100">
              <a:solidFill>
                <a:schemeClr val="dk1"/>
              </a:solidFill>
              <a:latin typeface="Inter"/>
              <a:ea typeface="Inter"/>
              <a:cs typeface="Inter"/>
              <a:sym typeface="Inter"/>
            </a:endParaRPr>
          </a:p>
          <a:p>
            <a:pPr marL="0" lvl="0" indent="0" algn="l" rtl="0">
              <a:spcBef>
                <a:spcPts val="1200"/>
              </a:spcBef>
              <a:spcAft>
                <a:spcPts val="1200"/>
              </a:spcAft>
              <a:buNone/>
            </a:pPr>
            <a:endParaRPr sz="1100">
              <a:latin typeface="Inter"/>
              <a:ea typeface="Inter"/>
              <a:cs typeface="Inter"/>
              <a:sym typeface="Inter"/>
            </a:endParaRPr>
          </a:p>
        </p:txBody>
      </p:sp>
      <p:sp>
        <p:nvSpPr>
          <p:cNvPr id="118" name="Google Shape;118;p19"/>
          <p:cNvSpPr txBox="1">
            <a:spLocks noGrp="1"/>
          </p:cNvSpPr>
          <p:nvPr>
            <p:ph type="body" idx="1"/>
          </p:nvPr>
        </p:nvSpPr>
        <p:spPr>
          <a:xfrm>
            <a:off x="4575679" y="1880463"/>
            <a:ext cx="4942753" cy="2741468"/>
          </a:xfrm>
          <a:prstGeom prst="rect">
            <a:avLst/>
          </a:prstGeom>
        </p:spPr>
        <p:txBody>
          <a:bodyPr spcFirstLastPara="1" wrap="square" lIns="91425" tIns="91425" rIns="91425" bIns="91425" anchor="t" anchorCtr="0">
            <a:normAutofit/>
          </a:bodyPr>
          <a:lstStyle/>
          <a:p>
            <a:pPr marL="0" indent="0">
              <a:lnSpc>
                <a:spcPct val="114999"/>
              </a:lnSpc>
              <a:buNone/>
            </a:pPr>
            <a:r>
              <a:rPr lang="en" sz="1200">
                <a:latin typeface="Inter"/>
                <a:ea typeface="Inter"/>
                <a:sym typeface="Inter"/>
              </a:rPr>
              <a:t>New objects required – needs discussion to flesh out</a:t>
            </a:r>
            <a:endParaRPr lang="en-US">
              <a:ea typeface="Inter"/>
            </a:endParaRPr>
          </a:p>
          <a:p>
            <a:pPr marL="228600" indent="-228600">
              <a:lnSpc>
                <a:spcPct val="114999"/>
              </a:lnSpc>
              <a:buAutoNum type="arabicPeriod"/>
            </a:pPr>
            <a:r>
              <a:rPr lang="en" sz="1200" err="1">
                <a:latin typeface="Inter"/>
                <a:ea typeface="Inter"/>
              </a:rPr>
              <a:t>RIDesignSpec</a:t>
            </a:r>
            <a:r>
              <a:rPr lang="en" sz="1200">
                <a:latin typeface="Inter"/>
                <a:ea typeface="Inter"/>
              </a:rPr>
              <a:t> - (</a:t>
            </a:r>
            <a:r>
              <a:rPr lang="en" sz="1200" err="1">
                <a:latin typeface="Inter"/>
                <a:ea typeface="Inter"/>
              </a:rPr>
              <a:t>ProgramSpecification</a:t>
            </a:r>
            <a:r>
              <a:rPr lang="en" sz="1200">
                <a:latin typeface="Inter"/>
                <a:ea typeface="Inter"/>
              </a:rPr>
              <a:t>)</a:t>
            </a:r>
          </a:p>
          <a:p>
            <a:pPr marL="228600" lvl="0" indent="-228600" algn="l">
              <a:lnSpc>
                <a:spcPct val="114999"/>
              </a:lnSpc>
              <a:spcBef>
                <a:spcPts val="0"/>
              </a:spcBef>
              <a:buAutoNum type="arabicPeriod"/>
            </a:pPr>
            <a:endParaRPr lang="en" sz="1200">
              <a:latin typeface="Inter"/>
              <a:ea typeface="Inter"/>
            </a:endParaRPr>
          </a:p>
          <a:p>
            <a:pPr marL="0" indent="0">
              <a:lnSpc>
                <a:spcPct val="114999"/>
              </a:lnSpc>
              <a:buNone/>
            </a:pPr>
            <a:r>
              <a:rPr lang="en" sz="1200">
                <a:latin typeface="Inter"/>
                <a:ea typeface="Inter"/>
              </a:rPr>
              <a:t>Questions:</a:t>
            </a:r>
          </a:p>
          <a:p>
            <a:pPr marL="228600" indent="-228600">
              <a:lnSpc>
                <a:spcPct val="114999"/>
              </a:lnSpc>
              <a:buAutoNum type="arabicPeriod"/>
            </a:pPr>
            <a:r>
              <a:rPr lang="en" sz="1200">
                <a:latin typeface="Inter"/>
                <a:ea typeface="Inter"/>
              </a:rPr>
              <a:t>I think the list to left can be properties of this one primary object with </a:t>
            </a:r>
            <a:r>
              <a:rPr lang="en" sz="1200" err="1">
                <a:latin typeface="Inter"/>
                <a:ea typeface="Inter"/>
              </a:rPr>
              <a:t>subobjects</a:t>
            </a:r>
            <a:r>
              <a:rPr lang="en" sz="1200">
                <a:latin typeface="Inter"/>
                <a:ea typeface="Inter"/>
              </a:rPr>
              <a:t>: Loads, Settlements, </a:t>
            </a:r>
            <a:r>
              <a:rPr lang="en" sz="1200" err="1">
                <a:latin typeface="Inter"/>
                <a:ea typeface="Inter"/>
              </a:rPr>
              <a:t>ColumnSpecs</a:t>
            </a:r>
            <a:r>
              <a:rPr lang="en" sz="1200">
                <a:latin typeface="Inter"/>
                <a:ea typeface="Inter"/>
              </a:rPr>
              <a:t>, </a:t>
            </a:r>
            <a:r>
              <a:rPr lang="en" sz="1200" err="1">
                <a:latin typeface="Inter"/>
                <a:ea typeface="Inter"/>
              </a:rPr>
              <a:t>LTPSpecs</a:t>
            </a:r>
            <a:r>
              <a:rPr lang="en" sz="1200">
                <a:latin typeface="Inter"/>
                <a:ea typeface="Inter"/>
              </a:rPr>
              <a:t>, </a:t>
            </a:r>
            <a:r>
              <a:rPr lang="en" sz="1200" err="1">
                <a:latin typeface="Inter"/>
                <a:ea typeface="Inter"/>
              </a:rPr>
              <a:t>InstallationSpecs</a:t>
            </a:r>
            <a:r>
              <a:rPr lang="en" sz="1200">
                <a:latin typeface="Inter"/>
                <a:ea typeface="Inter"/>
              </a:rPr>
              <a:t>? Do these topics </a:t>
            </a:r>
            <a:r>
              <a:rPr lang="en" sz="1200" err="1">
                <a:latin typeface="Inter"/>
                <a:ea typeface="Inter"/>
              </a:rPr>
              <a:t>interrelat</a:t>
            </a:r>
            <a:r>
              <a:rPr lang="en" sz="1200">
                <a:latin typeface="Inter"/>
                <a:ea typeface="Inter"/>
              </a:rPr>
              <a:t>e at all (requiring several </a:t>
            </a:r>
            <a:r>
              <a:rPr lang="en" sz="1200" err="1">
                <a:latin typeface="Inter"/>
                <a:ea typeface="Inter"/>
              </a:rPr>
              <a:t>top level</a:t>
            </a:r>
            <a:r>
              <a:rPr lang="en" sz="1200">
                <a:latin typeface="Inter"/>
                <a:ea typeface="Inter"/>
              </a:rPr>
              <a:t> objects)</a:t>
            </a:r>
          </a:p>
          <a:p>
            <a:pPr marL="228600" indent="-228600">
              <a:lnSpc>
                <a:spcPct val="114999"/>
              </a:lnSpc>
              <a:buAutoNum type="arabicPeriod"/>
            </a:pPr>
            <a:r>
              <a:rPr lang="en" sz="1200">
                <a:latin typeface="Inter"/>
                <a:ea typeface="Inter"/>
              </a:rPr>
              <a:t>What are preliminary frequencies and verification test types? - is one a </a:t>
            </a:r>
            <a:r>
              <a:rPr lang="en" sz="1200" err="1">
                <a:latin typeface="Inter"/>
                <a:ea typeface="Inter"/>
              </a:rPr>
              <a:t>spe</a:t>
            </a:r>
            <a:r>
              <a:rPr lang="en" sz="1200">
                <a:latin typeface="Inter"/>
                <a:ea typeface="Inter"/>
              </a:rPr>
              <a:t>c and the other design?</a:t>
            </a:r>
          </a:p>
          <a:p>
            <a:pPr marL="0" indent="0">
              <a:lnSpc>
                <a:spcPct val="114999"/>
              </a:lnSpc>
              <a:buNone/>
            </a:pPr>
            <a:endParaRPr lang="en" sz="1200">
              <a:latin typeface="Inter"/>
              <a:ea typeface="Inter"/>
            </a:endParaRPr>
          </a:p>
          <a:p>
            <a:pPr marL="0" indent="0">
              <a:spcAft>
                <a:spcPts val="1200"/>
              </a:spcAft>
              <a:buNone/>
            </a:pPr>
            <a:endParaRPr lang="en-US">
              <a:latin typeface="Inter"/>
              <a:ea typeface="Inter"/>
              <a:cs typeface="Inter"/>
            </a:endParaRPr>
          </a:p>
        </p:txBody>
      </p:sp>
      <p:sp>
        <p:nvSpPr>
          <p:cNvPr id="119" name="Google Shape;119;p19"/>
          <p:cNvSpPr txBox="1">
            <a:spLocks noGrp="1"/>
          </p:cNvSpPr>
          <p:nvPr>
            <p:ph type="title"/>
          </p:nvPr>
        </p:nvSpPr>
        <p:spPr>
          <a:xfrm>
            <a:off x="7077300" y="132275"/>
            <a:ext cx="1795200" cy="486600"/>
          </a:xfrm>
          <a:prstGeom prst="rect">
            <a:avLst/>
          </a:prstGeom>
          <a:solidFill>
            <a:schemeClr val="accent6"/>
          </a:solidFill>
        </p:spPr>
        <p:txBody>
          <a:bodyPr spcFirstLastPara="1" wrap="square" lIns="91425" tIns="91425" rIns="91425" bIns="91425" anchor="t" anchorCtr="0">
            <a:noAutofit/>
          </a:bodyPr>
          <a:lstStyle/>
          <a:p>
            <a:pPr marL="0" marR="0" lvl="0" indent="0" algn="ctr" rtl="0">
              <a:lnSpc>
                <a:spcPct val="100000"/>
              </a:lnSpc>
              <a:spcBef>
                <a:spcPts val="0"/>
              </a:spcBef>
              <a:spcAft>
                <a:spcPts val="0"/>
              </a:spcAft>
              <a:buSzPts val="990"/>
              <a:buNone/>
            </a:pPr>
            <a:r>
              <a:rPr lang="en" sz="1720">
                <a:latin typeface="Manrope"/>
                <a:ea typeface="Manrope"/>
                <a:cs typeface="Manrope"/>
                <a:sym typeface="Manrope"/>
              </a:rPr>
              <a:t>Pre-Installation</a:t>
            </a:r>
            <a:endParaRPr sz="1720">
              <a:latin typeface="Manrope"/>
              <a:ea typeface="Manrope"/>
              <a:cs typeface="Manrope"/>
              <a:sym typeface="Manrope"/>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0"/>
          <p:cNvSpPr txBox="1">
            <a:spLocks noGrp="1"/>
          </p:cNvSpPr>
          <p:nvPr>
            <p:ph type="title"/>
          </p:nvPr>
        </p:nvSpPr>
        <p:spPr>
          <a:xfrm>
            <a:off x="201800" y="132275"/>
            <a:ext cx="7051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800" b="1">
                <a:latin typeface="Manrope"/>
                <a:ea typeface="Manrope"/>
                <a:cs typeface="Manrope"/>
                <a:sym typeface="Manrope"/>
              </a:rPr>
              <a:t>Stage 7: Detailed CMC/RI System Design (Owner/Engineer Design or Design-Assist) </a:t>
            </a:r>
            <a:endParaRPr sz="1800" b="1">
              <a:latin typeface="Manrope"/>
              <a:ea typeface="Manrope"/>
              <a:cs typeface="Manrope"/>
              <a:sym typeface="Manrope"/>
            </a:endParaRPr>
          </a:p>
        </p:txBody>
      </p:sp>
      <p:sp>
        <p:nvSpPr>
          <p:cNvPr id="125" name="Google Shape;125;p20"/>
          <p:cNvSpPr txBox="1">
            <a:spLocks noGrp="1"/>
          </p:cNvSpPr>
          <p:nvPr>
            <p:ph type="body" idx="1"/>
          </p:nvPr>
        </p:nvSpPr>
        <p:spPr>
          <a:xfrm>
            <a:off x="201800" y="775863"/>
            <a:ext cx="8280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000">
                <a:solidFill>
                  <a:schemeClr val="dk1"/>
                </a:solidFill>
                <a:latin typeface="Inter"/>
                <a:ea typeface="Inter"/>
                <a:cs typeface="Inter"/>
                <a:sym typeface="Inter"/>
              </a:rPr>
              <a:t>Design the CMC layout and LTP so the system meets settlement, bearing, and stability requirements.</a:t>
            </a:r>
            <a:endParaRPr sz="1000">
              <a:solidFill>
                <a:schemeClr val="dk1"/>
              </a:solidFill>
              <a:latin typeface="Inter"/>
              <a:ea typeface="Inter"/>
              <a:cs typeface="Inter"/>
              <a:sym typeface="Inter"/>
            </a:endParaRPr>
          </a:p>
        </p:txBody>
      </p:sp>
      <p:sp>
        <p:nvSpPr>
          <p:cNvPr id="126" name="Google Shape;126;p20"/>
          <p:cNvSpPr/>
          <p:nvPr/>
        </p:nvSpPr>
        <p:spPr>
          <a:xfrm rot="-5400000">
            <a:off x="5129125" y="608800"/>
            <a:ext cx="3455700" cy="4574100"/>
          </a:xfrm>
          <a:prstGeom prst="round1Rect">
            <a:avLst>
              <a:gd name="adj" fmla="val 8032"/>
            </a:avLst>
          </a:prstGeom>
          <a:solidFill>
            <a:schemeClr val="lt2"/>
          </a:solidFill>
          <a:ln>
            <a:noFill/>
          </a:ln>
          <a:effectLst>
            <a:outerShdw blurRad="171450" dist="114300" dir="13440000" algn="bl" rotWithShape="0">
              <a:schemeClr val="dk1">
                <a:alpha val="392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Nunito Light"/>
              <a:ea typeface="Nunito Light"/>
              <a:cs typeface="Nunito Light"/>
              <a:sym typeface="Nunito Light"/>
            </a:endParaRPr>
          </a:p>
        </p:txBody>
      </p:sp>
      <p:sp>
        <p:nvSpPr>
          <p:cNvPr id="127" name="Google Shape;127;p20"/>
          <p:cNvSpPr txBox="1">
            <a:spLocks noGrp="1"/>
          </p:cNvSpPr>
          <p:nvPr>
            <p:ph type="body" idx="1"/>
          </p:nvPr>
        </p:nvSpPr>
        <p:spPr>
          <a:xfrm>
            <a:off x="5037275" y="1419438"/>
            <a:ext cx="35607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2000">
                <a:solidFill>
                  <a:schemeClr val="dk1"/>
                </a:solidFill>
                <a:latin typeface="Inter"/>
                <a:ea typeface="Inter"/>
                <a:cs typeface="Inter"/>
                <a:sym typeface="Inter"/>
              </a:rPr>
              <a:t>DIGGS - </a:t>
            </a:r>
            <a:r>
              <a:rPr lang="en" sz="2000">
                <a:solidFill>
                  <a:srgbClr val="CC4125"/>
                </a:solidFill>
                <a:latin typeface="Inter"/>
                <a:ea typeface="Inter"/>
                <a:cs typeface="Inter"/>
                <a:sym typeface="Inter"/>
              </a:rPr>
              <a:t>Feature</a:t>
            </a:r>
            <a:endParaRPr sz="2000">
              <a:solidFill>
                <a:srgbClr val="CC4125"/>
              </a:solidFill>
              <a:latin typeface="Inter"/>
              <a:ea typeface="Inter"/>
              <a:cs typeface="Inter"/>
              <a:sym typeface="Inter"/>
            </a:endParaRPr>
          </a:p>
        </p:txBody>
      </p:sp>
      <p:sp>
        <p:nvSpPr>
          <p:cNvPr id="128" name="Google Shape;128;p20"/>
          <p:cNvSpPr txBox="1">
            <a:spLocks noGrp="1"/>
          </p:cNvSpPr>
          <p:nvPr>
            <p:ph type="body" idx="1"/>
          </p:nvPr>
        </p:nvSpPr>
        <p:spPr>
          <a:xfrm>
            <a:off x="201800" y="1328550"/>
            <a:ext cx="4356600" cy="3195900"/>
          </a:xfrm>
          <a:prstGeom prst="rect">
            <a:avLst/>
          </a:prstGeom>
        </p:spPr>
        <p:txBody>
          <a:bodyPr spcFirstLastPara="1" wrap="square" lIns="91425" tIns="91425" rIns="91425" bIns="91425" anchor="t" anchorCtr="0">
            <a:noAutofit/>
          </a:bodyPr>
          <a:lstStyle/>
          <a:p>
            <a:pPr marL="0" lvl="0" indent="0" algn="l" rtl="0">
              <a:lnSpc>
                <a:spcPct val="105000"/>
              </a:lnSpc>
              <a:spcBef>
                <a:spcPts val="1200"/>
              </a:spcBef>
              <a:spcAft>
                <a:spcPts val="0"/>
              </a:spcAft>
              <a:buSzPts val="935"/>
              <a:buNone/>
            </a:pPr>
            <a:r>
              <a:rPr lang="en" sz="1100" b="1">
                <a:solidFill>
                  <a:schemeClr val="dk1"/>
                </a:solidFill>
                <a:latin typeface="Inter"/>
                <a:ea typeface="Inter"/>
                <a:cs typeface="Inter"/>
                <a:sym typeface="Inter"/>
              </a:rPr>
              <a:t>Report at end of stage (key parameters):</a:t>
            </a:r>
            <a:endParaRPr sz="1100" b="1">
              <a:solidFill>
                <a:schemeClr val="dk1"/>
              </a:solidFill>
              <a:latin typeface="Inter"/>
              <a:ea typeface="Inter"/>
              <a:cs typeface="Inter"/>
              <a:sym typeface="Inter"/>
            </a:endParaRPr>
          </a:p>
          <a:p>
            <a:pPr marL="457200" lvl="0" indent="-298450" algn="l" rtl="0">
              <a:lnSpc>
                <a:spcPct val="105000"/>
              </a:lnSpc>
              <a:spcBef>
                <a:spcPts val="1200"/>
              </a:spcBef>
              <a:spcAft>
                <a:spcPts val="0"/>
              </a:spcAft>
              <a:buClr>
                <a:schemeClr val="dk1"/>
              </a:buClr>
              <a:buSzPts val="1100"/>
              <a:buFont typeface="Inter"/>
              <a:buChar char="●"/>
            </a:pPr>
            <a:r>
              <a:rPr lang="en" sz="1100">
                <a:solidFill>
                  <a:schemeClr val="dk1"/>
                </a:solidFill>
                <a:latin typeface="Inter"/>
                <a:ea typeface="Inter"/>
                <a:cs typeface="Inter"/>
                <a:sym typeface="Inter"/>
              </a:rPr>
              <a:t>Column geometry: diameter, target depth, toe criteria, head cut-off level</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lnSpc>
                <a:spcPct val="105000"/>
              </a:lnSpc>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Layout: grid type (square/triangular), spacing, treatment footprint, edge detailing</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lnSpc>
                <a:spcPct val="105000"/>
              </a:lnSpc>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Area replacement ratio (or equivalent) and design stress concentration assumptions</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lnSpc>
                <a:spcPct val="105000"/>
              </a:lnSpc>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LTP design: thickness, gradation, compaction targets, reinforcement (geogrid) if required</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lnSpc>
                <a:spcPct val="105000"/>
              </a:lnSpc>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Global stability checks (especially embankments)</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lnSpc>
                <a:spcPct val="105000"/>
              </a:lnSpc>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Predicted performance: settlement estimate, differential settlement, factors of safety</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lnSpc>
                <a:spcPct val="105000"/>
              </a:lnSpc>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Drawings + specs: coordinate-based plan, details, tolerances</a:t>
            </a:r>
            <a:endParaRPr sz="1100">
              <a:latin typeface="Inter"/>
              <a:ea typeface="Inter"/>
              <a:cs typeface="Inter"/>
              <a:sym typeface="Inter"/>
            </a:endParaRPr>
          </a:p>
        </p:txBody>
      </p:sp>
      <p:sp>
        <p:nvSpPr>
          <p:cNvPr id="129" name="Google Shape;129;p20"/>
          <p:cNvSpPr txBox="1">
            <a:spLocks noGrp="1"/>
          </p:cNvSpPr>
          <p:nvPr>
            <p:ph type="body" idx="1"/>
          </p:nvPr>
        </p:nvSpPr>
        <p:spPr>
          <a:xfrm>
            <a:off x="4575679" y="1880463"/>
            <a:ext cx="4818196" cy="2653546"/>
          </a:xfrm>
          <a:prstGeom prst="rect">
            <a:avLst/>
          </a:prstGeom>
        </p:spPr>
        <p:txBody>
          <a:bodyPr spcFirstLastPara="1" wrap="square" lIns="91425" tIns="91425" rIns="91425" bIns="91425" anchor="t" anchorCtr="0">
            <a:normAutofit fontScale="92500"/>
          </a:bodyPr>
          <a:lstStyle/>
          <a:p>
            <a:pPr marL="0" indent="0">
              <a:lnSpc>
                <a:spcPct val="114999"/>
              </a:lnSpc>
              <a:buNone/>
            </a:pPr>
            <a:r>
              <a:rPr lang="en" sz="1200">
                <a:latin typeface="Inter"/>
                <a:ea typeface="Inter"/>
                <a:sym typeface="Inter"/>
              </a:rPr>
              <a:t>New Objects</a:t>
            </a:r>
            <a:r>
              <a:rPr lang="en" sz="1200">
                <a:latin typeface="Inter"/>
                <a:ea typeface="Inter"/>
              </a:rPr>
              <a:t> in </a:t>
            </a:r>
            <a:r>
              <a:rPr lang="en" sz="1200" err="1">
                <a:latin typeface="Inter"/>
                <a:ea typeface="Inter"/>
              </a:rPr>
              <a:t>RigidInclusionProgram</a:t>
            </a:r>
            <a:r>
              <a:rPr lang="en" sz="1200">
                <a:latin typeface="Inter"/>
                <a:ea typeface="Inter"/>
              </a:rPr>
              <a:t> dependent on level of detail:</a:t>
            </a:r>
          </a:p>
          <a:p>
            <a:pPr marL="228600" indent="-228600">
              <a:lnSpc>
                <a:spcPct val="114999"/>
              </a:lnSpc>
              <a:buAutoNum type="arabicPeriod"/>
            </a:pPr>
            <a:r>
              <a:rPr lang="en" sz="1200">
                <a:latin typeface="Inter"/>
                <a:ea typeface="Inter"/>
              </a:rPr>
              <a:t>Column </a:t>
            </a:r>
            <a:r>
              <a:rPr lang="en" sz="1200" err="1">
                <a:latin typeface="Inter"/>
                <a:ea typeface="Inter"/>
              </a:rPr>
              <a:t>geom</a:t>
            </a:r>
            <a:r>
              <a:rPr lang="en" sz="1200">
                <a:latin typeface="Inter"/>
                <a:ea typeface="Inter"/>
              </a:rPr>
              <a:t> – per column or general spec?</a:t>
            </a:r>
          </a:p>
          <a:p>
            <a:pPr marL="228600" indent="-228600">
              <a:lnSpc>
                <a:spcPct val="114999"/>
              </a:lnSpc>
              <a:buAutoNum type="arabicPeriod"/>
            </a:pPr>
            <a:r>
              <a:rPr lang="en" sz="1200">
                <a:latin typeface="Inter"/>
                <a:ea typeface="Inter"/>
              </a:rPr>
              <a:t>Layout – can be defined by column locations if individually specified or are designs always regular and can be defined by some type of grid where properties such as  footprint, edge detailing, area replacement ratio can be properties of a proposed column?</a:t>
            </a:r>
          </a:p>
          <a:p>
            <a:pPr marL="228600" indent="-228600">
              <a:lnSpc>
                <a:spcPct val="114999"/>
              </a:lnSpc>
              <a:buAutoNum type="arabicPeriod"/>
            </a:pPr>
            <a:r>
              <a:rPr lang="en" sz="1200">
                <a:latin typeface="Inter"/>
                <a:ea typeface="Inter"/>
              </a:rPr>
              <a:t>Predicted performance – overall or for individual elements?</a:t>
            </a:r>
          </a:p>
          <a:p>
            <a:pPr marL="228600" indent="-228600">
              <a:lnSpc>
                <a:spcPct val="114999"/>
              </a:lnSpc>
              <a:buAutoNum type="arabicPeriod"/>
            </a:pPr>
            <a:r>
              <a:rPr lang="en" sz="1200" err="1">
                <a:latin typeface="Inter"/>
                <a:ea typeface="Inter"/>
              </a:rPr>
              <a:t>LTPDesign</a:t>
            </a:r>
            <a:r>
              <a:rPr lang="en" sz="1200">
                <a:latin typeface="Inter"/>
                <a:ea typeface="Inter"/>
              </a:rPr>
              <a:t> (Program Design)</a:t>
            </a:r>
          </a:p>
          <a:p>
            <a:pPr marL="228600" indent="-228600">
              <a:lnSpc>
                <a:spcPct val="114999"/>
              </a:lnSpc>
              <a:buAutoNum type="arabicPeriod"/>
            </a:pPr>
            <a:r>
              <a:rPr lang="en" sz="1200">
                <a:latin typeface="Inter"/>
                <a:ea typeface="Inter"/>
              </a:rPr>
              <a:t>Global stability checks – not sure how to handle this – need more detail</a:t>
            </a:r>
          </a:p>
          <a:p>
            <a:pPr marL="228600" indent="-228600">
              <a:lnSpc>
                <a:spcPct val="114999"/>
              </a:lnSpc>
              <a:buAutoNum type="arabicPeriod"/>
            </a:pPr>
            <a:r>
              <a:rPr lang="en" sz="1200">
                <a:latin typeface="Inter"/>
                <a:ea typeface="Inter"/>
              </a:rPr>
              <a:t>Drawings can be passed as </a:t>
            </a:r>
            <a:r>
              <a:rPr lang="en" sz="1200" err="1">
                <a:latin typeface="Inter"/>
                <a:ea typeface="Inter"/>
              </a:rPr>
              <a:t>AssociatedFiles</a:t>
            </a:r>
            <a:endParaRPr lang="en" sz="1200">
              <a:latin typeface="Inter"/>
              <a:ea typeface="Inter"/>
            </a:endParaRPr>
          </a:p>
          <a:p>
            <a:pPr marL="228600" indent="-228600">
              <a:lnSpc>
                <a:spcPct val="114999"/>
              </a:lnSpc>
              <a:buAutoNum type="arabicPeriod"/>
            </a:pPr>
            <a:endParaRPr lang="en" sz="1200">
              <a:latin typeface="Inter"/>
              <a:ea typeface="Inter"/>
            </a:endParaRPr>
          </a:p>
          <a:p>
            <a:pPr marL="0" indent="0">
              <a:spcAft>
                <a:spcPts val="1200"/>
              </a:spcAft>
              <a:buNone/>
            </a:pPr>
            <a:endParaRPr lang="en-US">
              <a:latin typeface="Inter"/>
              <a:ea typeface="Inter"/>
              <a:cs typeface="Inter"/>
            </a:endParaRPr>
          </a:p>
        </p:txBody>
      </p:sp>
      <p:sp>
        <p:nvSpPr>
          <p:cNvPr id="130" name="Google Shape;130;p20"/>
          <p:cNvSpPr txBox="1">
            <a:spLocks noGrp="1"/>
          </p:cNvSpPr>
          <p:nvPr>
            <p:ph type="title"/>
          </p:nvPr>
        </p:nvSpPr>
        <p:spPr>
          <a:xfrm>
            <a:off x="7077300" y="132275"/>
            <a:ext cx="1795200" cy="486600"/>
          </a:xfrm>
          <a:prstGeom prst="rect">
            <a:avLst/>
          </a:prstGeom>
          <a:solidFill>
            <a:schemeClr val="accent6"/>
          </a:solidFill>
        </p:spPr>
        <p:txBody>
          <a:bodyPr spcFirstLastPara="1" wrap="square" lIns="91425" tIns="91425" rIns="91425" bIns="91425" anchor="t" anchorCtr="0">
            <a:noAutofit/>
          </a:bodyPr>
          <a:lstStyle/>
          <a:p>
            <a:pPr marL="0" marR="0" lvl="0" indent="0" algn="ctr" rtl="0">
              <a:lnSpc>
                <a:spcPct val="100000"/>
              </a:lnSpc>
              <a:spcBef>
                <a:spcPts val="0"/>
              </a:spcBef>
              <a:spcAft>
                <a:spcPts val="0"/>
              </a:spcAft>
              <a:buSzPts val="990"/>
              <a:buNone/>
            </a:pPr>
            <a:r>
              <a:rPr lang="en" sz="1720">
                <a:latin typeface="Manrope"/>
                <a:ea typeface="Manrope"/>
                <a:cs typeface="Manrope"/>
                <a:sym typeface="Manrope"/>
              </a:rPr>
              <a:t>Pre-Installation</a:t>
            </a:r>
            <a:endParaRPr sz="1720">
              <a:latin typeface="Manrope"/>
              <a:ea typeface="Manrope"/>
              <a:cs typeface="Manrope"/>
              <a:sym typeface="Manrope"/>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2"/>
          <p:cNvSpPr txBox="1">
            <a:spLocks noGrp="1"/>
          </p:cNvSpPr>
          <p:nvPr>
            <p:ph type="title"/>
          </p:nvPr>
        </p:nvSpPr>
        <p:spPr>
          <a:xfrm>
            <a:off x="201800" y="132275"/>
            <a:ext cx="7051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800" b="1">
                <a:latin typeface="Manrope"/>
                <a:ea typeface="Manrope"/>
                <a:cs typeface="Manrope"/>
                <a:sym typeface="Manrope"/>
              </a:rPr>
              <a:t>Stage 8: Contractor Procurement and Method Statement Approval </a:t>
            </a:r>
            <a:endParaRPr sz="1800" b="1">
              <a:latin typeface="Manrope"/>
              <a:ea typeface="Manrope"/>
              <a:cs typeface="Manrope"/>
              <a:sym typeface="Manrope"/>
            </a:endParaRPr>
          </a:p>
        </p:txBody>
      </p:sp>
      <p:sp>
        <p:nvSpPr>
          <p:cNvPr id="147" name="Google Shape;147;p22"/>
          <p:cNvSpPr txBox="1">
            <a:spLocks noGrp="1"/>
          </p:cNvSpPr>
          <p:nvPr>
            <p:ph type="body" idx="1"/>
          </p:nvPr>
        </p:nvSpPr>
        <p:spPr>
          <a:xfrm>
            <a:off x="201800" y="775863"/>
            <a:ext cx="8280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000">
                <a:solidFill>
                  <a:schemeClr val="dk1"/>
                </a:solidFill>
                <a:latin typeface="Inter"/>
                <a:ea typeface="Inter"/>
                <a:cs typeface="Inter"/>
                <a:sym typeface="Inter"/>
              </a:rPr>
              <a:t>Select the specialty contractor and lock down the construction methodology and QA/QC plan.</a:t>
            </a:r>
            <a:endParaRPr sz="1000">
              <a:solidFill>
                <a:schemeClr val="dk1"/>
              </a:solidFill>
              <a:latin typeface="Inter"/>
              <a:ea typeface="Inter"/>
              <a:cs typeface="Inter"/>
              <a:sym typeface="Inter"/>
            </a:endParaRPr>
          </a:p>
        </p:txBody>
      </p:sp>
      <p:sp>
        <p:nvSpPr>
          <p:cNvPr id="148" name="Google Shape;148;p22"/>
          <p:cNvSpPr/>
          <p:nvPr/>
        </p:nvSpPr>
        <p:spPr>
          <a:xfrm rot="-5400000">
            <a:off x="5129125" y="608800"/>
            <a:ext cx="3455700" cy="4574100"/>
          </a:xfrm>
          <a:prstGeom prst="round1Rect">
            <a:avLst>
              <a:gd name="adj" fmla="val 8032"/>
            </a:avLst>
          </a:prstGeom>
          <a:solidFill>
            <a:schemeClr val="lt2"/>
          </a:solidFill>
          <a:ln>
            <a:noFill/>
          </a:ln>
          <a:effectLst>
            <a:outerShdw blurRad="171450" dist="114300" dir="13440000" algn="bl" rotWithShape="0">
              <a:schemeClr val="dk1">
                <a:alpha val="392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Nunito Light"/>
              <a:ea typeface="Nunito Light"/>
              <a:cs typeface="Nunito Light"/>
              <a:sym typeface="Nunito Light"/>
            </a:endParaRPr>
          </a:p>
        </p:txBody>
      </p:sp>
      <p:sp>
        <p:nvSpPr>
          <p:cNvPr id="149" name="Google Shape;149;p22"/>
          <p:cNvSpPr txBox="1">
            <a:spLocks noGrp="1"/>
          </p:cNvSpPr>
          <p:nvPr>
            <p:ph type="body" idx="1"/>
          </p:nvPr>
        </p:nvSpPr>
        <p:spPr>
          <a:xfrm>
            <a:off x="5037275" y="1419438"/>
            <a:ext cx="35607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2000">
                <a:solidFill>
                  <a:schemeClr val="dk1"/>
                </a:solidFill>
                <a:latin typeface="Inter"/>
                <a:ea typeface="Inter"/>
                <a:cs typeface="Inter"/>
                <a:sym typeface="Inter"/>
              </a:rPr>
              <a:t>DIGGS - </a:t>
            </a:r>
            <a:r>
              <a:rPr lang="en" sz="2000">
                <a:solidFill>
                  <a:srgbClr val="CC4125"/>
                </a:solidFill>
                <a:latin typeface="Inter"/>
                <a:ea typeface="Inter"/>
                <a:cs typeface="Inter"/>
                <a:sym typeface="Inter"/>
              </a:rPr>
              <a:t>Feature</a:t>
            </a:r>
            <a:endParaRPr sz="2000">
              <a:solidFill>
                <a:srgbClr val="CC4125"/>
              </a:solidFill>
              <a:latin typeface="Inter"/>
              <a:ea typeface="Inter"/>
              <a:cs typeface="Inter"/>
              <a:sym typeface="Inter"/>
            </a:endParaRPr>
          </a:p>
        </p:txBody>
      </p:sp>
      <p:sp>
        <p:nvSpPr>
          <p:cNvPr id="150" name="Google Shape;150;p22"/>
          <p:cNvSpPr txBox="1">
            <a:spLocks noGrp="1"/>
          </p:cNvSpPr>
          <p:nvPr>
            <p:ph type="body" idx="1"/>
          </p:nvPr>
        </p:nvSpPr>
        <p:spPr>
          <a:xfrm>
            <a:off x="201800" y="1328550"/>
            <a:ext cx="4356600" cy="3195900"/>
          </a:xfrm>
          <a:prstGeom prst="rect">
            <a:avLst/>
          </a:prstGeom>
        </p:spPr>
        <p:txBody>
          <a:bodyPr spcFirstLastPara="1" wrap="square" lIns="91425" tIns="91425" rIns="91425" bIns="91425" anchor="t" anchorCtr="0">
            <a:noAutofit/>
          </a:bodyPr>
          <a:lstStyle/>
          <a:p>
            <a:pPr marL="0" lvl="0" indent="0" algn="l" rtl="0">
              <a:lnSpc>
                <a:spcPct val="105000"/>
              </a:lnSpc>
              <a:spcBef>
                <a:spcPts val="1200"/>
              </a:spcBef>
              <a:spcAft>
                <a:spcPts val="0"/>
              </a:spcAft>
              <a:buSzPts val="1018"/>
              <a:buNone/>
            </a:pPr>
            <a:r>
              <a:rPr lang="en" sz="1117" b="1">
                <a:solidFill>
                  <a:schemeClr val="dk1"/>
                </a:solidFill>
                <a:latin typeface="Inter"/>
                <a:ea typeface="Inter"/>
                <a:cs typeface="Inter"/>
                <a:sym typeface="Inter"/>
              </a:rPr>
              <a:t>Report at end of stage (key parameters):</a:t>
            </a:r>
            <a:endParaRPr sz="1117" b="1">
              <a:solidFill>
                <a:schemeClr val="dk1"/>
              </a:solidFill>
              <a:latin typeface="Inter"/>
              <a:ea typeface="Inter"/>
              <a:cs typeface="Inter"/>
              <a:sym typeface="Inter"/>
            </a:endParaRPr>
          </a:p>
          <a:p>
            <a:pPr marL="457200" lvl="0" indent="-299561" algn="l" rtl="0">
              <a:lnSpc>
                <a:spcPct val="105000"/>
              </a:lnSpc>
              <a:spcBef>
                <a:spcPts val="1200"/>
              </a:spcBef>
              <a:spcAft>
                <a:spcPts val="0"/>
              </a:spcAft>
              <a:buClr>
                <a:schemeClr val="dk1"/>
              </a:buClr>
              <a:buSzPts val="1118"/>
              <a:buFont typeface="Inter"/>
              <a:buChar char="●"/>
            </a:pPr>
            <a:r>
              <a:rPr lang="en" sz="1117">
                <a:solidFill>
                  <a:schemeClr val="dk1"/>
                </a:solidFill>
                <a:latin typeface="Inter"/>
                <a:ea typeface="Inter"/>
                <a:cs typeface="Inter"/>
                <a:sym typeface="Inter"/>
              </a:rPr>
              <a:t>Contractor qualifications and relevant RI/CMC experience</a:t>
            </a:r>
            <a:br>
              <a:rPr lang="en" sz="1117">
                <a:solidFill>
                  <a:schemeClr val="dk1"/>
                </a:solidFill>
                <a:latin typeface="Inter"/>
                <a:ea typeface="Inter"/>
                <a:cs typeface="Inter"/>
                <a:sym typeface="Inter"/>
              </a:rPr>
            </a:br>
            <a:endParaRPr sz="1117">
              <a:solidFill>
                <a:schemeClr val="dk1"/>
              </a:solidFill>
              <a:latin typeface="Inter"/>
              <a:ea typeface="Inter"/>
              <a:cs typeface="Inter"/>
              <a:sym typeface="Inter"/>
            </a:endParaRPr>
          </a:p>
          <a:p>
            <a:pPr marL="457200" lvl="0" indent="-299561" algn="l" rtl="0">
              <a:lnSpc>
                <a:spcPct val="105000"/>
              </a:lnSpc>
              <a:spcBef>
                <a:spcPts val="0"/>
              </a:spcBef>
              <a:spcAft>
                <a:spcPts val="0"/>
              </a:spcAft>
              <a:buClr>
                <a:schemeClr val="dk1"/>
              </a:buClr>
              <a:buSzPts val="1118"/>
              <a:buFont typeface="Inter"/>
              <a:buChar char="●"/>
            </a:pPr>
            <a:r>
              <a:rPr lang="en" sz="1117">
                <a:solidFill>
                  <a:schemeClr val="dk1"/>
                </a:solidFill>
                <a:latin typeface="Inter"/>
                <a:ea typeface="Inter"/>
                <a:cs typeface="Inter"/>
                <a:sym typeface="Inter"/>
              </a:rPr>
              <a:t>Equipment/method: displacement vs partial displacement; grout/concrete system; monitoring system</a:t>
            </a:r>
            <a:br>
              <a:rPr lang="en" sz="1117">
                <a:solidFill>
                  <a:schemeClr val="dk1"/>
                </a:solidFill>
                <a:latin typeface="Inter"/>
                <a:ea typeface="Inter"/>
                <a:cs typeface="Inter"/>
                <a:sym typeface="Inter"/>
              </a:rPr>
            </a:br>
            <a:endParaRPr sz="1117">
              <a:solidFill>
                <a:schemeClr val="dk1"/>
              </a:solidFill>
              <a:latin typeface="Inter"/>
              <a:ea typeface="Inter"/>
              <a:cs typeface="Inter"/>
              <a:sym typeface="Inter"/>
            </a:endParaRPr>
          </a:p>
          <a:p>
            <a:pPr marL="457200" lvl="0" indent="-299561" algn="l" rtl="0">
              <a:lnSpc>
                <a:spcPct val="105000"/>
              </a:lnSpc>
              <a:spcBef>
                <a:spcPts val="0"/>
              </a:spcBef>
              <a:spcAft>
                <a:spcPts val="0"/>
              </a:spcAft>
              <a:buClr>
                <a:schemeClr val="dk1"/>
              </a:buClr>
              <a:buSzPts val="1118"/>
              <a:buFont typeface="Inter"/>
              <a:buChar char="●"/>
            </a:pPr>
            <a:r>
              <a:rPr lang="en" sz="1117">
                <a:solidFill>
                  <a:schemeClr val="dk1"/>
                </a:solidFill>
                <a:latin typeface="Inter"/>
                <a:ea typeface="Inter"/>
                <a:cs typeface="Inter"/>
                <a:sym typeface="Inter"/>
              </a:rPr>
              <a:t>Proposed grout/mortar mix design and supply plan</a:t>
            </a:r>
            <a:br>
              <a:rPr lang="en" sz="1117">
                <a:solidFill>
                  <a:schemeClr val="dk1"/>
                </a:solidFill>
                <a:latin typeface="Inter"/>
                <a:ea typeface="Inter"/>
                <a:cs typeface="Inter"/>
                <a:sym typeface="Inter"/>
              </a:rPr>
            </a:br>
            <a:endParaRPr sz="1117">
              <a:solidFill>
                <a:schemeClr val="dk1"/>
              </a:solidFill>
              <a:latin typeface="Inter"/>
              <a:ea typeface="Inter"/>
              <a:cs typeface="Inter"/>
              <a:sym typeface="Inter"/>
            </a:endParaRPr>
          </a:p>
          <a:p>
            <a:pPr marL="457200" lvl="0" indent="-299561" algn="l" rtl="0">
              <a:lnSpc>
                <a:spcPct val="105000"/>
              </a:lnSpc>
              <a:spcBef>
                <a:spcPts val="0"/>
              </a:spcBef>
              <a:spcAft>
                <a:spcPts val="0"/>
              </a:spcAft>
              <a:buClr>
                <a:schemeClr val="dk1"/>
              </a:buClr>
              <a:buSzPts val="1118"/>
              <a:buFont typeface="Inter"/>
              <a:buChar char="●"/>
            </a:pPr>
            <a:r>
              <a:rPr lang="en" sz="1117">
                <a:solidFill>
                  <a:schemeClr val="dk1"/>
                </a:solidFill>
                <a:latin typeface="Inter"/>
                <a:ea typeface="Inter"/>
                <a:cs typeface="Inter"/>
                <a:sym typeface="Inter"/>
              </a:rPr>
              <a:t>Inspection &amp; Test Plan (ITP): hold points, records, nonconformance process</a:t>
            </a:r>
            <a:br>
              <a:rPr lang="en" sz="1117">
                <a:solidFill>
                  <a:schemeClr val="dk1"/>
                </a:solidFill>
                <a:latin typeface="Inter"/>
                <a:ea typeface="Inter"/>
                <a:cs typeface="Inter"/>
                <a:sym typeface="Inter"/>
              </a:rPr>
            </a:br>
            <a:endParaRPr sz="1117">
              <a:solidFill>
                <a:schemeClr val="dk1"/>
              </a:solidFill>
              <a:latin typeface="Inter"/>
              <a:ea typeface="Inter"/>
              <a:cs typeface="Inter"/>
              <a:sym typeface="Inter"/>
            </a:endParaRPr>
          </a:p>
          <a:p>
            <a:pPr marL="457200" lvl="0" indent="-299561" algn="l" rtl="0">
              <a:lnSpc>
                <a:spcPct val="105000"/>
              </a:lnSpc>
              <a:spcBef>
                <a:spcPts val="0"/>
              </a:spcBef>
              <a:spcAft>
                <a:spcPts val="0"/>
              </a:spcAft>
              <a:buClr>
                <a:schemeClr val="dk1"/>
              </a:buClr>
              <a:buSzPts val="1118"/>
              <a:buFont typeface="Inter"/>
              <a:buChar char="●"/>
            </a:pPr>
            <a:r>
              <a:rPr lang="en" sz="1117">
                <a:solidFill>
                  <a:schemeClr val="dk1"/>
                </a:solidFill>
                <a:latin typeface="Inter"/>
                <a:ea typeface="Inter"/>
                <a:cs typeface="Inter"/>
                <a:sym typeface="Inter"/>
              </a:rPr>
              <a:t>Trial section plan and verification testing plan</a:t>
            </a:r>
            <a:br>
              <a:rPr lang="en" sz="1117">
                <a:solidFill>
                  <a:schemeClr val="dk1"/>
                </a:solidFill>
                <a:latin typeface="Inter"/>
                <a:ea typeface="Inter"/>
                <a:cs typeface="Inter"/>
                <a:sym typeface="Inter"/>
              </a:rPr>
            </a:br>
            <a:endParaRPr sz="1117">
              <a:solidFill>
                <a:schemeClr val="dk1"/>
              </a:solidFill>
              <a:latin typeface="Inter"/>
              <a:ea typeface="Inter"/>
              <a:cs typeface="Inter"/>
              <a:sym typeface="Inter"/>
            </a:endParaRPr>
          </a:p>
          <a:p>
            <a:pPr marL="457200" lvl="0" indent="-299561" algn="l" rtl="0">
              <a:lnSpc>
                <a:spcPct val="105000"/>
              </a:lnSpc>
              <a:spcBef>
                <a:spcPts val="0"/>
              </a:spcBef>
              <a:spcAft>
                <a:spcPts val="0"/>
              </a:spcAft>
              <a:buClr>
                <a:schemeClr val="dk1"/>
              </a:buClr>
              <a:buSzPts val="1118"/>
              <a:buFont typeface="Inter"/>
              <a:buChar char="●"/>
            </a:pPr>
            <a:r>
              <a:rPr lang="en" sz="1117">
                <a:solidFill>
                  <a:schemeClr val="dk1"/>
                </a:solidFill>
                <a:latin typeface="Inter"/>
                <a:ea typeface="Inter"/>
                <a:cs typeface="Inter"/>
                <a:sym typeface="Inter"/>
              </a:rPr>
              <a:t>Proposed production rate and sequencing plan</a:t>
            </a:r>
            <a:endParaRPr sz="1117">
              <a:solidFill>
                <a:schemeClr val="dk1"/>
              </a:solidFill>
              <a:latin typeface="Inter"/>
              <a:ea typeface="Inter"/>
              <a:cs typeface="Inter"/>
              <a:sym typeface="Inter"/>
            </a:endParaRPr>
          </a:p>
          <a:p>
            <a:pPr marL="0" lvl="0" indent="0" algn="l" rtl="0">
              <a:lnSpc>
                <a:spcPct val="105000"/>
              </a:lnSpc>
              <a:spcBef>
                <a:spcPts val="1200"/>
              </a:spcBef>
              <a:spcAft>
                <a:spcPts val="1200"/>
              </a:spcAft>
              <a:buSzPts val="1018"/>
              <a:buNone/>
            </a:pPr>
            <a:endParaRPr sz="1765">
              <a:latin typeface="Inter"/>
              <a:ea typeface="Inter"/>
              <a:cs typeface="Inter"/>
              <a:sym typeface="Inter"/>
            </a:endParaRPr>
          </a:p>
        </p:txBody>
      </p:sp>
      <p:sp>
        <p:nvSpPr>
          <p:cNvPr id="151" name="Google Shape;151;p22"/>
          <p:cNvSpPr txBox="1">
            <a:spLocks noGrp="1"/>
          </p:cNvSpPr>
          <p:nvPr>
            <p:ph type="body" idx="1"/>
          </p:nvPr>
        </p:nvSpPr>
        <p:spPr>
          <a:xfrm>
            <a:off x="5037275" y="1880463"/>
            <a:ext cx="4356600" cy="2485026"/>
          </a:xfrm>
          <a:prstGeom prst="rect">
            <a:avLst/>
          </a:prstGeom>
        </p:spPr>
        <p:txBody>
          <a:bodyPr spcFirstLastPara="1" wrap="square" lIns="91425" tIns="91425" rIns="91425" bIns="91425" anchor="t" anchorCtr="0">
            <a:normAutofit/>
          </a:bodyPr>
          <a:lstStyle/>
          <a:p>
            <a:pPr marL="0" indent="0">
              <a:lnSpc>
                <a:spcPct val="114999"/>
              </a:lnSpc>
              <a:buNone/>
            </a:pPr>
            <a:r>
              <a:rPr lang="en" sz="1200">
                <a:latin typeface="Inter"/>
                <a:ea typeface="Inter"/>
                <a:sym typeface="Inter"/>
              </a:rPr>
              <a:t>Not sure how this fits into current structure. </a:t>
            </a:r>
            <a:endParaRPr lang="en-US" sz="1200"/>
          </a:p>
          <a:p>
            <a:pPr marL="0" lvl="0" indent="0" algn="l">
              <a:lnSpc>
                <a:spcPct val="114999"/>
              </a:lnSpc>
              <a:spcBef>
                <a:spcPts val="0"/>
              </a:spcBef>
              <a:buNone/>
            </a:pPr>
            <a:endParaRPr lang="en" sz="1200">
              <a:latin typeface="Inter"/>
              <a:ea typeface="Inter"/>
            </a:endParaRPr>
          </a:p>
          <a:p>
            <a:pPr marL="0" indent="0">
              <a:lnSpc>
                <a:spcPct val="114999"/>
              </a:lnSpc>
              <a:buNone/>
            </a:pPr>
            <a:r>
              <a:rPr lang="en" sz="1200">
                <a:latin typeface="Inter"/>
                <a:ea typeface="Inter"/>
              </a:rPr>
              <a:t>Seems like possible addendum to the Contract section of the Project object. Perhaps most of these items would be spelled out as part of the Contract between Contractor and Client – if so, we can consider modifying existing Contract object, or</a:t>
            </a:r>
          </a:p>
          <a:p>
            <a:pPr marL="171450" indent="-171450">
              <a:lnSpc>
                <a:spcPct val="114999"/>
              </a:lnSpc>
              <a:buFont typeface="Calibri"/>
              <a:buChar char="-"/>
            </a:pPr>
            <a:r>
              <a:rPr lang="en" sz="1200">
                <a:latin typeface="Inter"/>
                <a:ea typeface="Inter"/>
              </a:rPr>
              <a:t>Maybe best handled by </a:t>
            </a:r>
            <a:r>
              <a:rPr lang="en" sz="1200" err="1">
                <a:latin typeface="Inter"/>
                <a:ea typeface="Inter"/>
              </a:rPr>
              <a:t>AssociatedFile</a:t>
            </a:r>
            <a:r>
              <a:rPr lang="en" sz="1200">
                <a:latin typeface="Inter"/>
                <a:ea typeface="Inter"/>
              </a:rPr>
              <a:t> or do we need </a:t>
            </a:r>
            <a:r>
              <a:rPr lang="en" sz="1200" err="1">
                <a:latin typeface="Inter"/>
                <a:ea typeface="Inter"/>
              </a:rPr>
              <a:t>machin</a:t>
            </a:r>
            <a:r>
              <a:rPr lang="en" sz="1200">
                <a:latin typeface="Inter"/>
                <a:ea typeface="Inter"/>
              </a:rPr>
              <a:t>e readable metadata on this?</a:t>
            </a:r>
          </a:p>
          <a:p>
            <a:pPr marL="0" indent="0">
              <a:spcAft>
                <a:spcPts val="1200"/>
              </a:spcAft>
              <a:buNone/>
            </a:pPr>
            <a:endParaRPr lang="en-US">
              <a:latin typeface="Inter"/>
              <a:ea typeface="Inter"/>
              <a:cs typeface="Inter"/>
            </a:endParaRPr>
          </a:p>
        </p:txBody>
      </p:sp>
      <p:sp>
        <p:nvSpPr>
          <p:cNvPr id="152" name="Google Shape;152;p22"/>
          <p:cNvSpPr txBox="1">
            <a:spLocks noGrp="1"/>
          </p:cNvSpPr>
          <p:nvPr>
            <p:ph type="title"/>
          </p:nvPr>
        </p:nvSpPr>
        <p:spPr>
          <a:xfrm>
            <a:off x="7077300" y="132275"/>
            <a:ext cx="1795200" cy="486600"/>
          </a:xfrm>
          <a:prstGeom prst="rect">
            <a:avLst/>
          </a:prstGeom>
          <a:solidFill>
            <a:schemeClr val="accent6"/>
          </a:solidFill>
        </p:spPr>
        <p:txBody>
          <a:bodyPr spcFirstLastPara="1" wrap="square" lIns="91425" tIns="91425" rIns="91425" bIns="91425" anchor="t" anchorCtr="0">
            <a:noAutofit/>
          </a:bodyPr>
          <a:lstStyle/>
          <a:p>
            <a:pPr marL="0" marR="0" lvl="0" indent="0" algn="ctr" rtl="0">
              <a:lnSpc>
                <a:spcPct val="100000"/>
              </a:lnSpc>
              <a:spcBef>
                <a:spcPts val="0"/>
              </a:spcBef>
              <a:spcAft>
                <a:spcPts val="0"/>
              </a:spcAft>
              <a:buSzPts val="990"/>
              <a:buNone/>
            </a:pPr>
            <a:r>
              <a:rPr lang="en" sz="1720">
                <a:latin typeface="Manrope"/>
                <a:ea typeface="Manrope"/>
                <a:cs typeface="Manrope"/>
                <a:sym typeface="Manrope"/>
              </a:rPr>
              <a:t>Pre-Installation</a:t>
            </a:r>
            <a:endParaRPr sz="1720">
              <a:latin typeface="Manrope"/>
              <a:ea typeface="Manrope"/>
              <a:cs typeface="Manrope"/>
              <a:sym typeface="Manrope"/>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3"/>
          <p:cNvSpPr txBox="1">
            <a:spLocks noGrp="1"/>
          </p:cNvSpPr>
          <p:nvPr>
            <p:ph type="ctrTitle"/>
          </p:nvPr>
        </p:nvSpPr>
        <p:spPr>
          <a:xfrm>
            <a:off x="-24" y="1062075"/>
            <a:ext cx="9144000" cy="2052600"/>
          </a:xfrm>
          <a:prstGeom prst="rect">
            <a:avLst/>
          </a:prstGeom>
          <a:solidFill>
            <a:srgbClr val="B6D7A8"/>
          </a:solidFill>
        </p:spPr>
        <p:txBody>
          <a:bodyPr spcFirstLastPara="1" wrap="square" lIns="91425" tIns="91425" rIns="91425" bIns="91425" anchor="b" anchorCtr="0">
            <a:normAutofit/>
          </a:bodyPr>
          <a:lstStyle/>
          <a:p>
            <a:pPr marL="457200" lvl="0" indent="0" algn="ctr" rtl="0">
              <a:spcBef>
                <a:spcPts val="0"/>
              </a:spcBef>
              <a:spcAft>
                <a:spcPts val="0"/>
              </a:spcAft>
              <a:buNone/>
            </a:pPr>
            <a:r>
              <a:rPr lang="en" sz="1720">
                <a:solidFill>
                  <a:srgbClr val="000000"/>
                </a:solidFill>
                <a:latin typeface="Manrope"/>
                <a:ea typeface="Manrope"/>
                <a:cs typeface="Manrope"/>
                <a:sym typeface="Manrope"/>
              </a:rPr>
              <a:t>B. Installation Phase  </a:t>
            </a:r>
            <a:endParaRPr sz="1720">
              <a:solidFill>
                <a:srgbClr val="000000"/>
              </a:solidFill>
              <a:latin typeface="Manrope"/>
              <a:ea typeface="Manrope"/>
              <a:cs typeface="Manrope"/>
              <a:sym typeface="Manrope"/>
            </a:endParaRPr>
          </a:p>
          <a:p>
            <a:pPr marL="0" lvl="0" indent="0" algn="ctr" rtl="0">
              <a:spcBef>
                <a:spcPts val="0"/>
              </a:spcBef>
              <a:spcAft>
                <a:spcPts val="0"/>
              </a:spcAft>
              <a:buNone/>
            </a:pPr>
            <a:endParaRPr/>
          </a:p>
        </p:txBody>
      </p:sp>
      <p:pic>
        <p:nvPicPr>
          <p:cNvPr id="158" name="Google Shape;158;p23"/>
          <p:cNvPicPr preferRelativeResize="0"/>
          <p:nvPr/>
        </p:nvPicPr>
        <p:blipFill rotWithShape="1">
          <a:blip r:embed="rId3">
            <a:alphaModFix/>
          </a:blip>
          <a:srcRect r="44781" b="69849"/>
          <a:stretch/>
        </p:blipFill>
        <p:spPr>
          <a:xfrm>
            <a:off x="2777938" y="3686400"/>
            <a:ext cx="2323225" cy="655924"/>
          </a:xfrm>
          <a:prstGeom prst="rect">
            <a:avLst/>
          </a:prstGeom>
          <a:noFill/>
          <a:ln>
            <a:noFill/>
          </a:ln>
        </p:spPr>
      </p:pic>
      <p:pic>
        <p:nvPicPr>
          <p:cNvPr id="159" name="Google Shape;159;p23"/>
          <p:cNvPicPr preferRelativeResize="0"/>
          <p:nvPr/>
        </p:nvPicPr>
        <p:blipFill>
          <a:blip r:embed="rId4">
            <a:alphaModFix/>
          </a:blip>
          <a:stretch>
            <a:fillRect/>
          </a:stretch>
        </p:blipFill>
        <p:spPr>
          <a:xfrm>
            <a:off x="5220637" y="3441637"/>
            <a:ext cx="1145425" cy="11454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4"/>
          <p:cNvSpPr txBox="1">
            <a:spLocks noGrp="1"/>
          </p:cNvSpPr>
          <p:nvPr>
            <p:ph type="title"/>
          </p:nvPr>
        </p:nvSpPr>
        <p:spPr>
          <a:xfrm>
            <a:off x="201800" y="132275"/>
            <a:ext cx="7051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800" b="1">
                <a:latin typeface="Manrope"/>
                <a:ea typeface="Manrope"/>
                <a:cs typeface="Manrope"/>
                <a:sym typeface="Manrope"/>
              </a:rPr>
              <a:t>Stage 9: Pre-Construction Site Preparation and Controls</a:t>
            </a:r>
            <a:endParaRPr sz="1800" b="1">
              <a:latin typeface="Manrope"/>
              <a:ea typeface="Manrope"/>
              <a:cs typeface="Manrope"/>
              <a:sym typeface="Manrope"/>
            </a:endParaRPr>
          </a:p>
        </p:txBody>
      </p:sp>
      <p:sp>
        <p:nvSpPr>
          <p:cNvPr id="165" name="Google Shape;165;p24"/>
          <p:cNvSpPr txBox="1">
            <a:spLocks noGrp="1"/>
          </p:cNvSpPr>
          <p:nvPr>
            <p:ph type="body" idx="1"/>
          </p:nvPr>
        </p:nvSpPr>
        <p:spPr>
          <a:xfrm>
            <a:off x="201800" y="775863"/>
            <a:ext cx="8280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000">
                <a:solidFill>
                  <a:schemeClr val="dk1"/>
                </a:solidFill>
                <a:latin typeface="Inter"/>
                <a:ea typeface="Inter"/>
                <a:cs typeface="Inter"/>
                <a:sym typeface="Inter"/>
              </a:rPr>
              <a:t>Prepare the site so the rig can work safely and consistently, and so columns go in the correct locations.</a:t>
            </a:r>
            <a:endParaRPr sz="1000">
              <a:solidFill>
                <a:schemeClr val="dk1"/>
              </a:solidFill>
              <a:latin typeface="Inter"/>
              <a:ea typeface="Inter"/>
              <a:cs typeface="Inter"/>
              <a:sym typeface="Inter"/>
            </a:endParaRPr>
          </a:p>
        </p:txBody>
      </p:sp>
      <p:sp>
        <p:nvSpPr>
          <p:cNvPr id="166" name="Google Shape;166;p24"/>
          <p:cNvSpPr/>
          <p:nvPr/>
        </p:nvSpPr>
        <p:spPr>
          <a:xfrm rot="-5400000">
            <a:off x="5129125" y="608800"/>
            <a:ext cx="3455700" cy="4574100"/>
          </a:xfrm>
          <a:prstGeom prst="round1Rect">
            <a:avLst>
              <a:gd name="adj" fmla="val 8032"/>
            </a:avLst>
          </a:prstGeom>
          <a:solidFill>
            <a:schemeClr val="lt2"/>
          </a:solidFill>
          <a:ln>
            <a:noFill/>
          </a:ln>
          <a:effectLst>
            <a:outerShdw blurRad="171450" dist="114300" dir="13440000" algn="bl" rotWithShape="0">
              <a:schemeClr val="dk1">
                <a:alpha val="392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Nunito Light"/>
              <a:ea typeface="Nunito Light"/>
              <a:cs typeface="Nunito Light"/>
              <a:sym typeface="Nunito Light"/>
            </a:endParaRPr>
          </a:p>
        </p:txBody>
      </p:sp>
      <p:sp>
        <p:nvSpPr>
          <p:cNvPr id="167" name="Google Shape;167;p24"/>
          <p:cNvSpPr txBox="1">
            <a:spLocks noGrp="1"/>
          </p:cNvSpPr>
          <p:nvPr>
            <p:ph type="body" idx="1"/>
          </p:nvPr>
        </p:nvSpPr>
        <p:spPr>
          <a:xfrm>
            <a:off x="5037275" y="1419438"/>
            <a:ext cx="35607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2000">
                <a:solidFill>
                  <a:schemeClr val="dk1"/>
                </a:solidFill>
                <a:latin typeface="Inter"/>
                <a:ea typeface="Inter"/>
                <a:cs typeface="Inter"/>
                <a:sym typeface="Inter"/>
              </a:rPr>
              <a:t>DIGGS - </a:t>
            </a:r>
            <a:r>
              <a:rPr lang="en" sz="2000">
                <a:solidFill>
                  <a:srgbClr val="CC4125"/>
                </a:solidFill>
                <a:latin typeface="Inter"/>
                <a:ea typeface="Inter"/>
                <a:cs typeface="Inter"/>
                <a:sym typeface="Inter"/>
              </a:rPr>
              <a:t>Feature</a:t>
            </a:r>
            <a:endParaRPr sz="2000">
              <a:solidFill>
                <a:srgbClr val="CC4125"/>
              </a:solidFill>
              <a:latin typeface="Inter"/>
              <a:ea typeface="Inter"/>
              <a:cs typeface="Inter"/>
              <a:sym typeface="Inter"/>
            </a:endParaRPr>
          </a:p>
        </p:txBody>
      </p:sp>
      <p:sp>
        <p:nvSpPr>
          <p:cNvPr id="168" name="Google Shape;168;p24"/>
          <p:cNvSpPr txBox="1">
            <a:spLocks noGrp="1"/>
          </p:cNvSpPr>
          <p:nvPr>
            <p:ph type="body" idx="1"/>
          </p:nvPr>
        </p:nvSpPr>
        <p:spPr>
          <a:xfrm>
            <a:off x="201800" y="1328550"/>
            <a:ext cx="4356600" cy="3195900"/>
          </a:xfrm>
          <a:prstGeom prst="rect">
            <a:avLst/>
          </a:prstGeom>
        </p:spPr>
        <p:txBody>
          <a:bodyPr spcFirstLastPara="1" wrap="square" lIns="91425" tIns="91425" rIns="91425" bIns="91425" anchor="t" anchorCtr="0">
            <a:noAutofit/>
          </a:bodyPr>
          <a:lstStyle/>
          <a:p>
            <a:pPr marL="0" lvl="0" indent="0" algn="l" rtl="0">
              <a:lnSpc>
                <a:spcPct val="105000"/>
              </a:lnSpc>
              <a:spcBef>
                <a:spcPts val="1200"/>
              </a:spcBef>
              <a:spcAft>
                <a:spcPts val="0"/>
              </a:spcAft>
              <a:buSzPts val="1018"/>
              <a:buNone/>
            </a:pPr>
            <a:r>
              <a:rPr lang="en" sz="1117" b="1">
                <a:solidFill>
                  <a:schemeClr val="dk1"/>
                </a:solidFill>
                <a:latin typeface="Inter"/>
                <a:ea typeface="Inter"/>
                <a:cs typeface="Inter"/>
                <a:sym typeface="Inter"/>
              </a:rPr>
              <a:t>Report at end of stage (key parameters):</a:t>
            </a:r>
            <a:endParaRPr sz="1117" b="1">
              <a:solidFill>
                <a:schemeClr val="dk1"/>
              </a:solidFill>
              <a:latin typeface="Inter"/>
              <a:ea typeface="Inter"/>
              <a:cs typeface="Inter"/>
              <a:sym typeface="Inter"/>
            </a:endParaRPr>
          </a:p>
          <a:p>
            <a:pPr marL="457200" lvl="0" indent="-299561" algn="l" rtl="0">
              <a:lnSpc>
                <a:spcPct val="105000"/>
              </a:lnSpc>
              <a:spcBef>
                <a:spcPts val="1200"/>
              </a:spcBef>
              <a:spcAft>
                <a:spcPts val="0"/>
              </a:spcAft>
              <a:buClr>
                <a:schemeClr val="dk1"/>
              </a:buClr>
              <a:buSzPts val="1118"/>
              <a:buFont typeface="Inter"/>
              <a:buChar char="●"/>
            </a:pPr>
            <a:r>
              <a:rPr lang="en" sz="1117">
                <a:solidFill>
                  <a:schemeClr val="dk1"/>
                </a:solidFill>
                <a:latin typeface="Inter"/>
                <a:ea typeface="Inter"/>
                <a:cs typeface="Inter"/>
                <a:sym typeface="Inter"/>
              </a:rPr>
              <a:t>Working platform design and certification (bearing capacity, thickness, proof rolling)</a:t>
            </a:r>
            <a:br>
              <a:rPr lang="en" sz="1117">
                <a:solidFill>
                  <a:schemeClr val="dk1"/>
                </a:solidFill>
                <a:latin typeface="Inter"/>
                <a:ea typeface="Inter"/>
                <a:cs typeface="Inter"/>
                <a:sym typeface="Inter"/>
              </a:rPr>
            </a:br>
            <a:endParaRPr sz="1117">
              <a:solidFill>
                <a:schemeClr val="dk1"/>
              </a:solidFill>
              <a:latin typeface="Inter"/>
              <a:ea typeface="Inter"/>
              <a:cs typeface="Inter"/>
              <a:sym typeface="Inter"/>
            </a:endParaRPr>
          </a:p>
          <a:p>
            <a:pPr marL="457200" lvl="0" indent="-299561" algn="l" rtl="0">
              <a:lnSpc>
                <a:spcPct val="105000"/>
              </a:lnSpc>
              <a:spcBef>
                <a:spcPts val="0"/>
              </a:spcBef>
              <a:spcAft>
                <a:spcPts val="0"/>
              </a:spcAft>
              <a:buClr>
                <a:schemeClr val="dk1"/>
              </a:buClr>
              <a:buSzPts val="1118"/>
              <a:buFont typeface="Inter"/>
              <a:buChar char="●"/>
            </a:pPr>
            <a:r>
              <a:rPr lang="en" sz="1117">
                <a:solidFill>
                  <a:schemeClr val="dk1"/>
                </a:solidFill>
                <a:latin typeface="Inter"/>
                <a:ea typeface="Inter"/>
                <a:cs typeface="Inter"/>
                <a:sym typeface="Inter"/>
              </a:rPr>
              <a:t>Site grading, drainage, dewatering readiness (if needed)</a:t>
            </a:r>
            <a:br>
              <a:rPr lang="en" sz="1117">
                <a:solidFill>
                  <a:schemeClr val="dk1"/>
                </a:solidFill>
                <a:latin typeface="Inter"/>
                <a:ea typeface="Inter"/>
                <a:cs typeface="Inter"/>
                <a:sym typeface="Inter"/>
              </a:rPr>
            </a:br>
            <a:endParaRPr sz="1117">
              <a:solidFill>
                <a:schemeClr val="dk1"/>
              </a:solidFill>
              <a:latin typeface="Inter"/>
              <a:ea typeface="Inter"/>
              <a:cs typeface="Inter"/>
              <a:sym typeface="Inter"/>
            </a:endParaRPr>
          </a:p>
          <a:p>
            <a:pPr marL="457200" lvl="0" indent="-299561" algn="l" rtl="0">
              <a:lnSpc>
                <a:spcPct val="105000"/>
              </a:lnSpc>
              <a:spcBef>
                <a:spcPts val="0"/>
              </a:spcBef>
              <a:spcAft>
                <a:spcPts val="0"/>
              </a:spcAft>
              <a:buClr>
                <a:schemeClr val="dk1"/>
              </a:buClr>
              <a:buSzPts val="1118"/>
              <a:buFont typeface="Inter"/>
              <a:buChar char="●"/>
            </a:pPr>
            <a:r>
              <a:rPr lang="en" sz="1117">
                <a:solidFill>
                  <a:schemeClr val="dk1"/>
                </a:solidFill>
                <a:latin typeface="Inter"/>
                <a:ea typeface="Inter"/>
                <a:cs typeface="Inter"/>
                <a:sym typeface="Inter"/>
              </a:rPr>
              <a:t>Survey control: benchmarks, grid layout, coordinate system</a:t>
            </a:r>
            <a:br>
              <a:rPr lang="en" sz="1117">
                <a:solidFill>
                  <a:schemeClr val="dk1"/>
                </a:solidFill>
                <a:latin typeface="Inter"/>
                <a:ea typeface="Inter"/>
                <a:cs typeface="Inter"/>
                <a:sym typeface="Inter"/>
              </a:rPr>
            </a:br>
            <a:endParaRPr sz="1117">
              <a:solidFill>
                <a:schemeClr val="dk1"/>
              </a:solidFill>
              <a:latin typeface="Inter"/>
              <a:ea typeface="Inter"/>
              <a:cs typeface="Inter"/>
              <a:sym typeface="Inter"/>
            </a:endParaRPr>
          </a:p>
          <a:p>
            <a:pPr marL="457200" lvl="0" indent="-299561" algn="l" rtl="0">
              <a:lnSpc>
                <a:spcPct val="105000"/>
              </a:lnSpc>
              <a:spcBef>
                <a:spcPts val="0"/>
              </a:spcBef>
              <a:spcAft>
                <a:spcPts val="0"/>
              </a:spcAft>
              <a:buClr>
                <a:schemeClr val="dk1"/>
              </a:buClr>
              <a:buSzPts val="1118"/>
              <a:buFont typeface="Inter"/>
              <a:buChar char="●"/>
            </a:pPr>
            <a:r>
              <a:rPr lang="en" sz="1117">
                <a:solidFill>
                  <a:schemeClr val="dk1"/>
                </a:solidFill>
                <a:latin typeface="Inter"/>
                <a:ea typeface="Inter"/>
                <a:cs typeface="Inter"/>
                <a:sym typeface="Inter"/>
              </a:rPr>
              <a:t>Utilities clearance confirmation</a:t>
            </a:r>
            <a:br>
              <a:rPr lang="en" sz="1117">
                <a:solidFill>
                  <a:schemeClr val="dk1"/>
                </a:solidFill>
                <a:latin typeface="Inter"/>
                <a:ea typeface="Inter"/>
                <a:cs typeface="Inter"/>
                <a:sym typeface="Inter"/>
              </a:rPr>
            </a:br>
            <a:endParaRPr sz="1117">
              <a:solidFill>
                <a:schemeClr val="dk1"/>
              </a:solidFill>
              <a:latin typeface="Inter"/>
              <a:ea typeface="Inter"/>
              <a:cs typeface="Inter"/>
              <a:sym typeface="Inter"/>
            </a:endParaRPr>
          </a:p>
          <a:p>
            <a:pPr marL="457200" lvl="0" indent="-299561" algn="l" rtl="0">
              <a:lnSpc>
                <a:spcPct val="105000"/>
              </a:lnSpc>
              <a:spcBef>
                <a:spcPts val="0"/>
              </a:spcBef>
              <a:spcAft>
                <a:spcPts val="0"/>
              </a:spcAft>
              <a:buClr>
                <a:schemeClr val="dk1"/>
              </a:buClr>
              <a:buSzPts val="1118"/>
              <a:buFont typeface="Inter"/>
              <a:buChar char="●"/>
            </a:pPr>
            <a:r>
              <a:rPr lang="en" sz="1117">
                <a:solidFill>
                  <a:schemeClr val="dk1"/>
                </a:solidFill>
                <a:latin typeface="Inter"/>
                <a:ea typeface="Inter"/>
                <a:cs typeface="Inter"/>
                <a:sym typeface="Inter"/>
              </a:rPr>
              <a:t>Environmental controls (washout, spoil handling, grout spill plan)</a:t>
            </a:r>
            <a:br>
              <a:rPr lang="en" sz="1117">
                <a:solidFill>
                  <a:schemeClr val="dk1"/>
                </a:solidFill>
                <a:latin typeface="Inter"/>
                <a:ea typeface="Inter"/>
                <a:cs typeface="Inter"/>
                <a:sym typeface="Inter"/>
              </a:rPr>
            </a:br>
            <a:endParaRPr sz="1117">
              <a:solidFill>
                <a:schemeClr val="dk1"/>
              </a:solidFill>
              <a:latin typeface="Inter"/>
              <a:ea typeface="Inter"/>
              <a:cs typeface="Inter"/>
              <a:sym typeface="Inter"/>
            </a:endParaRPr>
          </a:p>
          <a:p>
            <a:pPr marL="457200" lvl="0" indent="-299561" algn="l" rtl="0">
              <a:lnSpc>
                <a:spcPct val="105000"/>
              </a:lnSpc>
              <a:spcBef>
                <a:spcPts val="0"/>
              </a:spcBef>
              <a:spcAft>
                <a:spcPts val="0"/>
              </a:spcAft>
              <a:buClr>
                <a:schemeClr val="dk1"/>
              </a:buClr>
              <a:buSzPts val="1118"/>
              <a:buFont typeface="Inter"/>
              <a:buChar char="●"/>
            </a:pPr>
            <a:r>
              <a:rPr lang="en" sz="1117">
                <a:solidFill>
                  <a:schemeClr val="dk1"/>
                </a:solidFill>
                <a:latin typeface="Inter"/>
                <a:ea typeface="Inter"/>
                <a:cs typeface="Inter"/>
                <a:sym typeface="Inter"/>
              </a:rPr>
              <a:t>Approved shop drawings and “Issued for Construction” package</a:t>
            </a:r>
            <a:endParaRPr sz="1117">
              <a:solidFill>
                <a:schemeClr val="dk1"/>
              </a:solidFill>
              <a:latin typeface="Inter"/>
              <a:ea typeface="Inter"/>
              <a:cs typeface="Inter"/>
              <a:sym typeface="Inter"/>
            </a:endParaRPr>
          </a:p>
          <a:p>
            <a:pPr marL="0" lvl="0" indent="0" algn="l" rtl="0">
              <a:lnSpc>
                <a:spcPct val="105000"/>
              </a:lnSpc>
              <a:spcBef>
                <a:spcPts val="1200"/>
              </a:spcBef>
              <a:spcAft>
                <a:spcPts val="1200"/>
              </a:spcAft>
              <a:buSzPts val="1018"/>
              <a:buNone/>
            </a:pPr>
            <a:endParaRPr sz="1765">
              <a:latin typeface="Inter"/>
              <a:ea typeface="Inter"/>
              <a:cs typeface="Inter"/>
              <a:sym typeface="Inter"/>
            </a:endParaRPr>
          </a:p>
        </p:txBody>
      </p:sp>
      <p:sp>
        <p:nvSpPr>
          <p:cNvPr id="169" name="Google Shape;169;p24"/>
          <p:cNvSpPr txBox="1">
            <a:spLocks noGrp="1"/>
          </p:cNvSpPr>
          <p:nvPr>
            <p:ph type="body" idx="1"/>
          </p:nvPr>
        </p:nvSpPr>
        <p:spPr>
          <a:xfrm>
            <a:off x="5037275" y="1880463"/>
            <a:ext cx="4356600" cy="5727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0"/>
              </a:spcAft>
              <a:buNone/>
            </a:pPr>
            <a:r>
              <a:rPr lang="en">
                <a:latin typeface="Inter"/>
                <a:ea typeface="Inter"/>
                <a:cs typeface="Inter"/>
                <a:sym typeface="Inter"/>
              </a:rPr>
              <a:t>&lt;name attribute=“attribute value”&gt;value&lt;/name&gt;</a:t>
            </a:r>
            <a:endParaRPr>
              <a:latin typeface="Inter"/>
              <a:ea typeface="Inter"/>
              <a:cs typeface="Inter"/>
              <a:sym typeface="Inter"/>
            </a:endParaRPr>
          </a:p>
          <a:p>
            <a:pPr marL="0" lvl="0" indent="0" algn="l" rtl="0">
              <a:spcBef>
                <a:spcPts val="0"/>
              </a:spcBef>
              <a:spcAft>
                <a:spcPts val="1200"/>
              </a:spcAft>
              <a:buNone/>
            </a:pPr>
            <a:endParaRPr>
              <a:latin typeface="Inter"/>
              <a:ea typeface="Inter"/>
              <a:cs typeface="Inter"/>
              <a:sym typeface="Inter"/>
            </a:endParaRPr>
          </a:p>
        </p:txBody>
      </p:sp>
      <p:sp>
        <p:nvSpPr>
          <p:cNvPr id="170" name="Google Shape;170;p24"/>
          <p:cNvSpPr txBox="1">
            <a:spLocks noGrp="1"/>
          </p:cNvSpPr>
          <p:nvPr>
            <p:ph type="title"/>
          </p:nvPr>
        </p:nvSpPr>
        <p:spPr>
          <a:xfrm>
            <a:off x="7077300" y="132275"/>
            <a:ext cx="1795200" cy="486600"/>
          </a:xfrm>
          <a:prstGeom prst="rect">
            <a:avLst/>
          </a:prstGeom>
          <a:solidFill>
            <a:srgbClr val="B6D7A8"/>
          </a:solidFill>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 sz="1720">
                <a:latin typeface="Manrope"/>
                <a:ea typeface="Manrope"/>
                <a:cs typeface="Manrope"/>
                <a:sym typeface="Manrope"/>
              </a:rPr>
              <a:t>Installation</a:t>
            </a:r>
            <a:endParaRPr sz="1720">
              <a:latin typeface="Manrope"/>
              <a:ea typeface="Manrope"/>
              <a:cs typeface="Manrope"/>
              <a:sym typeface="Manrope"/>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1"/>
          <p:cNvSpPr txBox="1">
            <a:spLocks noGrp="1"/>
          </p:cNvSpPr>
          <p:nvPr>
            <p:ph type="title"/>
          </p:nvPr>
        </p:nvSpPr>
        <p:spPr>
          <a:xfrm>
            <a:off x="201800" y="132275"/>
            <a:ext cx="7051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800" b="1">
                <a:latin typeface="Manrope"/>
                <a:ea typeface="Manrope"/>
                <a:cs typeface="Manrope"/>
                <a:sym typeface="Manrope"/>
              </a:rPr>
              <a:t>Stage 10: Trial Section / Test Columns (Optional)</a:t>
            </a:r>
            <a:endParaRPr sz="1800" b="1">
              <a:latin typeface="Manrope"/>
              <a:ea typeface="Manrope"/>
              <a:cs typeface="Manrope"/>
              <a:sym typeface="Manrope"/>
            </a:endParaRPr>
          </a:p>
        </p:txBody>
      </p:sp>
      <p:sp>
        <p:nvSpPr>
          <p:cNvPr id="136" name="Google Shape;136;p21"/>
          <p:cNvSpPr txBox="1">
            <a:spLocks noGrp="1"/>
          </p:cNvSpPr>
          <p:nvPr>
            <p:ph type="body" idx="1"/>
          </p:nvPr>
        </p:nvSpPr>
        <p:spPr>
          <a:xfrm>
            <a:off x="201800" y="775863"/>
            <a:ext cx="8280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000">
                <a:solidFill>
                  <a:schemeClr val="dk1"/>
                </a:solidFill>
                <a:latin typeface="Inter"/>
                <a:ea typeface="Inter"/>
                <a:cs typeface="Inter"/>
                <a:sym typeface="Inter"/>
              </a:rPr>
              <a:t>Install a small number of test columns to confirm constructability and to calibrate acceptance criteria.</a:t>
            </a:r>
            <a:endParaRPr sz="1000">
              <a:solidFill>
                <a:schemeClr val="dk1"/>
              </a:solidFill>
              <a:latin typeface="Inter"/>
              <a:ea typeface="Inter"/>
              <a:cs typeface="Inter"/>
              <a:sym typeface="Inter"/>
            </a:endParaRPr>
          </a:p>
        </p:txBody>
      </p:sp>
      <p:sp>
        <p:nvSpPr>
          <p:cNvPr id="137" name="Google Shape;137;p21"/>
          <p:cNvSpPr/>
          <p:nvPr/>
        </p:nvSpPr>
        <p:spPr>
          <a:xfrm rot="-5400000">
            <a:off x="5129125" y="608800"/>
            <a:ext cx="3455700" cy="4574100"/>
          </a:xfrm>
          <a:prstGeom prst="round1Rect">
            <a:avLst>
              <a:gd name="adj" fmla="val 8032"/>
            </a:avLst>
          </a:prstGeom>
          <a:solidFill>
            <a:schemeClr val="lt2"/>
          </a:solidFill>
          <a:ln>
            <a:noFill/>
          </a:ln>
          <a:effectLst>
            <a:outerShdw blurRad="171450" dist="114300" dir="13440000" algn="bl" rotWithShape="0">
              <a:schemeClr val="dk1">
                <a:alpha val="392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Nunito Light"/>
              <a:ea typeface="Nunito Light"/>
              <a:cs typeface="Nunito Light"/>
              <a:sym typeface="Nunito Light"/>
            </a:endParaRPr>
          </a:p>
        </p:txBody>
      </p:sp>
      <p:sp>
        <p:nvSpPr>
          <p:cNvPr id="138" name="Google Shape;138;p21"/>
          <p:cNvSpPr txBox="1">
            <a:spLocks noGrp="1"/>
          </p:cNvSpPr>
          <p:nvPr>
            <p:ph type="body" idx="1"/>
          </p:nvPr>
        </p:nvSpPr>
        <p:spPr>
          <a:xfrm>
            <a:off x="5037275" y="1419438"/>
            <a:ext cx="35607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2000">
                <a:solidFill>
                  <a:schemeClr val="dk1"/>
                </a:solidFill>
                <a:latin typeface="Inter"/>
                <a:ea typeface="Inter"/>
                <a:cs typeface="Inter"/>
                <a:sym typeface="Inter"/>
              </a:rPr>
              <a:t>DIGGS - </a:t>
            </a:r>
            <a:r>
              <a:rPr lang="en" sz="2000">
                <a:solidFill>
                  <a:srgbClr val="CC4125"/>
                </a:solidFill>
                <a:latin typeface="Inter"/>
                <a:ea typeface="Inter"/>
                <a:cs typeface="Inter"/>
                <a:sym typeface="Inter"/>
              </a:rPr>
              <a:t>Feature</a:t>
            </a:r>
            <a:endParaRPr sz="2000">
              <a:solidFill>
                <a:srgbClr val="CC4125"/>
              </a:solidFill>
              <a:latin typeface="Inter"/>
              <a:ea typeface="Inter"/>
              <a:cs typeface="Inter"/>
              <a:sym typeface="Inter"/>
            </a:endParaRPr>
          </a:p>
        </p:txBody>
      </p:sp>
      <p:sp>
        <p:nvSpPr>
          <p:cNvPr id="139" name="Google Shape;139;p21"/>
          <p:cNvSpPr txBox="1">
            <a:spLocks noGrp="1"/>
          </p:cNvSpPr>
          <p:nvPr>
            <p:ph type="body" idx="1"/>
          </p:nvPr>
        </p:nvSpPr>
        <p:spPr>
          <a:xfrm>
            <a:off x="201800" y="1328550"/>
            <a:ext cx="4356600" cy="31959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None/>
            </a:pPr>
            <a:r>
              <a:rPr lang="en" sz="1100" b="1">
                <a:solidFill>
                  <a:schemeClr val="dk1"/>
                </a:solidFill>
                <a:latin typeface="Inter"/>
                <a:ea typeface="Inter"/>
                <a:cs typeface="Inter"/>
                <a:sym typeface="Inter"/>
              </a:rPr>
              <a:t>Report at end of stage (key parameters):</a:t>
            </a:r>
            <a:endParaRPr sz="1100" b="1">
              <a:solidFill>
                <a:schemeClr val="dk1"/>
              </a:solidFill>
              <a:latin typeface="Inter"/>
              <a:ea typeface="Inter"/>
              <a:cs typeface="Inter"/>
              <a:sym typeface="Inter"/>
            </a:endParaRPr>
          </a:p>
          <a:p>
            <a:pPr marL="457200" lvl="0" indent="-298450" algn="l" rtl="0">
              <a:spcBef>
                <a:spcPts val="1200"/>
              </a:spcBef>
              <a:spcAft>
                <a:spcPts val="0"/>
              </a:spcAft>
              <a:buClr>
                <a:schemeClr val="dk1"/>
              </a:buClr>
              <a:buSzPts val="1100"/>
              <a:buFont typeface="Inter"/>
              <a:buChar char="●"/>
            </a:pPr>
            <a:r>
              <a:rPr lang="en" sz="1100">
                <a:solidFill>
                  <a:schemeClr val="dk1"/>
                </a:solidFill>
                <a:latin typeface="Inter"/>
                <a:ea typeface="Inter"/>
                <a:cs typeface="Inter"/>
                <a:sym typeface="Inter"/>
              </a:rPr>
              <a:t>Test column logs: depth, torque, rotation, penetration/withdrawal rate, grout pressure/volume</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Observed issues: obstructions, grout losses, refusal, groundwater effects</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Adjusted method parameters and updated acceptance criteria (if needed)</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Initial verification results (e.g., early-age strength tests if applicable)</a:t>
            </a:r>
            <a:endParaRPr sz="1100">
              <a:solidFill>
                <a:schemeClr val="dk1"/>
              </a:solidFill>
              <a:latin typeface="Inter"/>
              <a:ea typeface="Inter"/>
              <a:cs typeface="Inter"/>
              <a:sym typeface="Inter"/>
            </a:endParaRPr>
          </a:p>
          <a:p>
            <a:pPr marL="0" lvl="0" indent="0" algn="l" rtl="0">
              <a:spcBef>
                <a:spcPts val="1200"/>
              </a:spcBef>
              <a:spcAft>
                <a:spcPts val="1200"/>
              </a:spcAft>
              <a:buNone/>
            </a:pPr>
            <a:endParaRPr sz="1100">
              <a:latin typeface="Inter"/>
              <a:ea typeface="Inter"/>
              <a:cs typeface="Inter"/>
              <a:sym typeface="Inter"/>
            </a:endParaRPr>
          </a:p>
        </p:txBody>
      </p:sp>
      <p:sp>
        <p:nvSpPr>
          <p:cNvPr id="140" name="Google Shape;140;p21"/>
          <p:cNvSpPr txBox="1">
            <a:spLocks noGrp="1"/>
          </p:cNvSpPr>
          <p:nvPr>
            <p:ph type="body" idx="1"/>
          </p:nvPr>
        </p:nvSpPr>
        <p:spPr>
          <a:xfrm>
            <a:off x="5037275" y="1880463"/>
            <a:ext cx="4356600" cy="572700"/>
          </a:xfrm>
          <a:prstGeom prst="rect">
            <a:avLst/>
          </a:prstGeom>
        </p:spPr>
        <p:txBody>
          <a:bodyPr spcFirstLastPara="1" wrap="square" lIns="91425" tIns="91425" rIns="91425" bIns="91425" anchor="t" anchorCtr="0">
            <a:normAutofit fontScale="70000" lnSpcReduction="20000"/>
          </a:bodyPr>
          <a:lstStyle/>
          <a:p>
            <a:pPr marL="0" indent="0">
              <a:lnSpc>
                <a:spcPct val="114999"/>
              </a:lnSpc>
              <a:buNone/>
            </a:pPr>
            <a:r>
              <a:rPr lang="en">
                <a:latin typeface="Inter"/>
                <a:ea typeface="Inter"/>
                <a:sym typeface="Inter"/>
              </a:rPr>
              <a:t>This was out of order in Pre-Installation Phase but moved here to installation phase.</a:t>
            </a:r>
            <a:endParaRPr lang="en">
              <a:latin typeface="Inter"/>
              <a:ea typeface="Inter"/>
            </a:endParaRPr>
          </a:p>
          <a:p>
            <a:pPr marL="0" lvl="0" indent="0" algn="l" rtl="0">
              <a:spcBef>
                <a:spcPts val="0"/>
              </a:spcBef>
              <a:spcAft>
                <a:spcPts val="1200"/>
              </a:spcAft>
              <a:buNone/>
            </a:pPr>
            <a:endParaRPr>
              <a:latin typeface="Inter"/>
              <a:ea typeface="Inter"/>
              <a:cs typeface="Inter"/>
              <a:sym typeface="Inter"/>
            </a:endParaRPr>
          </a:p>
        </p:txBody>
      </p:sp>
      <p:sp>
        <p:nvSpPr>
          <p:cNvPr id="141" name="Google Shape;141;p21"/>
          <p:cNvSpPr txBox="1">
            <a:spLocks noGrp="1"/>
          </p:cNvSpPr>
          <p:nvPr>
            <p:ph type="title"/>
          </p:nvPr>
        </p:nvSpPr>
        <p:spPr>
          <a:xfrm>
            <a:off x="7077300" y="132275"/>
            <a:ext cx="1795200" cy="486600"/>
          </a:xfrm>
          <a:prstGeom prst="rect">
            <a:avLst/>
          </a:prstGeom>
          <a:solidFill>
            <a:srgbClr val="B6D7A8"/>
          </a:solidFill>
        </p:spPr>
        <p:txBody>
          <a:bodyPr spcFirstLastPara="1" wrap="square" lIns="91425" tIns="91425" rIns="91425" bIns="91425" anchor="t" anchorCtr="0">
            <a:noAutofit/>
          </a:bodyPr>
          <a:lstStyle/>
          <a:p>
            <a:pPr marL="0" marR="0" lvl="0" indent="0" algn="ctr" rtl="0">
              <a:lnSpc>
                <a:spcPct val="100000"/>
              </a:lnSpc>
              <a:spcBef>
                <a:spcPts val="0"/>
              </a:spcBef>
              <a:spcAft>
                <a:spcPts val="0"/>
              </a:spcAft>
              <a:buSzPts val="990"/>
              <a:buNone/>
            </a:pPr>
            <a:r>
              <a:rPr lang="en" sz="1720">
                <a:latin typeface="Manrope"/>
                <a:ea typeface="Manrope"/>
                <a:cs typeface="Manrope"/>
                <a:sym typeface="Manrope"/>
              </a:rPr>
              <a:t>Installation</a:t>
            </a:r>
            <a:endParaRPr sz="1720">
              <a:latin typeface="Manrope"/>
              <a:ea typeface="Manrope"/>
              <a:cs typeface="Manrope"/>
              <a:sym typeface="Manrope"/>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5"/>
          <p:cNvSpPr txBox="1">
            <a:spLocks noGrp="1"/>
          </p:cNvSpPr>
          <p:nvPr>
            <p:ph type="title"/>
          </p:nvPr>
        </p:nvSpPr>
        <p:spPr>
          <a:xfrm>
            <a:off x="201800" y="132275"/>
            <a:ext cx="7051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800" b="1">
                <a:latin typeface="Manrope"/>
                <a:ea typeface="Manrope"/>
                <a:cs typeface="Manrope"/>
                <a:sym typeface="Manrope"/>
              </a:rPr>
              <a:t>Stage 11: Production CMC Installation (Main Construction)</a:t>
            </a:r>
            <a:endParaRPr sz="1800" b="1">
              <a:latin typeface="Manrope"/>
              <a:ea typeface="Manrope"/>
              <a:cs typeface="Manrope"/>
              <a:sym typeface="Manrope"/>
            </a:endParaRPr>
          </a:p>
        </p:txBody>
      </p:sp>
      <p:sp>
        <p:nvSpPr>
          <p:cNvPr id="176" name="Google Shape;176;p25"/>
          <p:cNvSpPr txBox="1">
            <a:spLocks noGrp="1"/>
          </p:cNvSpPr>
          <p:nvPr>
            <p:ph type="body" idx="1"/>
          </p:nvPr>
        </p:nvSpPr>
        <p:spPr>
          <a:xfrm>
            <a:off x="201800" y="775863"/>
            <a:ext cx="8280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000">
                <a:solidFill>
                  <a:schemeClr val="dk1"/>
                </a:solidFill>
                <a:latin typeface="Inter"/>
                <a:ea typeface="Inter"/>
                <a:cs typeface="Inter"/>
                <a:sym typeface="Inter"/>
              </a:rPr>
              <a:t>Install the full production set of columns per design and method statement. This is where disciplined data capture is critical.</a:t>
            </a:r>
            <a:endParaRPr sz="1000">
              <a:solidFill>
                <a:schemeClr val="dk1"/>
              </a:solidFill>
              <a:latin typeface="Inter"/>
              <a:ea typeface="Inter"/>
              <a:cs typeface="Inter"/>
              <a:sym typeface="Inter"/>
            </a:endParaRPr>
          </a:p>
        </p:txBody>
      </p:sp>
      <p:sp>
        <p:nvSpPr>
          <p:cNvPr id="177" name="Google Shape;177;p25"/>
          <p:cNvSpPr/>
          <p:nvPr/>
        </p:nvSpPr>
        <p:spPr>
          <a:xfrm rot="-5400000">
            <a:off x="5129125" y="608800"/>
            <a:ext cx="3455700" cy="4574100"/>
          </a:xfrm>
          <a:prstGeom prst="round1Rect">
            <a:avLst>
              <a:gd name="adj" fmla="val 8032"/>
            </a:avLst>
          </a:prstGeom>
          <a:solidFill>
            <a:schemeClr val="lt2"/>
          </a:solidFill>
          <a:ln>
            <a:noFill/>
          </a:ln>
          <a:effectLst>
            <a:outerShdw blurRad="171450" dist="114300" dir="13440000" algn="bl" rotWithShape="0">
              <a:schemeClr val="dk1">
                <a:alpha val="392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Nunito Light"/>
              <a:ea typeface="Nunito Light"/>
              <a:cs typeface="Nunito Light"/>
              <a:sym typeface="Nunito Light"/>
            </a:endParaRPr>
          </a:p>
        </p:txBody>
      </p:sp>
      <p:sp>
        <p:nvSpPr>
          <p:cNvPr id="178" name="Google Shape;178;p25"/>
          <p:cNvSpPr txBox="1">
            <a:spLocks noGrp="1"/>
          </p:cNvSpPr>
          <p:nvPr>
            <p:ph type="body" idx="1"/>
          </p:nvPr>
        </p:nvSpPr>
        <p:spPr>
          <a:xfrm>
            <a:off x="5037275" y="1419438"/>
            <a:ext cx="35607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2000">
                <a:solidFill>
                  <a:schemeClr val="dk1"/>
                </a:solidFill>
                <a:latin typeface="Inter"/>
                <a:ea typeface="Inter"/>
                <a:cs typeface="Inter"/>
                <a:sym typeface="Inter"/>
              </a:rPr>
              <a:t>DIGGS - </a:t>
            </a:r>
            <a:r>
              <a:rPr lang="en" sz="2000">
                <a:solidFill>
                  <a:srgbClr val="CC4125"/>
                </a:solidFill>
                <a:latin typeface="Inter"/>
                <a:ea typeface="Inter"/>
                <a:cs typeface="Inter"/>
                <a:sym typeface="Inter"/>
              </a:rPr>
              <a:t>Feature</a:t>
            </a:r>
            <a:endParaRPr sz="2000">
              <a:solidFill>
                <a:srgbClr val="CC4125"/>
              </a:solidFill>
              <a:latin typeface="Inter"/>
              <a:ea typeface="Inter"/>
              <a:cs typeface="Inter"/>
              <a:sym typeface="Inter"/>
            </a:endParaRPr>
          </a:p>
        </p:txBody>
      </p:sp>
      <p:sp>
        <p:nvSpPr>
          <p:cNvPr id="179" name="Google Shape;179;p25"/>
          <p:cNvSpPr txBox="1">
            <a:spLocks noGrp="1"/>
          </p:cNvSpPr>
          <p:nvPr>
            <p:ph type="body" idx="1"/>
          </p:nvPr>
        </p:nvSpPr>
        <p:spPr>
          <a:xfrm>
            <a:off x="201800" y="1168000"/>
            <a:ext cx="4356600" cy="31959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000" b="1">
                <a:solidFill>
                  <a:schemeClr val="dk1"/>
                </a:solidFill>
                <a:latin typeface="Inter"/>
                <a:ea typeface="Inter"/>
                <a:cs typeface="Inter"/>
                <a:sym typeface="Inter"/>
              </a:rPr>
              <a:t>Report at end of stage (key parameters):</a:t>
            </a:r>
            <a:endParaRPr sz="1000" b="1">
              <a:solidFill>
                <a:schemeClr val="dk1"/>
              </a:solidFill>
              <a:latin typeface="Inter"/>
              <a:ea typeface="Inter"/>
              <a:cs typeface="Inter"/>
              <a:sym typeface="Inter"/>
            </a:endParaRPr>
          </a:p>
          <a:p>
            <a:pPr marL="0" lvl="0" indent="0" algn="l" rtl="0">
              <a:spcBef>
                <a:spcPts val="1200"/>
              </a:spcBef>
              <a:spcAft>
                <a:spcPts val="0"/>
              </a:spcAft>
              <a:buNone/>
            </a:pPr>
            <a:r>
              <a:rPr lang="en" sz="1000" b="1">
                <a:solidFill>
                  <a:srgbClr val="FF0000"/>
                </a:solidFill>
                <a:latin typeface="Inter"/>
                <a:ea typeface="Inter"/>
                <a:cs typeface="Inter"/>
                <a:sym typeface="Inter"/>
              </a:rPr>
              <a:t>Per column (as-built record):</a:t>
            </a:r>
            <a:endParaRPr sz="1000" b="1">
              <a:solidFill>
                <a:srgbClr val="FF0000"/>
              </a:solidFill>
              <a:latin typeface="Inter"/>
              <a:ea typeface="Inter"/>
              <a:cs typeface="Inter"/>
              <a:sym typeface="Inter"/>
            </a:endParaRPr>
          </a:p>
          <a:p>
            <a:pPr marL="457200" lvl="0" indent="-292100" algn="l" rtl="0">
              <a:spcBef>
                <a:spcPts val="1200"/>
              </a:spcBef>
              <a:spcAft>
                <a:spcPts val="0"/>
              </a:spcAft>
              <a:buClr>
                <a:schemeClr val="dk1"/>
              </a:buClr>
              <a:buSzPts val="1000"/>
              <a:buFont typeface="Inter"/>
              <a:buChar char="●"/>
            </a:pPr>
            <a:r>
              <a:rPr lang="en" sz="1000">
                <a:solidFill>
                  <a:schemeClr val="dk1"/>
                </a:solidFill>
                <a:latin typeface="Inter"/>
                <a:ea typeface="Inter"/>
                <a:cs typeface="Inter"/>
                <a:sym typeface="Inter"/>
              </a:rPr>
              <a:t>Unique column ID, coordinates (X/Y), ground level, cut-off level</a:t>
            </a:r>
            <a:endParaRPr sz="1000">
              <a:solidFill>
                <a:schemeClr val="dk1"/>
              </a:solidFill>
              <a:latin typeface="Inter"/>
              <a:ea typeface="Inter"/>
              <a:cs typeface="Inter"/>
              <a:sym typeface="Inter"/>
            </a:endParaRPr>
          </a:p>
          <a:p>
            <a:pPr marL="457200" lvl="0" indent="-292100" algn="l" rtl="0">
              <a:spcBef>
                <a:spcPts val="0"/>
              </a:spcBef>
              <a:spcAft>
                <a:spcPts val="0"/>
              </a:spcAft>
              <a:buClr>
                <a:schemeClr val="dk1"/>
              </a:buClr>
              <a:buSzPts val="1000"/>
              <a:buFont typeface="Inter"/>
              <a:buChar char="●"/>
            </a:pPr>
            <a:r>
              <a:rPr lang="en" sz="1000">
                <a:solidFill>
                  <a:schemeClr val="dk1"/>
                </a:solidFill>
                <a:latin typeface="Inter"/>
                <a:ea typeface="Inter"/>
                <a:cs typeface="Inter"/>
                <a:sym typeface="Inter"/>
              </a:rPr>
              <a:t>Start/end time, rig ID/operator</a:t>
            </a:r>
            <a:endParaRPr sz="1000">
              <a:solidFill>
                <a:schemeClr val="dk1"/>
              </a:solidFill>
              <a:latin typeface="Inter"/>
              <a:ea typeface="Inter"/>
              <a:cs typeface="Inter"/>
              <a:sym typeface="Inter"/>
            </a:endParaRPr>
          </a:p>
          <a:p>
            <a:pPr marL="457200" lvl="0" indent="-292100" algn="l" rtl="0">
              <a:spcBef>
                <a:spcPts val="0"/>
              </a:spcBef>
              <a:spcAft>
                <a:spcPts val="0"/>
              </a:spcAft>
              <a:buClr>
                <a:schemeClr val="dk1"/>
              </a:buClr>
              <a:buSzPts val="1000"/>
              <a:buFont typeface="Inter"/>
              <a:buChar char="●"/>
            </a:pPr>
            <a:r>
              <a:rPr lang="en" sz="1000">
                <a:solidFill>
                  <a:schemeClr val="dk1"/>
                </a:solidFill>
                <a:latin typeface="Inter"/>
                <a:ea typeface="Inter"/>
                <a:cs typeface="Inter"/>
                <a:sym typeface="Inter"/>
              </a:rPr>
              <a:t>Target depth vs achieved depth; toe stratum confirmation (how verified)</a:t>
            </a:r>
            <a:endParaRPr sz="1000">
              <a:solidFill>
                <a:schemeClr val="dk1"/>
              </a:solidFill>
              <a:latin typeface="Inter"/>
              <a:ea typeface="Inter"/>
              <a:cs typeface="Inter"/>
              <a:sym typeface="Inter"/>
            </a:endParaRPr>
          </a:p>
          <a:p>
            <a:pPr marL="457200" lvl="0" indent="-292100" algn="l" rtl="0">
              <a:spcBef>
                <a:spcPts val="0"/>
              </a:spcBef>
              <a:spcAft>
                <a:spcPts val="0"/>
              </a:spcAft>
              <a:buClr>
                <a:schemeClr val="dk1"/>
              </a:buClr>
              <a:buSzPts val="1000"/>
              <a:buFont typeface="Inter"/>
              <a:buChar char="●"/>
            </a:pPr>
            <a:r>
              <a:rPr lang="en" sz="1000">
                <a:solidFill>
                  <a:schemeClr val="dk1"/>
                </a:solidFill>
                <a:latin typeface="Inter"/>
                <a:ea typeface="Inter"/>
                <a:cs typeface="Inter"/>
                <a:sym typeface="Inter"/>
              </a:rPr>
              <a:t>Installation method (tool type, displacement level)</a:t>
            </a:r>
            <a:endParaRPr sz="1000">
              <a:solidFill>
                <a:schemeClr val="dk1"/>
              </a:solidFill>
              <a:latin typeface="Inter"/>
              <a:ea typeface="Inter"/>
              <a:cs typeface="Inter"/>
              <a:sym typeface="Inter"/>
            </a:endParaRPr>
          </a:p>
          <a:p>
            <a:pPr marL="457200" lvl="0" indent="-292100" algn="l" rtl="0">
              <a:spcBef>
                <a:spcPts val="0"/>
              </a:spcBef>
              <a:spcAft>
                <a:spcPts val="0"/>
              </a:spcAft>
              <a:buClr>
                <a:schemeClr val="dk1"/>
              </a:buClr>
              <a:buSzPts val="1000"/>
              <a:buFont typeface="Inter"/>
              <a:buChar char="●"/>
            </a:pPr>
            <a:r>
              <a:rPr lang="en" sz="1000">
                <a:solidFill>
                  <a:schemeClr val="dk1"/>
                </a:solidFill>
                <a:latin typeface="Inter"/>
                <a:ea typeface="Inter"/>
                <a:cs typeface="Inter"/>
                <a:sym typeface="Inter"/>
              </a:rPr>
              <a:t>Monitoring While Installing (typical):</a:t>
            </a:r>
            <a:endParaRPr sz="1000">
              <a:solidFill>
                <a:schemeClr val="dk1"/>
              </a:solidFill>
              <a:latin typeface="Inter"/>
              <a:ea typeface="Inter"/>
              <a:cs typeface="Inter"/>
              <a:sym typeface="Inter"/>
            </a:endParaRPr>
          </a:p>
          <a:p>
            <a:pPr marL="457200" lvl="0" indent="-292100" algn="l" rtl="0">
              <a:spcBef>
                <a:spcPts val="0"/>
              </a:spcBef>
              <a:spcAft>
                <a:spcPts val="0"/>
              </a:spcAft>
              <a:buClr>
                <a:schemeClr val="dk1"/>
              </a:buClr>
              <a:buSzPts val="1000"/>
              <a:buFont typeface="Inter"/>
              <a:buChar char="●"/>
            </a:pPr>
            <a:endParaRPr sz="1000">
              <a:solidFill>
                <a:schemeClr val="dk1"/>
              </a:solidFill>
              <a:latin typeface="Inter"/>
              <a:ea typeface="Inter"/>
              <a:cs typeface="Inter"/>
              <a:sym typeface="Inter"/>
            </a:endParaRPr>
          </a:p>
          <a:p>
            <a:pPr marL="914400" lvl="1" indent="-292100" algn="l" rtl="0">
              <a:spcBef>
                <a:spcPts val="0"/>
              </a:spcBef>
              <a:spcAft>
                <a:spcPts val="0"/>
              </a:spcAft>
              <a:buClr>
                <a:schemeClr val="dk1"/>
              </a:buClr>
              <a:buSzPts val="1000"/>
              <a:buFont typeface="Inter"/>
              <a:buAutoNum type="alphaLcPeriod"/>
            </a:pPr>
            <a:r>
              <a:rPr lang="en" sz="1000">
                <a:solidFill>
                  <a:schemeClr val="dk1"/>
                </a:solidFill>
                <a:latin typeface="Inter"/>
                <a:ea typeface="Inter"/>
                <a:cs typeface="Inter"/>
                <a:sym typeface="Inter"/>
              </a:rPr>
              <a:t>penetration rate and withdrawal rate</a:t>
            </a:r>
            <a:endParaRPr sz="1000">
              <a:solidFill>
                <a:schemeClr val="dk1"/>
              </a:solidFill>
              <a:latin typeface="Inter"/>
              <a:ea typeface="Inter"/>
              <a:cs typeface="Inter"/>
              <a:sym typeface="Inter"/>
            </a:endParaRPr>
          </a:p>
          <a:p>
            <a:pPr marL="914400" lvl="1" indent="-292100" algn="l" rtl="0">
              <a:spcBef>
                <a:spcPts val="0"/>
              </a:spcBef>
              <a:spcAft>
                <a:spcPts val="0"/>
              </a:spcAft>
              <a:buClr>
                <a:schemeClr val="dk1"/>
              </a:buClr>
              <a:buSzPts val="1000"/>
              <a:buFont typeface="Inter"/>
              <a:buAutoNum type="alphaLcPeriod"/>
            </a:pPr>
            <a:r>
              <a:rPr lang="en" sz="1000">
                <a:solidFill>
                  <a:schemeClr val="dk1"/>
                </a:solidFill>
                <a:latin typeface="Inter"/>
                <a:ea typeface="Inter"/>
                <a:cs typeface="Inter"/>
                <a:sym typeface="Inter"/>
              </a:rPr>
              <a:t>torque (and/or crowd force)</a:t>
            </a:r>
            <a:endParaRPr sz="1000">
              <a:solidFill>
                <a:schemeClr val="dk1"/>
              </a:solidFill>
              <a:latin typeface="Inter"/>
              <a:ea typeface="Inter"/>
              <a:cs typeface="Inter"/>
              <a:sym typeface="Inter"/>
            </a:endParaRPr>
          </a:p>
          <a:p>
            <a:pPr marL="914400" lvl="1" indent="-292100" algn="l" rtl="0">
              <a:spcBef>
                <a:spcPts val="0"/>
              </a:spcBef>
              <a:spcAft>
                <a:spcPts val="0"/>
              </a:spcAft>
              <a:buClr>
                <a:schemeClr val="dk1"/>
              </a:buClr>
              <a:buSzPts val="1000"/>
              <a:buFont typeface="Inter"/>
              <a:buAutoNum type="alphaLcPeriod"/>
            </a:pPr>
            <a:r>
              <a:rPr lang="en" sz="1000">
                <a:solidFill>
                  <a:schemeClr val="dk1"/>
                </a:solidFill>
                <a:latin typeface="Inter"/>
                <a:ea typeface="Inter"/>
                <a:cs typeface="Inter"/>
                <a:sym typeface="Inter"/>
              </a:rPr>
              <a:t>rotation speed</a:t>
            </a:r>
            <a:endParaRPr sz="1000">
              <a:solidFill>
                <a:schemeClr val="dk1"/>
              </a:solidFill>
              <a:latin typeface="Inter"/>
              <a:ea typeface="Inter"/>
              <a:cs typeface="Inter"/>
              <a:sym typeface="Inter"/>
            </a:endParaRPr>
          </a:p>
          <a:p>
            <a:pPr marL="914400" lvl="1" indent="-292100" algn="l" rtl="0">
              <a:spcBef>
                <a:spcPts val="0"/>
              </a:spcBef>
              <a:spcAft>
                <a:spcPts val="0"/>
              </a:spcAft>
              <a:buClr>
                <a:schemeClr val="dk1"/>
              </a:buClr>
              <a:buSzPts val="1000"/>
              <a:buFont typeface="Inter"/>
              <a:buAutoNum type="alphaLcPeriod"/>
            </a:pPr>
            <a:r>
              <a:rPr lang="en" sz="1000">
                <a:solidFill>
                  <a:schemeClr val="dk1"/>
                </a:solidFill>
                <a:latin typeface="Inter"/>
                <a:ea typeface="Inter"/>
                <a:cs typeface="Inter"/>
                <a:sym typeface="Inter"/>
              </a:rPr>
              <a:t>grout/concrete pressure</a:t>
            </a:r>
            <a:endParaRPr sz="1000">
              <a:solidFill>
                <a:schemeClr val="dk1"/>
              </a:solidFill>
              <a:latin typeface="Inter"/>
              <a:ea typeface="Inter"/>
              <a:cs typeface="Inter"/>
              <a:sym typeface="Inter"/>
            </a:endParaRPr>
          </a:p>
          <a:p>
            <a:pPr marL="914400" lvl="1" indent="-292100" algn="l" rtl="0">
              <a:spcBef>
                <a:spcPts val="0"/>
              </a:spcBef>
              <a:spcAft>
                <a:spcPts val="0"/>
              </a:spcAft>
              <a:buClr>
                <a:schemeClr val="dk1"/>
              </a:buClr>
              <a:buSzPts val="1000"/>
              <a:buFont typeface="Inter"/>
              <a:buAutoNum type="alphaLcPeriod"/>
            </a:pPr>
            <a:r>
              <a:rPr lang="en" sz="1000">
                <a:solidFill>
                  <a:schemeClr val="dk1"/>
                </a:solidFill>
                <a:latin typeface="Inter"/>
                <a:ea typeface="Inter"/>
                <a:cs typeface="Inter"/>
                <a:sym typeface="Inter"/>
              </a:rPr>
              <a:t>grout/concrete volume (and volume vs theoretical)</a:t>
            </a:r>
            <a:endParaRPr sz="1000">
              <a:solidFill>
                <a:schemeClr val="dk1"/>
              </a:solidFill>
              <a:latin typeface="Inter"/>
              <a:ea typeface="Inter"/>
              <a:cs typeface="Inter"/>
              <a:sym typeface="Inter"/>
            </a:endParaRPr>
          </a:p>
          <a:p>
            <a:pPr marL="914400" lvl="1" indent="-292100" algn="l" rtl="0">
              <a:spcBef>
                <a:spcPts val="0"/>
              </a:spcBef>
              <a:spcAft>
                <a:spcPts val="0"/>
              </a:spcAft>
              <a:buClr>
                <a:schemeClr val="dk1"/>
              </a:buClr>
              <a:buSzPts val="1000"/>
              <a:buFont typeface="Inter"/>
              <a:buAutoNum type="alphaLcPeriod"/>
            </a:pPr>
            <a:r>
              <a:rPr lang="en" sz="1000">
                <a:solidFill>
                  <a:schemeClr val="dk1"/>
                </a:solidFill>
                <a:latin typeface="Inter"/>
                <a:ea typeface="Inter"/>
                <a:cs typeface="Inter"/>
                <a:sym typeface="Inter"/>
              </a:rPr>
              <a:t>pauses/stoppages and reasons</a:t>
            </a:r>
            <a:endParaRPr sz="1000">
              <a:solidFill>
                <a:schemeClr val="dk1"/>
              </a:solidFill>
              <a:latin typeface="Inter"/>
              <a:ea typeface="Inter"/>
              <a:cs typeface="Inter"/>
              <a:sym typeface="Inter"/>
            </a:endParaRPr>
          </a:p>
          <a:p>
            <a:pPr marL="457200" lvl="0" indent="-292100" algn="l" rtl="0">
              <a:spcBef>
                <a:spcPts val="0"/>
              </a:spcBef>
              <a:spcAft>
                <a:spcPts val="0"/>
              </a:spcAft>
              <a:buClr>
                <a:schemeClr val="dk1"/>
              </a:buClr>
              <a:buSzPts val="1000"/>
              <a:buFont typeface="Inter"/>
              <a:buChar char="●"/>
            </a:pPr>
            <a:r>
              <a:rPr lang="en" sz="1000">
                <a:solidFill>
                  <a:schemeClr val="dk1"/>
                </a:solidFill>
                <a:latin typeface="Inter"/>
                <a:ea typeface="Inter"/>
                <a:cs typeface="Inter"/>
                <a:sym typeface="Inter"/>
              </a:rPr>
              <a:t>Deviations and nonconformances (e.g., short column, obstruction, abnormal grout take)</a:t>
            </a:r>
            <a:endParaRPr sz="1000">
              <a:solidFill>
                <a:schemeClr val="dk1"/>
              </a:solidFill>
              <a:latin typeface="Inter"/>
              <a:ea typeface="Inter"/>
              <a:cs typeface="Inter"/>
              <a:sym typeface="Inter"/>
            </a:endParaRPr>
          </a:p>
          <a:p>
            <a:pPr marL="457200" lvl="0" indent="-292100" algn="l" rtl="0">
              <a:spcBef>
                <a:spcPts val="0"/>
              </a:spcBef>
              <a:spcAft>
                <a:spcPts val="0"/>
              </a:spcAft>
              <a:buClr>
                <a:schemeClr val="dk1"/>
              </a:buClr>
              <a:buSzPts val="1000"/>
              <a:buFont typeface="Inter"/>
              <a:buChar char="●"/>
            </a:pPr>
            <a:r>
              <a:rPr lang="en" sz="1000">
                <a:solidFill>
                  <a:schemeClr val="dk1"/>
                </a:solidFill>
                <a:latin typeface="Inter"/>
                <a:ea typeface="Inter"/>
                <a:cs typeface="Inter"/>
                <a:sym typeface="Inter"/>
              </a:rPr>
              <a:t>Corrective actions (re-drill, secondary column, local redesign)</a:t>
            </a:r>
            <a:endParaRPr sz="1000">
              <a:latin typeface="Inter"/>
              <a:ea typeface="Inter"/>
              <a:cs typeface="Inter"/>
              <a:sym typeface="Inter"/>
            </a:endParaRPr>
          </a:p>
        </p:txBody>
      </p:sp>
      <p:sp>
        <p:nvSpPr>
          <p:cNvPr id="180" name="Google Shape;180;p25"/>
          <p:cNvSpPr txBox="1">
            <a:spLocks noGrp="1"/>
          </p:cNvSpPr>
          <p:nvPr>
            <p:ph type="body" idx="1"/>
          </p:nvPr>
        </p:nvSpPr>
        <p:spPr>
          <a:xfrm>
            <a:off x="5037275" y="1880463"/>
            <a:ext cx="4356600" cy="5727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0"/>
              </a:spcAft>
              <a:buNone/>
            </a:pPr>
            <a:r>
              <a:rPr lang="en">
                <a:latin typeface="Inter"/>
                <a:ea typeface="Inter"/>
                <a:cs typeface="Inter"/>
                <a:sym typeface="Inter"/>
              </a:rPr>
              <a:t>&lt;name attribute=“attribute value”&gt;value&lt;/name&gt;</a:t>
            </a:r>
            <a:endParaRPr>
              <a:latin typeface="Inter"/>
              <a:ea typeface="Inter"/>
              <a:cs typeface="Inter"/>
              <a:sym typeface="Inter"/>
            </a:endParaRPr>
          </a:p>
          <a:p>
            <a:pPr marL="0" lvl="0" indent="0" algn="l" rtl="0">
              <a:spcBef>
                <a:spcPts val="0"/>
              </a:spcBef>
              <a:spcAft>
                <a:spcPts val="1200"/>
              </a:spcAft>
              <a:buNone/>
            </a:pPr>
            <a:endParaRPr>
              <a:latin typeface="Inter"/>
              <a:ea typeface="Inter"/>
              <a:cs typeface="Inter"/>
              <a:sym typeface="Inter"/>
            </a:endParaRPr>
          </a:p>
        </p:txBody>
      </p:sp>
      <p:sp>
        <p:nvSpPr>
          <p:cNvPr id="181" name="Google Shape;181;p25"/>
          <p:cNvSpPr txBox="1">
            <a:spLocks noGrp="1"/>
          </p:cNvSpPr>
          <p:nvPr>
            <p:ph type="title"/>
          </p:nvPr>
        </p:nvSpPr>
        <p:spPr>
          <a:xfrm>
            <a:off x="7077300" y="132275"/>
            <a:ext cx="1795200" cy="486600"/>
          </a:xfrm>
          <a:prstGeom prst="rect">
            <a:avLst/>
          </a:prstGeom>
          <a:solidFill>
            <a:srgbClr val="B6D7A8"/>
          </a:solidFill>
        </p:spPr>
        <p:txBody>
          <a:bodyPr spcFirstLastPara="1" wrap="square" lIns="91425" tIns="91425" rIns="91425" bIns="91425" anchor="t" anchorCtr="0">
            <a:noAutofit/>
          </a:bodyPr>
          <a:lstStyle/>
          <a:p>
            <a:pPr marL="0" marR="0" lvl="0" indent="0" algn="ctr" rtl="0">
              <a:lnSpc>
                <a:spcPct val="100000"/>
              </a:lnSpc>
              <a:spcBef>
                <a:spcPts val="0"/>
              </a:spcBef>
              <a:spcAft>
                <a:spcPts val="0"/>
              </a:spcAft>
              <a:buSzPts val="990"/>
              <a:buNone/>
            </a:pPr>
            <a:r>
              <a:rPr lang="en" sz="1720">
                <a:latin typeface="Manrope"/>
                <a:ea typeface="Manrope"/>
                <a:cs typeface="Manrope"/>
                <a:sym typeface="Manrope"/>
              </a:rPr>
              <a:t>Installation</a:t>
            </a:r>
            <a:endParaRPr sz="1720">
              <a:latin typeface="Manrope"/>
              <a:ea typeface="Manrope"/>
              <a:cs typeface="Manrope"/>
              <a:sym typeface="Manrope"/>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6"/>
          <p:cNvSpPr txBox="1">
            <a:spLocks noGrp="1"/>
          </p:cNvSpPr>
          <p:nvPr>
            <p:ph type="title"/>
          </p:nvPr>
        </p:nvSpPr>
        <p:spPr>
          <a:xfrm>
            <a:off x="201800" y="132275"/>
            <a:ext cx="7051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800" b="1">
                <a:latin typeface="Manrope"/>
                <a:ea typeface="Manrope"/>
                <a:cs typeface="Manrope"/>
                <a:sym typeface="Manrope"/>
              </a:rPr>
              <a:t>Stage 11: Production CMC Installation (Main Construction)</a:t>
            </a:r>
            <a:endParaRPr sz="1800" b="1">
              <a:latin typeface="Manrope"/>
              <a:ea typeface="Manrope"/>
              <a:cs typeface="Manrope"/>
              <a:sym typeface="Manrope"/>
            </a:endParaRPr>
          </a:p>
        </p:txBody>
      </p:sp>
      <p:sp>
        <p:nvSpPr>
          <p:cNvPr id="187" name="Google Shape;187;p26"/>
          <p:cNvSpPr txBox="1">
            <a:spLocks noGrp="1"/>
          </p:cNvSpPr>
          <p:nvPr>
            <p:ph type="body" idx="1"/>
          </p:nvPr>
        </p:nvSpPr>
        <p:spPr>
          <a:xfrm>
            <a:off x="201800" y="775863"/>
            <a:ext cx="8280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000">
                <a:solidFill>
                  <a:schemeClr val="dk1"/>
                </a:solidFill>
                <a:latin typeface="Inter"/>
                <a:ea typeface="Inter"/>
                <a:cs typeface="Inter"/>
                <a:sym typeface="Inter"/>
              </a:rPr>
              <a:t>Install the full production set of columns per design and method statement. This is where disciplined data capture is critical.</a:t>
            </a:r>
            <a:endParaRPr sz="1000">
              <a:solidFill>
                <a:schemeClr val="dk1"/>
              </a:solidFill>
              <a:latin typeface="Inter"/>
              <a:ea typeface="Inter"/>
              <a:cs typeface="Inter"/>
              <a:sym typeface="Inter"/>
            </a:endParaRPr>
          </a:p>
        </p:txBody>
      </p:sp>
      <p:sp>
        <p:nvSpPr>
          <p:cNvPr id="188" name="Google Shape;188;p26"/>
          <p:cNvSpPr/>
          <p:nvPr/>
        </p:nvSpPr>
        <p:spPr>
          <a:xfrm rot="-5400000">
            <a:off x="5129125" y="608800"/>
            <a:ext cx="3455700" cy="4574100"/>
          </a:xfrm>
          <a:prstGeom prst="round1Rect">
            <a:avLst>
              <a:gd name="adj" fmla="val 8032"/>
            </a:avLst>
          </a:prstGeom>
          <a:solidFill>
            <a:schemeClr val="lt2"/>
          </a:solidFill>
          <a:ln>
            <a:noFill/>
          </a:ln>
          <a:effectLst>
            <a:outerShdw blurRad="171450" dist="114300" dir="13440000" algn="bl" rotWithShape="0">
              <a:schemeClr val="dk1">
                <a:alpha val="392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Nunito Light"/>
              <a:ea typeface="Nunito Light"/>
              <a:cs typeface="Nunito Light"/>
              <a:sym typeface="Nunito Light"/>
            </a:endParaRPr>
          </a:p>
        </p:txBody>
      </p:sp>
      <p:sp>
        <p:nvSpPr>
          <p:cNvPr id="189" name="Google Shape;189;p26"/>
          <p:cNvSpPr txBox="1">
            <a:spLocks noGrp="1"/>
          </p:cNvSpPr>
          <p:nvPr>
            <p:ph type="body" idx="1"/>
          </p:nvPr>
        </p:nvSpPr>
        <p:spPr>
          <a:xfrm>
            <a:off x="5037275" y="1419438"/>
            <a:ext cx="35607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2000">
                <a:solidFill>
                  <a:schemeClr val="dk1"/>
                </a:solidFill>
                <a:latin typeface="Inter"/>
                <a:ea typeface="Inter"/>
                <a:cs typeface="Inter"/>
                <a:sym typeface="Inter"/>
              </a:rPr>
              <a:t>DIGGS - </a:t>
            </a:r>
            <a:r>
              <a:rPr lang="en" sz="2000">
                <a:solidFill>
                  <a:srgbClr val="CC4125"/>
                </a:solidFill>
                <a:latin typeface="Inter"/>
                <a:ea typeface="Inter"/>
                <a:cs typeface="Inter"/>
                <a:sym typeface="Inter"/>
              </a:rPr>
              <a:t>Feature</a:t>
            </a:r>
            <a:endParaRPr sz="2000">
              <a:solidFill>
                <a:srgbClr val="CC4125"/>
              </a:solidFill>
              <a:latin typeface="Inter"/>
              <a:ea typeface="Inter"/>
              <a:cs typeface="Inter"/>
              <a:sym typeface="Inter"/>
            </a:endParaRPr>
          </a:p>
        </p:txBody>
      </p:sp>
      <p:sp>
        <p:nvSpPr>
          <p:cNvPr id="190" name="Google Shape;190;p26"/>
          <p:cNvSpPr txBox="1">
            <a:spLocks noGrp="1"/>
          </p:cNvSpPr>
          <p:nvPr>
            <p:ph type="body" idx="1"/>
          </p:nvPr>
        </p:nvSpPr>
        <p:spPr>
          <a:xfrm>
            <a:off x="201800" y="1328550"/>
            <a:ext cx="4356600" cy="31959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None/>
            </a:pPr>
            <a:r>
              <a:rPr lang="en" sz="1100" b="1">
                <a:solidFill>
                  <a:schemeClr val="dk1"/>
                </a:solidFill>
                <a:latin typeface="Inter"/>
                <a:ea typeface="Inter"/>
                <a:cs typeface="Inter"/>
                <a:sym typeface="Inter"/>
              </a:rPr>
              <a:t>Report at end of stage (key parameters):</a:t>
            </a:r>
            <a:endParaRPr sz="1100" b="1">
              <a:solidFill>
                <a:schemeClr val="dk1"/>
              </a:solidFill>
              <a:latin typeface="Inter"/>
              <a:ea typeface="Inter"/>
              <a:cs typeface="Inter"/>
              <a:sym typeface="Inter"/>
            </a:endParaRPr>
          </a:p>
          <a:p>
            <a:pPr marL="0" lvl="0" indent="0" algn="l" rtl="0">
              <a:spcBef>
                <a:spcPts val="1200"/>
              </a:spcBef>
              <a:spcAft>
                <a:spcPts val="0"/>
              </a:spcAft>
              <a:buNone/>
            </a:pPr>
            <a:r>
              <a:rPr lang="en" sz="1100" b="1">
                <a:solidFill>
                  <a:srgbClr val="0000FF"/>
                </a:solidFill>
                <a:latin typeface="Inter"/>
                <a:ea typeface="Inter"/>
                <a:cs typeface="Inter"/>
                <a:sym typeface="Inter"/>
              </a:rPr>
              <a:t>Production summary statistics (weekly/end-of-stage):</a:t>
            </a:r>
            <a:endParaRPr sz="1100" b="1">
              <a:solidFill>
                <a:srgbClr val="0000FF"/>
              </a:solidFill>
              <a:latin typeface="Inter"/>
              <a:ea typeface="Inter"/>
              <a:cs typeface="Inter"/>
              <a:sym typeface="Inter"/>
            </a:endParaRPr>
          </a:p>
          <a:p>
            <a:pPr marL="457200" lvl="0" indent="-298450" algn="l" rtl="0">
              <a:spcBef>
                <a:spcPts val="1200"/>
              </a:spcBef>
              <a:spcAft>
                <a:spcPts val="0"/>
              </a:spcAft>
              <a:buClr>
                <a:schemeClr val="dk1"/>
              </a:buClr>
              <a:buSzPts val="1100"/>
              <a:buFont typeface="Inter"/>
              <a:buChar char="●"/>
            </a:pPr>
            <a:r>
              <a:rPr lang="en" sz="1100">
                <a:solidFill>
                  <a:schemeClr val="dk1"/>
                </a:solidFill>
                <a:latin typeface="Inter"/>
                <a:ea typeface="Inter"/>
                <a:cs typeface="Inter"/>
                <a:sym typeface="Inter"/>
              </a:rPr>
              <a:t>Total columns installed vs planned</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 meeting each acceptance criterion</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List of exceptions + resolutions</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Material consumption totals and trends</a:t>
            </a:r>
            <a:endParaRPr sz="1100" b="1">
              <a:solidFill>
                <a:srgbClr val="FF0000"/>
              </a:solidFill>
              <a:latin typeface="Inter"/>
              <a:ea typeface="Inter"/>
              <a:cs typeface="Inter"/>
              <a:sym typeface="Inter"/>
            </a:endParaRPr>
          </a:p>
          <a:p>
            <a:pPr marL="0" lvl="0" indent="0" algn="l" rtl="0">
              <a:spcBef>
                <a:spcPts val="1200"/>
              </a:spcBef>
              <a:spcAft>
                <a:spcPts val="1200"/>
              </a:spcAft>
              <a:buNone/>
            </a:pPr>
            <a:endParaRPr sz="1100">
              <a:latin typeface="Inter"/>
              <a:ea typeface="Inter"/>
              <a:cs typeface="Inter"/>
              <a:sym typeface="Inter"/>
            </a:endParaRPr>
          </a:p>
        </p:txBody>
      </p:sp>
      <p:sp>
        <p:nvSpPr>
          <p:cNvPr id="191" name="Google Shape;191;p26"/>
          <p:cNvSpPr txBox="1">
            <a:spLocks noGrp="1"/>
          </p:cNvSpPr>
          <p:nvPr>
            <p:ph type="body" idx="1"/>
          </p:nvPr>
        </p:nvSpPr>
        <p:spPr>
          <a:xfrm>
            <a:off x="5037275" y="1880463"/>
            <a:ext cx="4356600" cy="5727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0"/>
              </a:spcAft>
              <a:buNone/>
            </a:pPr>
            <a:r>
              <a:rPr lang="en">
                <a:latin typeface="Inter"/>
                <a:ea typeface="Inter"/>
                <a:cs typeface="Inter"/>
                <a:sym typeface="Inter"/>
              </a:rPr>
              <a:t>&lt;name attribute=“attribute value”&gt;value&lt;/name&gt;</a:t>
            </a:r>
            <a:endParaRPr>
              <a:latin typeface="Inter"/>
              <a:ea typeface="Inter"/>
              <a:cs typeface="Inter"/>
              <a:sym typeface="Inter"/>
            </a:endParaRPr>
          </a:p>
          <a:p>
            <a:pPr marL="0" lvl="0" indent="0" algn="l" rtl="0">
              <a:spcBef>
                <a:spcPts val="0"/>
              </a:spcBef>
              <a:spcAft>
                <a:spcPts val="1200"/>
              </a:spcAft>
              <a:buNone/>
            </a:pPr>
            <a:endParaRPr>
              <a:latin typeface="Inter"/>
              <a:ea typeface="Inter"/>
              <a:cs typeface="Inter"/>
              <a:sym typeface="Inter"/>
            </a:endParaRPr>
          </a:p>
        </p:txBody>
      </p:sp>
      <p:sp>
        <p:nvSpPr>
          <p:cNvPr id="192" name="Google Shape;192;p26"/>
          <p:cNvSpPr txBox="1">
            <a:spLocks noGrp="1"/>
          </p:cNvSpPr>
          <p:nvPr>
            <p:ph type="title"/>
          </p:nvPr>
        </p:nvSpPr>
        <p:spPr>
          <a:xfrm>
            <a:off x="7077300" y="132275"/>
            <a:ext cx="1795200" cy="486600"/>
          </a:xfrm>
          <a:prstGeom prst="rect">
            <a:avLst/>
          </a:prstGeom>
          <a:solidFill>
            <a:srgbClr val="B6D7A8"/>
          </a:solidFill>
        </p:spPr>
        <p:txBody>
          <a:bodyPr spcFirstLastPara="1" wrap="square" lIns="91425" tIns="91425" rIns="91425" bIns="91425" anchor="t" anchorCtr="0">
            <a:noAutofit/>
          </a:bodyPr>
          <a:lstStyle/>
          <a:p>
            <a:pPr marL="0" marR="0" lvl="0" indent="0" algn="ctr" rtl="0">
              <a:lnSpc>
                <a:spcPct val="100000"/>
              </a:lnSpc>
              <a:spcBef>
                <a:spcPts val="0"/>
              </a:spcBef>
              <a:spcAft>
                <a:spcPts val="0"/>
              </a:spcAft>
              <a:buSzPts val="990"/>
              <a:buNone/>
            </a:pPr>
            <a:r>
              <a:rPr lang="en" sz="1720">
                <a:latin typeface="Manrope"/>
                <a:ea typeface="Manrope"/>
                <a:cs typeface="Manrope"/>
                <a:sym typeface="Manrope"/>
              </a:rPr>
              <a:t>Installation</a:t>
            </a:r>
            <a:endParaRPr sz="1720">
              <a:latin typeface="Manrope"/>
              <a:ea typeface="Manrope"/>
              <a:cs typeface="Manrope"/>
              <a:sym typeface="Manrope"/>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7"/>
          <p:cNvSpPr txBox="1">
            <a:spLocks noGrp="1"/>
          </p:cNvSpPr>
          <p:nvPr>
            <p:ph type="title"/>
          </p:nvPr>
        </p:nvSpPr>
        <p:spPr>
          <a:xfrm>
            <a:off x="201800" y="132275"/>
            <a:ext cx="7051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800" b="1">
                <a:latin typeface="Manrope"/>
                <a:ea typeface="Manrope"/>
                <a:cs typeface="Manrope"/>
                <a:sym typeface="Manrope"/>
              </a:rPr>
              <a:t>Stage 12: Column Head Treatment (Caps) and Platform Interface Works</a:t>
            </a:r>
            <a:endParaRPr sz="1800" b="1">
              <a:latin typeface="Manrope"/>
              <a:ea typeface="Manrope"/>
              <a:cs typeface="Manrope"/>
              <a:sym typeface="Manrope"/>
            </a:endParaRPr>
          </a:p>
        </p:txBody>
      </p:sp>
      <p:sp>
        <p:nvSpPr>
          <p:cNvPr id="198" name="Google Shape;198;p27"/>
          <p:cNvSpPr txBox="1">
            <a:spLocks noGrp="1"/>
          </p:cNvSpPr>
          <p:nvPr>
            <p:ph type="body" idx="1"/>
          </p:nvPr>
        </p:nvSpPr>
        <p:spPr>
          <a:xfrm>
            <a:off x="201800" y="775863"/>
            <a:ext cx="8280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000">
                <a:solidFill>
                  <a:srgbClr val="FF0000"/>
                </a:solidFill>
                <a:latin typeface="Inter"/>
                <a:ea typeface="Inter"/>
                <a:cs typeface="Inter"/>
                <a:sym typeface="Inter"/>
              </a:rPr>
              <a:t>Caps </a:t>
            </a:r>
            <a:r>
              <a:rPr lang="en" sz="1000">
                <a:solidFill>
                  <a:schemeClr val="dk1"/>
                </a:solidFill>
                <a:latin typeface="Inter"/>
                <a:ea typeface="Inter"/>
                <a:cs typeface="Inter"/>
                <a:sym typeface="Inter"/>
              </a:rPr>
              <a:t>or Trim/cut columns to level, protect heads if needed, and prepare for LTP placement.</a:t>
            </a:r>
            <a:endParaRPr sz="1000">
              <a:solidFill>
                <a:schemeClr val="dk1"/>
              </a:solidFill>
              <a:latin typeface="Inter"/>
              <a:ea typeface="Inter"/>
              <a:cs typeface="Inter"/>
              <a:sym typeface="Inter"/>
            </a:endParaRPr>
          </a:p>
        </p:txBody>
      </p:sp>
      <p:sp>
        <p:nvSpPr>
          <p:cNvPr id="199" name="Google Shape;199;p27"/>
          <p:cNvSpPr/>
          <p:nvPr/>
        </p:nvSpPr>
        <p:spPr>
          <a:xfrm rot="-5400000">
            <a:off x="5129125" y="608800"/>
            <a:ext cx="3455700" cy="4574100"/>
          </a:xfrm>
          <a:prstGeom prst="round1Rect">
            <a:avLst>
              <a:gd name="adj" fmla="val 8032"/>
            </a:avLst>
          </a:prstGeom>
          <a:solidFill>
            <a:schemeClr val="lt2"/>
          </a:solidFill>
          <a:ln>
            <a:noFill/>
          </a:ln>
          <a:effectLst>
            <a:outerShdw blurRad="171450" dist="114300" dir="13440000" algn="bl" rotWithShape="0">
              <a:schemeClr val="dk1">
                <a:alpha val="392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Nunito Light"/>
              <a:ea typeface="Nunito Light"/>
              <a:cs typeface="Nunito Light"/>
              <a:sym typeface="Nunito Light"/>
            </a:endParaRPr>
          </a:p>
        </p:txBody>
      </p:sp>
      <p:sp>
        <p:nvSpPr>
          <p:cNvPr id="200" name="Google Shape;200;p27"/>
          <p:cNvSpPr txBox="1">
            <a:spLocks noGrp="1"/>
          </p:cNvSpPr>
          <p:nvPr>
            <p:ph type="body" idx="1"/>
          </p:nvPr>
        </p:nvSpPr>
        <p:spPr>
          <a:xfrm>
            <a:off x="5037275" y="1419438"/>
            <a:ext cx="35607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2000">
                <a:solidFill>
                  <a:schemeClr val="dk1"/>
                </a:solidFill>
                <a:latin typeface="Inter"/>
                <a:ea typeface="Inter"/>
                <a:cs typeface="Inter"/>
                <a:sym typeface="Inter"/>
              </a:rPr>
              <a:t>DIGGS - </a:t>
            </a:r>
            <a:r>
              <a:rPr lang="en" sz="2000">
                <a:solidFill>
                  <a:srgbClr val="CC4125"/>
                </a:solidFill>
                <a:latin typeface="Inter"/>
                <a:ea typeface="Inter"/>
                <a:cs typeface="Inter"/>
                <a:sym typeface="Inter"/>
              </a:rPr>
              <a:t>Feature</a:t>
            </a:r>
            <a:endParaRPr sz="2000">
              <a:solidFill>
                <a:srgbClr val="CC4125"/>
              </a:solidFill>
              <a:latin typeface="Inter"/>
              <a:ea typeface="Inter"/>
              <a:cs typeface="Inter"/>
              <a:sym typeface="Inter"/>
            </a:endParaRPr>
          </a:p>
        </p:txBody>
      </p:sp>
      <p:sp>
        <p:nvSpPr>
          <p:cNvPr id="201" name="Google Shape;201;p27"/>
          <p:cNvSpPr txBox="1">
            <a:spLocks noGrp="1"/>
          </p:cNvSpPr>
          <p:nvPr>
            <p:ph type="body" idx="1"/>
          </p:nvPr>
        </p:nvSpPr>
        <p:spPr>
          <a:xfrm>
            <a:off x="201800" y="1328550"/>
            <a:ext cx="4356600" cy="31959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None/>
            </a:pPr>
            <a:r>
              <a:rPr lang="en" sz="1100" b="1">
                <a:solidFill>
                  <a:schemeClr val="dk1"/>
                </a:solidFill>
                <a:latin typeface="Inter"/>
                <a:ea typeface="Inter"/>
                <a:cs typeface="Inter"/>
                <a:sym typeface="Inter"/>
              </a:rPr>
              <a:t>Report at end of stage (key parameters):</a:t>
            </a:r>
            <a:endParaRPr sz="1100" b="1">
              <a:solidFill>
                <a:schemeClr val="dk1"/>
              </a:solidFill>
              <a:latin typeface="Inter"/>
              <a:ea typeface="Inter"/>
              <a:cs typeface="Inter"/>
              <a:sym typeface="Inter"/>
            </a:endParaRPr>
          </a:p>
          <a:p>
            <a:pPr marL="457200" lvl="0" indent="-298450" algn="l" rtl="0">
              <a:spcBef>
                <a:spcPts val="1200"/>
              </a:spcBef>
              <a:spcAft>
                <a:spcPts val="0"/>
              </a:spcAft>
              <a:buClr>
                <a:schemeClr val="dk1"/>
              </a:buClr>
              <a:buSzPts val="1100"/>
              <a:buFont typeface="Inter"/>
              <a:buChar char="●"/>
            </a:pPr>
            <a:r>
              <a:rPr lang="en" sz="1100">
                <a:solidFill>
                  <a:schemeClr val="dk1"/>
                </a:solidFill>
                <a:latin typeface="Inter"/>
                <a:ea typeface="Inter"/>
                <a:cs typeface="Inter"/>
                <a:sym typeface="Inter"/>
              </a:rPr>
              <a:t>Final head elevation distribution (as-built)</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Head condition and any repairs</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Confirmation of spacing tolerance / positional tolerance (survey)</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Any damaged columns and remediation steps</a:t>
            </a:r>
            <a:endParaRPr sz="1100">
              <a:solidFill>
                <a:schemeClr val="dk1"/>
              </a:solidFill>
              <a:latin typeface="Inter"/>
              <a:ea typeface="Inter"/>
              <a:cs typeface="Inter"/>
              <a:sym typeface="Inter"/>
            </a:endParaRPr>
          </a:p>
          <a:p>
            <a:pPr marL="457200" lvl="0" indent="-298450" algn="l" rtl="0">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Integrity tests (if any)</a:t>
            </a:r>
            <a:endParaRPr sz="1100">
              <a:solidFill>
                <a:schemeClr val="dk1"/>
              </a:solidFill>
              <a:latin typeface="Inter"/>
              <a:ea typeface="Inter"/>
              <a:cs typeface="Inter"/>
              <a:sym typeface="Inter"/>
            </a:endParaRPr>
          </a:p>
          <a:p>
            <a:pPr marL="0" lvl="0" indent="0" algn="l" rtl="0">
              <a:spcBef>
                <a:spcPts val="1200"/>
              </a:spcBef>
              <a:spcAft>
                <a:spcPts val="1200"/>
              </a:spcAft>
              <a:buNone/>
            </a:pPr>
            <a:endParaRPr sz="1100">
              <a:latin typeface="Inter"/>
              <a:ea typeface="Inter"/>
              <a:cs typeface="Inter"/>
              <a:sym typeface="Inter"/>
            </a:endParaRPr>
          </a:p>
        </p:txBody>
      </p:sp>
      <p:sp>
        <p:nvSpPr>
          <p:cNvPr id="202" name="Google Shape;202;p27"/>
          <p:cNvSpPr txBox="1">
            <a:spLocks noGrp="1"/>
          </p:cNvSpPr>
          <p:nvPr>
            <p:ph type="body" idx="1"/>
          </p:nvPr>
        </p:nvSpPr>
        <p:spPr>
          <a:xfrm>
            <a:off x="5037275" y="1880463"/>
            <a:ext cx="4356600" cy="5727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0"/>
              </a:spcAft>
              <a:buNone/>
            </a:pPr>
            <a:r>
              <a:rPr lang="en">
                <a:latin typeface="Inter"/>
                <a:ea typeface="Inter"/>
                <a:cs typeface="Inter"/>
                <a:sym typeface="Inter"/>
              </a:rPr>
              <a:t>&lt;name attribute=“attribute value”&gt;value&lt;/name&gt;</a:t>
            </a:r>
            <a:endParaRPr>
              <a:latin typeface="Inter"/>
              <a:ea typeface="Inter"/>
              <a:cs typeface="Inter"/>
              <a:sym typeface="Inter"/>
            </a:endParaRPr>
          </a:p>
          <a:p>
            <a:pPr marL="0" lvl="0" indent="0" algn="l" rtl="0">
              <a:spcBef>
                <a:spcPts val="0"/>
              </a:spcBef>
              <a:spcAft>
                <a:spcPts val="1200"/>
              </a:spcAft>
              <a:buNone/>
            </a:pPr>
            <a:endParaRPr>
              <a:latin typeface="Inter"/>
              <a:ea typeface="Inter"/>
              <a:cs typeface="Inter"/>
              <a:sym typeface="Inter"/>
            </a:endParaRPr>
          </a:p>
        </p:txBody>
      </p:sp>
      <p:sp>
        <p:nvSpPr>
          <p:cNvPr id="203" name="Google Shape;203;p27"/>
          <p:cNvSpPr txBox="1">
            <a:spLocks noGrp="1"/>
          </p:cNvSpPr>
          <p:nvPr>
            <p:ph type="title"/>
          </p:nvPr>
        </p:nvSpPr>
        <p:spPr>
          <a:xfrm>
            <a:off x="7077300" y="132275"/>
            <a:ext cx="1795200" cy="486600"/>
          </a:xfrm>
          <a:prstGeom prst="rect">
            <a:avLst/>
          </a:prstGeom>
          <a:solidFill>
            <a:srgbClr val="B6D7A8"/>
          </a:solidFill>
        </p:spPr>
        <p:txBody>
          <a:bodyPr spcFirstLastPara="1" wrap="square" lIns="91425" tIns="91425" rIns="91425" bIns="91425" anchor="t" anchorCtr="0">
            <a:noAutofit/>
          </a:bodyPr>
          <a:lstStyle/>
          <a:p>
            <a:pPr marL="0" marR="0" lvl="0" indent="0" algn="ctr" rtl="0">
              <a:lnSpc>
                <a:spcPct val="100000"/>
              </a:lnSpc>
              <a:spcBef>
                <a:spcPts val="0"/>
              </a:spcBef>
              <a:spcAft>
                <a:spcPts val="0"/>
              </a:spcAft>
              <a:buSzPts val="990"/>
              <a:buNone/>
            </a:pPr>
            <a:r>
              <a:rPr lang="en" sz="1720">
                <a:latin typeface="Manrope"/>
                <a:ea typeface="Manrope"/>
                <a:cs typeface="Manrope"/>
                <a:sym typeface="Manrope"/>
              </a:rPr>
              <a:t>Installation</a:t>
            </a:r>
            <a:endParaRPr sz="1720">
              <a:latin typeface="Manrope"/>
              <a:ea typeface="Manrope"/>
              <a:cs typeface="Manrope"/>
              <a:sym typeface="Manrope"/>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8"/>
          <p:cNvSpPr txBox="1">
            <a:spLocks noGrp="1"/>
          </p:cNvSpPr>
          <p:nvPr>
            <p:ph type="title"/>
          </p:nvPr>
        </p:nvSpPr>
        <p:spPr>
          <a:xfrm>
            <a:off x="201800" y="132275"/>
            <a:ext cx="7051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800" b="1">
                <a:latin typeface="Manrope"/>
                <a:ea typeface="Manrope"/>
                <a:cs typeface="Manrope"/>
                <a:sym typeface="Manrope"/>
              </a:rPr>
              <a:t>Stage 13: Load Transfer Platform (LTP) Construction</a:t>
            </a:r>
            <a:endParaRPr sz="1800" b="1">
              <a:latin typeface="Manrope"/>
              <a:ea typeface="Manrope"/>
              <a:cs typeface="Manrope"/>
              <a:sym typeface="Manrope"/>
            </a:endParaRPr>
          </a:p>
        </p:txBody>
      </p:sp>
      <p:sp>
        <p:nvSpPr>
          <p:cNvPr id="209" name="Google Shape;209;p28"/>
          <p:cNvSpPr txBox="1">
            <a:spLocks noGrp="1"/>
          </p:cNvSpPr>
          <p:nvPr>
            <p:ph type="body" idx="1"/>
          </p:nvPr>
        </p:nvSpPr>
        <p:spPr>
          <a:xfrm>
            <a:off x="201800" y="775863"/>
            <a:ext cx="8280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000">
                <a:solidFill>
                  <a:schemeClr val="dk1"/>
                </a:solidFill>
                <a:latin typeface="Inter"/>
                <a:ea typeface="Inter"/>
                <a:cs typeface="Inter"/>
                <a:sym typeface="Inter"/>
              </a:rPr>
              <a:t>Place and compact the granular LTP; install geogrid if designed. </a:t>
            </a:r>
            <a:endParaRPr sz="1000">
              <a:solidFill>
                <a:schemeClr val="dk1"/>
              </a:solidFill>
              <a:latin typeface="Inter"/>
              <a:ea typeface="Inter"/>
              <a:cs typeface="Inter"/>
              <a:sym typeface="Inter"/>
            </a:endParaRPr>
          </a:p>
        </p:txBody>
      </p:sp>
      <p:sp>
        <p:nvSpPr>
          <p:cNvPr id="210" name="Google Shape;210;p28"/>
          <p:cNvSpPr/>
          <p:nvPr/>
        </p:nvSpPr>
        <p:spPr>
          <a:xfrm rot="-5400000">
            <a:off x="5129125" y="608800"/>
            <a:ext cx="3455700" cy="4574100"/>
          </a:xfrm>
          <a:prstGeom prst="round1Rect">
            <a:avLst>
              <a:gd name="adj" fmla="val 8032"/>
            </a:avLst>
          </a:prstGeom>
          <a:solidFill>
            <a:schemeClr val="lt2"/>
          </a:solidFill>
          <a:ln>
            <a:noFill/>
          </a:ln>
          <a:effectLst>
            <a:outerShdw blurRad="171450" dist="114300" dir="13440000" algn="bl" rotWithShape="0">
              <a:schemeClr val="dk1">
                <a:alpha val="392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Nunito Light"/>
              <a:ea typeface="Nunito Light"/>
              <a:cs typeface="Nunito Light"/>
              <a:sym typeface="Nunito Light"/>
            </a:endParaRPr>
          </a:p>
        </p:txBody>
      </p:sp>
      <p:sp>
        <p:nvSpPr>
          <p:cNvPr id="211" name="Google Shape;211;p28"/>
          <p:cNvSpPr txBox="1">
            <a:spLocks noGrp="1"/>
          </p:cNvSpPr>
          <p:nvPr>
            <p:ph type="body" idx="1"/>
          </p:nvPr>
        </p:nvSpPr>
        <p:spPr>
          <a:xfrm>
            <a:off x="5037275" y="1419438"/>
            <a:ext cx="35607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2000">
                <a:solidFill>
                  <a:schemeClr val="dk1"/>
                </a:solidFill>
                <a:latin typeface="Inter"/>
                <a:ea typeface="Inter"/>
                <a:cs typeface="Inter"/>
                <a:sym typeface="Inter"/>
              </a:rPr>
              <a:t>DIGGS - </a:t>
            </a:r>
            <a:r>
              <a:rPr lang="en" sz="2000">
                <a:solidFill>
                  <a:srgbClr val="CC4125"/>
                </a:solidFill>
                <a:latin typeface="Inter"/>
                <a:ea typeface="Inter"/>
                <a:cs typeface="Inter"/>
                <a:sym typeface="Inter"/>
              </a:rPr>
              <a:t>Feature</a:t>
            </a:r>
            <a:endParaRPr sz="2000">
              <a:solidFill>
                <a:srgbClr val="CC4125"/>
              </a:solidFill>
              <a:latin typeface="Inter"/>
              <a:ea typeface="Inter"/>
              <a:cs typeface="Inter"/>
              <a:sym typeface="Inter"/>
            </a:endParaRPr>
          </a:p>
        </p:txBody>
      </p:sp>
      <p:sp>
        <p:nvSpPr>
          <p:cNvPr id="212" name="Google Shape;212;p28"/>
          <p:cNvSpPr txBox="1">
            <a:spLocks noGrp="1"/>
          </p:cNvSpPr>
          <p:nvPr>
            <p:ph type="body" idx="1"/>
          </p:nvPr>
        </p:nvSpPr>
        <p:spPr>
          <a:xfrm>
            <a:off x="201800" y="1328550"/>
            <a:ext cx="4356600" cy="31959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100" b="1">
                <a:solidFill>
                  <a:schemeClr val="dk1"/>
                </a:solidFill>
                <a:latin typeface="Inter"/>
                <a:ea typeface="Inter"/>
                <a:cs typeface="Inter"/>
                <a:sym typeface="Inter"/>
              </a:rPr>
              <a:t>Report at end of stage (key parameters):</a:t>
            </a:r>
            <a:endParaRPr sz="1100" b="1">
              <a:solidFill>
                <a:schemeClr val="dk1"/>
              </a:solidFill>
              <a:latin typeface="Inter"/>
              <a:ea typeface="Inter"/>
              <a:cs typeface="Inter"/>
              <a:sym typeface="Inter"/>
            </a:endParaRPr>
          </a:p>
          <a:p>
            <a:pPr marL="0" lvl="0" indent="0" algn="l" rtl="0">
              <a:spcBef>
                <a:spcPts val="1200"/>
              </a:spcBef>
              <a:spcAft>
                <a:spcPts val="0"/>
              </a:spcAft>
              <a:buNone/>
            </a:pPr>
            <a:r>
              <a:rPr lang="en" sz="1100">
                <a:solidFill>
                  <a:schemeClr val="dk1"/>
                </a:solidFill>
                <a:latin typeface="Inter"/>
                <a:ea typeface="Inter"/>
                <a:cs typeface="Inter"/>
                <a:sym typeface="Inter"/>
              </a:rPr>
              <a:t>LTP thickness (design vs as-built) and level survey results</a:t>
            </a:r>
            <a:endParaRPr sz="1100">
              <a:solidFill>
                <a:schemeClr val="dk1"/>
              </a:solidFill>
              <a:latin typeface="Inter"/>
              <a:ea typeface="Inter"/>
              <a:cs typeface="Inter"/>
              <a:sym typeface="Inter"/>
            </a:endParaRPr>
          </a:p>
          <a:p>
            <a:pPr marL="457200" lvl="0" indent="-298450" algn="l" rtl="0">
              <a:spcBef>
                <a:spcPts val="1200"/>
              </a:spcBef>
              <a:spcAft>
                <a:spcPts val="0"/>
              </a:spcAft>
              <a:buClr>
                <a:schemeClr val="dk1"/>
              </a:buClr>
              <a:buSzPts val="1100"/>
              <a:buFont typeface="Inter"/>
              <a:buChar char="●"/>
            </a:pPr>
            <a:r>
              <a:rPr lang="en" sz="1100">
                <a:solidFill>
                  <a:schemeClr val="dk1"/>
                </a:solidFill>
                <a:latin typeface="Inter"/>
                <a:ea typeface="Inter"/>
                <a:cs typeface="Inter"/>
                <a:sym typeface="Inter"/>
              </a:rPr>
              <a:t>Material certification:</a:t>
            </a:r>
            <a:endParaRPr sz="1100">
              <a:solidFill>
                <a:schemeClr val="dk1"/>
              </a:solidFill>
              <a:latin typeface="Inter"/>
              <a:ea typeface="Inter"/>
              <a:cs typeface="Inter"/>
              <a:sym typeface="Inter"/>
            </a:endParaRPr>
          </a:p>
          <a:p>
            <a:pPr marL="914400" lvl="1" indent="-298450" algn="l" rtl="0">
              <a:spcBef>
                <a:spcPts val="0"/>
              </a:spcBef>
              <a:spcAft>
                <a:spcPts val="0"/>
              </a:spcAft>
              <a:buClr>
                <a:schemeClr val="dk1"/>
              </a:buClr>
              <a:buSzPts val="1100"/>
              <a:buFont typeface="Inter"/>
              <a:buAutoNum type="alphaLcPeriod"/>
            </a:pPr>
            <a:r>
              <a:rPr lang="en" sz="1100">
                <a:solidFill>
                  <a:schemeClr val="dk1"/>
                </a:solidFill>
                <a:latin typeface="Inter"/>
                <a:ea typeface="Inter"/>
                <a:cs typeface="Inter"/>
                <a:sym typeface="Inter"/>
              </a:rPr>
              <a:t>Gradation</a:t>
            </a:r>
            <a:endParaRPr sz="1100">
              <a:solidFill>
                <a:schemeClr val="dk1"/>
              </a:solidFill>
              <a:latin typeface="Inter"/>
              <a:ea typeface="Inter"/>
              <a:cs typeface="Inter"/>
              <a:sym typeface="Inter"/>
            </a:endParaRPr>
          </a:p>
          <a:p>
            <a:pPr marL="914400" lvl="1" indent="-298450" algn="l" rtl="0">
              <a:spcBef>
                <a:spcPts val="0"/>
              </a:spcBef>
              <a:spcAft>
                <a:spcPts val="0"/>
              </a:spcAft>
              <a:buClr>
                <a:schemeClr val="dk1"/>
              </a:buClr>
              <a:buSzPts val="1100"/>
              <a:buFont typeface="Inter"/>
              <a:buAutoNum type="alphaLcPeriod"/>
            </a:pPr>
            <a:r>
              <a:rPr lang="en" sz="1100">
                <a:solidFill>
                  <a:schemeClr val="dk1"/>
                </a:solidFill>
                <a:latin typeface="Inter"/>
                <a:ea typeface="Inter"/>
                <a:cs typeface="Inter"/>
                <a:sym typeface="Inter"/>
              </a:rPr>
              <a:t>fines content</a:t>
            </a:r>
            <a:endParaRPr sz="1100">
              <a:solidFill>
                <a:schemeClr val="dk1"/>
              </a:solidFill>
              <a:latin typeface="Inter"/>
              <a:ea typeface="Inter"/>
              <a:cs typeface="Inter"/>
              <a:sym typeface="Inter"/>
            </a:endParaRPr>
          </a:p>
          <a:p>
            <a:pPr marL="914400" lvl="1" indent="-298450" algn="l" rtl="0">
              <a:spcBef>
                <a:spcPts val="0"/>
              </a:spcBef>
              <a:spcAft>
                <a:spcPts val="0"/>
              </a:spcAft>
              <a:buClr>
                <a:schemeClr val="dk1"/>
              </a:buClr>
              <a:buSzPts val="1100"/>
              <a:buFont typeface="Inter"/>
              <a:buAutoNum type="alphaLcPeriod"/>
            </a:pPr>
            <a:r>
              <a:rPr lang="en" sz="1100">
                <a:solidFill>
                  <a:schemeClr val="dk1"/>
                </a:solidFill>
                <a:latin typeface="Inter"/>
                <a:ea typeface="Inter"/>
                <a:cs typeface="Inter"/>
                <a:sym typeface="Inter"/>
              </a:rPr>
              <a:t>moisture content range</a:t>
            </a:r>
            <a:endParaRPr sz="1100">
              <a:solidFill>
                <a:schemeClr val="dk1"/>
              </a:solidFill>
              <a:latin typeface="Inter"/>
              <a:ea typeface="Inter"/>
              <a:cs typeface="Inter"/>
              <a:sym typeface="Inter"/>
            </a:endParaRPr>
          </a:p>
          <a:p>
            <a:pPr marL="914400" lvl="1" indent="-298450" algn="l" rtl="0">
              <a:spcBef>
                <a:spcPts val="0"/>
              </a:spcBef>
              <a:spcAft>
                <a:spcPts val="0"/>
              </a:spcAft>
              <a:buClr>
                <a:schemeClr val="dk1"/>
              </a:buClr>
              <a:buSzPts val="1100"/>
              <a:buFont typeface="Inter"/>
              <a:buAutoNum type="alphaLcPeriod"/>
            </a:pPr>
            <a:r>
              <a:rPr lang="en" sz="1100">
                <a:solidFill>
                  <a:schemeClr val="dk1"/>
                </a:solidFill>
                <a:latin typeface="Inter"/>
                <a:ea typeface="Inter"/>
                <a:cs typeface="Inter"/>
                <a:sym typeface="Inter"/>
              </a:rPr>
              <a:t>source and quality tickets</a:t>
            </a:r>
            <a:endParaRPr sz="1100">
              <a:solidFill>
                <a:schemeClr val="dk1"/>
              </a:solidFill>
              <a:latin typeface="Inter"/>
              <a:ea typeface="Inter"/>
              <a:cs typeface="Inter"/>
              <a:sym typeface="Inter"/>
            </a:endParaRPr>
          </a:p>
          <a:p>
            <a:pPr marL="914400" lvl="1" indent="-298450" algn="l" rtl="0">
              <a:spcBef>
                <a:spcPts val="0"/>
              </a:spcBef>
              <a:spcAft>
                <a:spcPts val="0"/>
              </a:spcAft>
              <a:buClr>
                <a:schemeClr val="dk1"/>
              </a:buClr>
              <a:buSzPts val="1100"/>
              <a:buFont typeface="Inter"/>
              <a:buAutoNum type="alphaLcPeriod"/>
            </a:pPr>
            <a:r>
              <a:rPr lang="en" sz="1100">
                <a:solidFill>
                  <a:schemeClr val="dk1"/>
                </a:solidFill>
                <a:latin typeface="Inter"/>
                <a:ea typeface="Inter"/>
                <a:cs typeface="Inter"/>
                <a:sym typeface="Inter"/>
              </a:rPr>
              <a:t>Compaction results:</a:t>
            </a:r>
            <a:endParaRPr sz="1100">
              <a:solidFill>
                <a:schemeClr val="dk1"/>
              </a:solidFill>
              <a:latin typeface="Inter"/>
              <a:ea typeface="Inter"/>
              <a:cs typeface="Inter"/>
              <a:sym typeface="Inter"/>
            </a:endParaRPr>
          </a:p>
          <a:p>
            <a:pPr marL="1371600" lvl="2" indent="-298450" algn="l" rtl="0">
              <a:spcBef>
                <a:spcPts val="0"/>
              </a:spcBef>
              <a:spcAft>
                <a:spcPts val="0"/>
              </a:spcAft>
              <a:buClr>
                <a:schemeClr val="dk1"/>
              </a:buClr>
              <a:buSzPts val="1100"/>
              <a:buFont typeface="Inter"/>
              <a:buAutoNum type="romanLcPeriod"/>
            </a:pPr>
            <a:r>
              <a:rPr lang="en" sz="1100">
                <a:solidFill>
                  <a:schemeClr val="dk1"/>
                </a:solidFill>
                <a:latin typeface="Inter"/>
                <a:ea typeface="Inter"/>
                <a:cs typeface="Inter"/>
                <a:sym typeface="Inter"/>
              </a:rPr>
              <a:t>target relative compaction (%MDD) or density index</a:t>
            </a:r>
            <a:endParaRPr sz="1100">
              <a:solidFill>
                <a:schemeClr val="dk1"/>
              </a:solidFill>
              <a:latin typeface="Inter"/>
              <a:ea typeface="Inter"/>
              <a:cs typeface="Inter"/>
              <a:sym typeface="Inter"/>
            </a:endParaRPr>
          </a:p>
          <a:p>
            <a:pPr marL="1371600" lvl="2" indent="-298450" algn="l" rtl="0">
              <a:spcBef>
                <a:spcPts val="0"/>
              </a:spcBef>
              <a:spcAft>
                <a:spcPts val="0"/>
              </a:spcAft>
              <a:buClr>
                <a:schemeClr val="dk1"/>
              </a:buClr>
              <a:buSzPts val="1100"/>
              <a:buFont typeface="Inter"/>
              <a:buAutoNum type="romanLcPeriod"/>
            </a:pPr>
            <a:r>
              <a:rPr lang="en" sz="1100">
                <a:solidFill>
                  <a:schemeClr val="dk1"/>
                </a:solidFill>
                <a:latin typeface="Inter"/>
                <a:ea typeface="Inter"/>
                <a:cs typeface="Inter"/>
                <a:sym typeface="Inter"/>
              </a:rPr>
              <a:t>in-place density tests (locations and results)</a:t>
            </a:r>
            <a:endParaRPr sz="1100">
              <a:solidFill>
                <a:schemeClr val="dk1"/>
              </a:solidFill>
              <a:latin typeface="Inter"/>
              <a:ea typeface="Inter"/>
              <a:cs typeface="Inter"/>
              <a:sym typeface="Inter"/>
            </a:endParaRPr>
          </a:p>
          <a:p>
            <a:pPr marL="457200" lvl="0" indent="-298450" algn="l" rtl="0">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Geogrid/geotextile details (if used): type, strength, overlap, placement photos</a:t>
            </a:r>
            <a:endParaRPr sz="1100">
              <a:solidFill>
                <a:schemeClr val="dk1"/>
              </a:solidFill>
              <a:latin typeface="Inter"/>
              <a:ea typeface="Inter"/>
              <a:cs typeface="Inter"/>
              <a:sym typeface="Inter"/>
            </a:endParaRPr>
          </a:p>
          <a:p>
            <a:pPr marL="457200" lvl="0" indent="-298450" algn="l" rtl="0">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Proof rolling/plate load test results if specified</a:t>
            </a:r>
            <a:endParaRPr sz="1100">
              <a:solidFill>
                <a:schemeClr val="dk1"/>
              </a:solidFill>
              <a:latin typeface="Inter"/>
              <a:ea typeface="Inter"/>
              <a:cs typeface="Inter"/>
              <a:sym typeface="Inter"/>
            </a:endParaRPr>
          </a:p>
          <a:p>
            <a:pPr marL="0" lvl="0" indent="0" algn="l" rtl="0">
              <a:spcBef>
                <a:spcPts val="1200"/>
              </a:spcBef>
              <a:spcAft>
                <a:spcPts val="1200"/>
              </a:spcAft>
              <a:buNone/>
            </a:pPr>
            <a:endParaRPr sz="1100">
              <a:latin typeface="Inter"/>
              <a:ea typeface="Inter"/>
              <a:cs typeface="Inter"/>
              <a:sym typeface="Inter"/>
            </a:endParaRPr>
          </a:p>
        </p:txBody>
      </p:sp>
      <p:sp>
        <p:nvSpPr>
          <p:cNvPr id="213" name="Google Shape;213;p28"/>
          <p:cNvSpPr txBox="1">
            <a:spLocks noGrp="1"/>
          </p:cNvSpPr>
          <p:nvPr>
            <p:ph type="body" idx="1"/>
          </p:nvPr>
        </p:nvSpPr>
        <p:spPr>
          <a:xfrm>
            <a:off x="5037275" y="1880463"/>
            <a:ext cx="4356600" cy="5727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0"/>
              </a:spcAft>
              <a:buNone/>
            </a:pPr>
            <a:r>
              <a:rPr lang="en">
                <a:latin typeface="Inter"/>
                <a:ea typeface="Inter"/>
                <a:cs typeface="Inter"/>
                <a:sym typeface="Inter"/>
              </a:rPr>
              <a:t>&lt;name attribute=“attribute value”&gt;value&lt;/name&gt;</a:t>
            </a:r>
            <a:endParaRPr>
              <a:latin typeface="Inter"/>
              <a:ea typeface="Inter"/>
              <a:cs typeface="Inter"/>
              <a:sym typeface="Inter"/>
            </a:endParaRPr>
          </a:p>
          <a:p>
            <a:pPr marL="0" lvl="0" indent="0" algn="l" rtl="0">
              <a:spcBef>
                <a:spcPts val="0"/>
              </a:spcBef>
              <a:spcAft>
                <a:spcPts val="1200"/>
              </a:spcAft>
              <a:buNone/>
            </a:pPr>
            <a:endParaRPr>
              <a:latin typeface="Inter"/>
              <a:ea typeface="Inter"/>
              <a:cs typeface="Inter"/>
              <a:sym typeface="Inter"/>
            </a:endParaRPr>
          </a:p>
        </p:txBody>
      </p:sp>
      <p:sp>
        <p:nvSpPr>
          <p:cNvPr id="214" name="Google Shape;214;p28"/>
          <p:cNvSpPr txBox="1">
            <a:spLocks noGrp="1"/>
          </p:cNvSpPr>
          <p:nvPr>
            <p:ph type="title"/>
          </p:nvPr>
        </p:nvSpPr>
        <p:spPr>
          <a:xfrm>
            <a:off x="7077300" y="132275"/>
            <a:ext cx="1795200" cy="486600"/>
          </a:xfrm>
          <a:prstGeom prst="rect">
            <a:avLst/>
          </a:prstGeom>
          <a:solidFill>
            <a:srgbClr val="B6D7A8"/>
          </a:solidFill>
        </p:spPr>
        <p:txBody>
          <a:bodyPr spcFirstLastPara="1" wrap="square" lIns="91425" tIns="91425" rIns="91425" bIns="91425" anchor="t" anchorCtr="0">
            <a:noAutofit/>
          </a:bodyPr>
          <a:lstStyle/>
          <a:p>
            <a:pPr marL="0" marR="0" lvl="0" indent="0" algn="ctr" rtl="0">
              <a:lnSpc>
                <a:spcPct val="100000"/>
              </a:lnSpc>
              <a:spcBef>
                <a:spcPts val="0"/>
              </a:spcBef>
              <a:spcAft>
                <a:spcPts val="0"/>
              </a:spcAft>
              <a:buSzPts val="990"/>
              <a:buNone/>
            </a:pPr>
            <a:r>
              <a:rPr lang="en" sz="1720">
                <a:latin typeface="Manrope"/>
                <a:ea typeface="Manrope"/>
                <a:cs typeface="Manrope"/>
                <a:sym typeface="Manrope"/>
              </a:rPr>
              <a:t>Installation</a:t>
            </a:r>
            <a:endParaRPr sz="1720">
              <a:latin typeface="Manrope"/>
              <a:ea typeface="Manrope"/>
              <a:cs typeface="Manrope"/>
              <a:sym typeface="Manrope"/>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29"/>
          <p:cNvSpPr txBox="1">
            <a:spLocks noGrp="1"/>
          </p:cNvSpPr>
          <p:nvPr>
            <p:ph type="ctrTitle"/>
          </p:nvPr>
        </p:nvSpPr>
        <p:spPr>
          <a:xfrm>
            <a:off x="-24" y="1062075"/>
            <a:ext cx="9144000" cy="2052600"/>
          </a:xfrm>
          <a:prstGeom prst="rect">
            <a:avLst/>
          </a:prstGeom>
          <a:solidFill>
            <a:srgbClr val="C9DAF8"/>
          </a:solidFill>
        </p:spPr>
        <p:txBody>
          <a:bodyPr spcFirstLastPara="1" wrap="square" lIns="91425" tIns="91425" rIns="91425" bIns="91425" anchor="b" anchorCtr="0">
            <a:normAutofit/>
          </a:bodyPr>
          <a:lstStyle/>
          <a:p>
            <a:pPr marL="457200" lvl="0" indent="0" algn="ctr" rtl="0">
              <a:spcBef>
                <a:spcPts val="0"/>
              </a:spcBef>
              <a:spcAft>
                <a:spcPts val="0"/>
              </a:spcAft>
              <a:buNone/>
            </a:pPr>
            <a:r>
              <a:rPr lang="en" sz="1720">
                <a:solidFill>
                  <a:srgbClr val="000000"/>
                </a:solidFill>
                <a:latin typeface="Manrope"/>
                <a:ea typeface="Manrope"/>
                <a:cs typeface="Manrope"/>
                <a:sym typeface="Manrope"/>
              </a:rPr>
              <a:t>C. </a:t>
            </a:r>
            <a:r>
              <a:rPr lang="en" sz="1720">
                <a:latin typeface="Manrope"/>
                <a:ea typeface="Manrope"/>
                <a:cs typeface="Manrope"/>
                <a:sym typeface="Manrope"/>
              </a:rPr>
              <a:t>Post-Installation</a:t>
            </a:r>
            <a:endParaRPr sz="1720">
              <a:latin typeface="Manrope"/>
              <a:ea typeface="Manrope"/>
              <a:cs typeface="Manrope"/>
              <a:sym typeface="Manrope"/>
            </a:endParaRPr>
          </a:p>
          <a:p>
            <a:pPr marL="0" lvl="0" indent="0" algn="l" rtl="0">
              <a:spcBef>
                <a:spcPts val="0"/>
              </a:spcBef>
              <a:spcAft>
                <a:spcPts val="0"/>
              </a:spcAft>
              <a:buNone/>
            </a:pPr>
            <a:endParaRPr/>
          </a:p>
        </p:txBody>
      </p:sp>
      <p:pic>
        <p:nvPicPr>
          <p:cNvPr id="220" name="Google Shape;220;p29"/>
          <p:cNvPicPr preferRelativeResize="0"/>
          <p:nvPr/>
        </p:nvPicPr>
        <p:blipFill rotWithShape="1">
          <a:blip r:embed="rId3">
            <a:alphaModFix/>
          </a:blip>
          <a:srcRect r="44781" b="69849"/>
          <a:stretch/>
        </p:blipFill>
        <p:spPr>
          <a:xfrm>
            <a:off x="2777938" y="3686400"/>
            <a:ext cx="2323225" cy="655924"/>
          </a:xfrm>
          <a:prstGeom prst="rect">
            <a:avLst/>
          </a:prstGeom>
          <a:noFill/>
          <a:ln>
            <a:noFill/>
          </a:ln>
        </p:spPr>
      </p:pic>
      <p:pic>
        <p:nvPicPr>
          <p:cNvPr id="221" name="Google Shape;221;p29"/>
          <p:cNvPicPr preferRelativeResize="0"/>
          <p:nvPr/>
        </p:nvPicPr>
        <p:blipFill>
          <a:blip r:embed="rId4">
            <a:alphaModFix/>
          </a:blip>
          <a:stretch>
            <a:fillRect/>
          </a:stretch>
        </p:blipFill>
        <p:spPr>
          <a:xfrm>
            <a:off x="5220637" y="3441637"/>
            <a:ext cx="1145425" cy="11454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30"/>
          <p:cNvSpPr txBox="1">
            <a:spLocks noGrp="1"/>
          </p:cNvSpPr>
          <p:nvPr>
            <p:ph type="title"/>
          </p:nvPr>
        </p:nvSpPr>
        <p:spPr>
          <a:xfrm>
            <a:off x="201800" y="132275"/>
            <a:ext cx="7051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800" b="1">
                <a:latin typeface="Manrope"/>
                <a:ea typeface="Manrope"/>
                <a:cs typeface="Manrope"/>
                <a:sym typeface="Manrope"/>
              </a:rPr>
              <a:t>Stage 14: Verification Testing Program</a:t>
            </a:r>
            <a:endParaRPr sz="1800" b="1">
              <a:latin typeface="Manrope"/>
              <a:ea typeface="Manrope"/>
              <a:cs typeface="Manrope"/>
              <a:sym typeface="Manrope"/>
            </a:endParaRPr>
          </a:p>
        </p:txBody>
      </p:sp>
      <p:sp>
        <p:nvSpPr>
          <p:cNvPr id="227" name="Google Shape;227;p30"/>
          <p:cNvSpPr txBox="1">
            <a:spLocks noGrp="1"/>
          </p:cNvSpPr>
          <p:nvPr>
            <p:ph type="body" idx="1"/>
          </p:nvPr>
        </p:nvSpPr>
        <p:spPr>
          <a:xfrm>
            <a:off x="128525" y="704963"/>
            <a:ext cx="8280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000">
                <a:solidFill>
                  <a:schemeClr val="dk1"/>
                </a:solidFill>
                <a:latin typeface="Inter"/>
                <a:ea typeface="Inter"/>
                <a:cs typeface="Inter"/>
                <a:sym typeface="Inter"/>
              </a:rPr>
              <a:t>Prove the system meets requirements. Typically combines “column quality” verification and “system performance” verification.</a:t>
            </a:r>
            <a:endParaRPr sz="1000">
              <a:solidFill>
                <a:schemeClr val="dk1"/>
              </a:solidFill>
              <a:latin typeface="Inter"/>
              <a:ea typeface="Inter"/>
              <a:cs typeface="Inter"/>
              <a:sym typeface="Inter"/>
            </a:endParaRPr>
          </a:p>
        </p:txBody>
      </p:sp>
      <p:sp>
        <p:nvSpPr>
          <p:cNvPr id="228" name="Google Shape;228;p30"/>
          <p:cNvSpPr/>
          <p:nvPr/>
        </p:nvSpPr>
        <p:spPr>
          <a:xfrm rot="-5400000">
            <a:off x="5129125" y="608800"/>
            <a:ext cx="3455700" cy="4574100"/>
          </a:xfrm>
          <a:prstGeom prst="round1Rect">
            <a:avLst>
              <a:gd name="adj" fmla="val 8032"/>
            </a:avLst>
          </a:prstGeom>
          <a:solidFill>
            <a:schemeClr val="lt2"/>
          </a:solidFill>
          <a:ln>
            <a:noFill/>
          </a:ln>
          <a:effectLst>
            <a:outerShdw blurRad="171450" dist="114300" dir="13440000" algn="bl" rotWithShape="0">
              <a:schemeClr val="dk1">
                <a:alpha val="392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Nunito Light"/>
              <a:ea typeface="Nunito Light"/>
              <a:cs typeface="Nunito Light"/>
              <a:sym typeface="Nunito Light"/>
            </a:endParaRPr>
          </a:p>
        </p:txBody>
      </p:sp>
      <p:sp>
        <p:nvSpPr>
          <p:cNvPr id="229" name="Google Shape;229;p30"/>
          <p:cNvSpPr txBox="1">
            <a:spLocks noGrp="1"/>
          </p:cNvSpPr>
          <p:nvPr>
            <p:ph type="body" idx="1"/>
          </p:nvPr>
        </p:nvSpPr>
        <p:spPr>
          <a:xfrm>
            <a:off x="5037275" y="1419438"/>
            <a:ext cx="35607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2000">
                <a:solidFill>
                  <a:schemeClr val="dk1"/>
                </a:solidFill>
                <a:latin typeface="Inter"/>
                <a:ea typeface="Inter"/>
                <a:cs typeface="Inter"/>
                <a:sym typeface="Inter"/>
              </a:rPr>
              <a:t>DIGGS - </a:t>
            </a:r>
            <a:r>
              <a:rPr lang="en" sz="2000">
                <a:solidFill>
                  <a:srgbClr val="CC4125"/>
                </a:solidFill>
                <a:latin typeface="Inter"/>
                <a:ea typeface="Inter"/>
                <a:cs typeface="Inter"/>
                <a:sym typeface="Inter"/>
              </a:rPr>
              <a:t>Feature</a:t>
            </a:r>
            <a:endParaRPr sz="2000">
              <a:solidFill>
                <a:srgbClr val="CC4125"/>
              </a:solidFill>
              <a:latin typeface="Inter"/>
              <a:ea typeface="Inter"/>
              <a:cs typeface="Inter"/>
              <a:sym typeface="Inter"/>
            </a:endParaRPr>
          </a:p>
        </p:txBody>
      </p:sp>
      <p:sp>
        <p:nvSpPr>
          <p:cNvPr id="230" name="Google Shape;230;p30"/>
          <p:cNvSpPr txBox="1">
            <a:spLocks noGrp="1"/>
          </p:cNvSpPr>
          <p:nvPr>
            <p:ph type="body" idx="1"/>
          </p:nvPr>
        </p:nvSpPr>
        <p:spPr>
          <a:xfrm>
            <a:off x="201800" y="1328550"/>
            <a:ext cx="4356600" cy="3195900"/>
          </a:xfrm>
          <a:prstGeom prst="rect">
            <a:avLst/>
          </a:prstGeom>
        </p:spPr>
        <p:txBody>
          <a:bodyPr spcFirstLastPara="1" wrap="square" lIns="91425" tIns="91425" rIns="91425" bIns="91425" anchor="t" anchorCtr="0">
            <a:noAutofit/>
          </a:bodyPr>
          <a:lstStyle/>
          <a:p>
            <a:pPr marL="0" lvl="0" indent="0" algn="l" rtl="0">
              <a:lnSpc>
                <a:spcPct val="105000"/>
              </a:lnSpc>
              <a:spcBef>
                <a:spcPts val="1200"/>
              </a:spcBef>
              <a:spcAft>
                <a:spcPts val="0"/>
              </a:spcAft>
              <a:buSzPts val="1018"/>
              <a:buNone/>
            </a:pPr>
            <a:r>
              <a:rPr lang="en" sz="1100" b="1">
                <a:solidFill>
                  <a:schemeClr val="dk1"/>
                </a:solidFill>
                <a:latin typeface="Inter"/>
                <a:ea typeface="Inter"/>
                <a:cs typeface="Inter"/>
                <a:sym typeface="Inter"/>
              </a:rPr>
              <a:t>Report at end of stage (key parameters):</a:t>
            </a:r>
            <a:endParaRPr sz="1100" b="1">
              <a:solidFill>
                <a:schemeClr val="dk1"/>
              </a:solidFill>
              <a:latin typeface="Inter"/>
              <a:ea typeface="Inter"/>
              <a:cs typeface="Inter"/>
              <a:sym typeface="Inter"/>
            </a:endParaRPr>
          </a:p>
          <a:p>
            <a:pPr marL="457200" lvl="0" indent="-298450" algn="l" rtl="0">
              <a:lnSpc>
                <a:spcPct val="105000"/>
              </a:lnSpc>
              <a:spcBef>
                <a:spcPts val="1200"/>
              </a:spcBef>
              <a:spcAft>
                <a:spcPts val="0"/>
              </a:spcAft>
              <a:buClr>
                <a:schemeClr val="dk1"/>
              </a:buClr>
              <a:buSzPts val="1100"/>
              <a:buFont typeface="Inter"/>
              <a:buChar char="●"/>
            </a:pPr>
            <a:r>
              <a:rPr lang="en" sz="1100">
                <a:solidFill>
                  <a:schemeClr val="dk1"/>
                </a:solidFill>
                <a:latin typeface="Inter"/>
                <a:ea typeface="Inter"/>
                <a:cs typeface="Inter"/>
                <a:sym typeface="Inter"/>
              </a:rPr>
              <a:t>Test matrix executed vs planned (type, number, locations)</a:t>
            </a:r>
            <a:endParaRPr sz="1100">
              <a:solidFill>
                <a:schemeClr val="dk1"/>
              </a:solidFill>
              <a:latin typeface="Inter"/>
              <a:ea typeface="Inter"/>
              <a:cs typeface="Inter"/>
              <a:sym typeface="Inter"/>
            </a:endParaRPr>
          </a:p>
          <a:p>
            <a:pPr marL="457200" lvl="0" indent="-298450" algn="l" rtl="0">
              <a:lnSpc>
                <a:spcPct val="105000"/>
              </a:lnSpc>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Column verification results (depending on spec/contractor method), such as:</a:t>
            </a:r>
            <a:endParaRPr sz="1100">
              <a:solidFill>
                <a:schemeClr val="dk1"/>
              </a:solidFill>
              <a:latin typeface="Inter"/>
              <a:ea typeface="Inter"/>
              <a:cs typeface="Inter"/>
              <a:sym typeface="Inter"/>
            </a:endParaRPr>
          </a:p>
          <a:p>
            <a:pPr marL="914400" lvl="1" indent="-298450" algn="l" rtl="0">
              <a:lnSpc>
                <a:spcPct val="105000"/>
              </a:lnSpc>
              <a:spcBef>
                <a:spcPts val="0"/>
              </a:spcBef>
              <a:spcAft>
                <a:spcPts val="0"/>
              </a:spcAft>
              <a:buClr>
                <a:schemeClr val="dk1"/>
              </a:buClr>
              <a:buSzPts val="1100"/>
              <a:buFont typeface="Inter"/>
              <a:buAutoNum type="alphaLcPeriod"/>
            </a:pPr>
            <a:r>
              <a:rPr lang="en" sz="1100">
                <a:solidFill>
                  <a:schemeClr val="dk1"/>
                </a:solidFill>
                <a:latin typeface="Inter"/>
                <a:ea typeface="Inter"/>
                <a:cs typeface="Inter"/>
                <a:sym typeface="Inter"/>
              </a:rPr>
              <a:t>coring results (diameter/continuity, material quality)</a:t>
            </a:r>
            <a:endParaRPr sz="1100">
              <a:solidFill>
                <a:schemeClr val="dk1"/>
              </a:solidFill>
              <a:latin typeface="Inter"/>
              <a:ea typeface="Inter"/>
              <a:cs typeface="Inter"/>
              <a:sym typeface="Inter"/>
            </a:endParaRPr>
          </a:p>
          <a:p>
            <a:pPr marL="914400" lvl="1" indent="-298450" algn="l" rtl="0">
              <a:lnSpc>
                <a:spcPct val="105000"/>
              </a:lnSpc>
              <a:spcBef>
                <a:spcPts val="0"/>
              </a:spcBef>
              <a:spcAft>
                <a:spcPts val="0"/>
              </a:spcAft>
              <a:buClr>
                <a:schemeClr val="dk1"/>
              </a:buClr>
              <a:buSzPts val="1100"/>
              <a:buFont typeface="Inter"/>
              <a:buAutoNum type="alphaLcPeriod"/>
            </a:pPr>
            <a:r>
              <a:rPr lang="en" sz="1100">
                <a:solidFill>
                  <a:schemeClr val="dk1"/>
                </a:solidFill>
                <a:latin typeface="Inter"/>
                <a:ea typeface="Inter"/>
                <a:cs typeface="Inter"/>
                <a:sym typeface="Inter"/>
              </a:rPr>
              <a:t>compressive strength test results (if samples/cubes are used)</a:t>
            </a:r>
            <a:endParaRPr sz="1100">
              <a:solidFill>
                <a:schemeClr val="dk1"/>
              </a:solidFill>
              <a:latin typeface="Inter"/>
              <a:ea typeface="Inter"/>
              <a:cs typeface="Inter"/>
              <a:sym typeface="Inter"/>
            </a:endParaRPr>
          </a:p>
          <a:p>
            <a:pPr marL="914400" lvl="1" indent="-298450" algn="l" rtl="0">
              <a:lnSpc>
                <a:spcPct val="105000"/>
              </a:lnSpc>
              <a:spcBef>
                <a:spcPts val="0"/>
              </a:spcBef>
              <a:spcAft>
                <a:spcPts val="0"/>
              </a:spcAft>
              <a:buClr>
                <a:schemeClr val="dk1"/>
              </a:buClr>
              <a:buSzPts val="1100"/>
              <a:buFont typeface="Inter"/>
              <a:buAutoNum type="alphaLcPeriod"/>
            </a:pPr>
            <a:r>
              <a:rPr lang="en" sz="1100">
                <a:solidFill>
                  <a:schemeClr val="dk1"/>
                </a:solidFill>
                <a:latin typeface="Inter"/>
                <a:ea typeface="Inter"/>
                <a:cs typeface="Inter"/>
                <a:sym typeface="Inter"/>
              </a:rPr>
              <a:t>integrity observations (method-dependent)</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lnSpc>
                <a:spcPct val="105000"/>
              </a:lnSpc>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Load testing (if specified):</a:t>
            </a:r>
            <a:endParaRPr sz="1100">
              <a:solidFill>
                <a:schemeClr val="dk1"/>
              </a:solidFill>
              <a:latin typeface="Inter"/>
              <a:ea typeface="Inter"/>
              <a:cs typeface="Inter"/>
              <a:sym typeface="Inter"/>
            </a:endParaRPr>
          </a:p>
          <a:p>
            <a:pPr marL="1371600" lvl="2" indent="-298450" algn="l" rtl="0">
              <a:lnSpc>
                <a:spcPct val="105000"/>
              </a:lnSpc>
              <a:spcBef>
                <a:spcPts val="0"/>
              </a:spcBef>
              <a:spcAft>
                <a:spcPts val="0"/>
              </a:spcAft>
              <a:buClr>
                <a:schemeClr val="dk1"/>
              </a:buClr>
              <a:buSzPts val="1100"/>
              <a:buFont typeface="Inter"/>
              <a:buAutoNum type="romanLcPeriod"/>
            </a:pPr>
            <a:r>
              <a:rPr lang="en" sz="1100">
                <a:solidFill>
                  <a:schemeClr val="dk1"/>
                </a:solidFill>
                <a:latin typeface="Inter"/>
                <a:ea typeface="Inter"/>
                <a:cs typeface="Inter"/>
                <a:sym typeface="Inter"/>
              </a:rPr>
              <a:t>column load tests or zone load tests</a:t>
            </a:r>
            <a:endParaRPr sz="1100">
              <a:solidFill>
                <a:schemeClr val="dk1"/>
              </a:solidFill>
              <a:latin typeface="Inter"/>
              <a:ea typeface="Inter"/>
              <a:cs typeface="Inter"/>
              <a:sym typeface="Inter"/>
            </a:endParaRPr>
          </a:p>
          <a:p>
            <a:pPr marL="1371600" lvl="2" indent="-298450" algn="l" rtl="0">
              <a:lnSpc>
                <a:spcPct val="105000"/>
              </a:lnSpc>
              <a:spcBef>
                <a:spcPts val="0"/>
              </a:spcBef>
              <a:spcAft>
                <a:spcPts val="0"/>
              </a:spcAft>
              <a:buClr>
                <a:schemeClr val="dk1"/>
              </a:buClr>
              <a:buSzPts val="1100"/>
              <a:buFont typeface="Inter"/>
              <a:buAutoNum type="romanLcPeriod"/>
            </a:pPr>
            <a:r>
              <a:rPr lang="en" sz="1100">
                <a:solidFill>
                  <a:schemeClr val="dk1"/>
                </a:solidFill>
                <a:latin typeface="Inter"/>
                <a:ea typeface="Inter"/>
                <a:cs typeface="Inter"/>
                <a:sym typeface="Inter"/>
              </a:rPr>
              <a:t>plate load tests on LTP (if required)</a:t>
            </a:r>
            <a:endParaRPr sz="1100">
              <a:solidFill>
                <a:schemeClr val="dk1"/>
              </a:solidFill>
              <a:latin typeface="Inter"/>
              <a:ea typeface="Inter"/>
              <a:cs typeface="Inter"/>
              <a:sym typeface="Inter"/>
            </a:endParaRPr>
          </a:p>
          <a:p>
            <a:pPr marL="1371600" lvl="2" indent="-298450" algn="l" rtl="0">
              <a:lnSpc>
                <a:spcPct val="105000"/>
              </a:lnSpc>
              <a:spcBef>
                <a:spcPts val="0"/>
              </a:spcBef>
              <a:spcAft>
                <a:spcPts val="0"/>
              </a:spcAft>
              <a:buClr>
                <a:schemeClr val="dk1"/>
              </a:buClr>
              <a:buSzPts val="1100"/>
              <a:buFont typeface="Inter"/>
              <a:buAutoNum type="romanLcPeriod"/>
            </a:pPr>
            <a:r>
              <a:rPr lang="en" sz="1100">
                <a:solidFill>
                  <a:schemeClr val="dk1"/>
                </a:solidFill>
                <a:latin typeface="Inter"/>
                <a:ea typeface="Inter"/>
                <a:cs typeface="Inter"/>
                <a:sym typeface="Inter"/>
              </a:rPr>
              <a:t>load–settlement curves, interpreted stiffness, acceptance statement</a:t>
            </a:r>
            <a:endParaRPr sz="1100">
              <a:solidFill>
                <a:schemeClr val="dk1"/>
              </a:solidFill>
              <a:latin typeface="Inter"/>
              <a:ea typeface="Inter"/>
              <a:cs typeface="Inter"/>
              <a:sym typeface="Inter"/>
            </a:endParaRPr>
          </a:p>
          <a:p>
            <a:pPr marL="457200" lvl="0" indent="-298450" algn="l" rtl="0">
              <a:lnSpc>
                <a:spcPct val="105000"/>
              </a:lnSpc>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Nonconformances + corrective works + retest outcomes</a:t>
            </a:r>
            <a:endParaRPr sz="1100">
              <a:solidFill>
                <a:schemeClr val="dk1"/>
              </a:solidFill>
              <a:latin typeface="Inter"/>
              <a:ea typeface="Inter"/>
              <a:cs typeface="Inter"/>
              <a:sym typeface="Inter"/>
            </a:endParaRPr>
          </a:p>
          <a:p>
            <a:pPr marL="0" lvl="0" indent="0" algn="l" rtl="0">
              <a:lnSpc>
                <a:spcPct val="105000"/>
              </a:lnSpc>
              <a:spcBef>
                <a:spcPts val="1200"/>
              </a:spcBef>
              <a:spcAft>
                <a:spcPts val="1200"/>
              </a:spcAft>
              <a:buSzPts val="1018"/>
              <a:buNone/>
            </a:pPr>
            <a:endParaRPr sz="1100">
              <a:latin typeface="Inter"/>
              <a:ea typeface="Inter"/>
              <a:cs typeface="Inter"/>
              <a:sym typeface="Inter"/>
            </a:endParaRPr>
          </a:p>
        </p:txBody>
      </p:sp>
      <p:sp>
        <p:nvSpPr>
          <p:cNvPr id="231" name="Google Shape;231;p30"/>
          <p:cNvSpPr txBox="1">
            <a:spLocks noGrp="1"/>
          </p:cNvSpPr>
          <p:nvPr>
            <p:ph type="body" idx="1"/>
          </p:nvPr>
        </p:nvSpPr>
        <p:spPr>
          <a:xfrm>
            <a:off x="5037275" y="1880463"/>
            <a:ext cx="4356600" cy="5727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0"/>
              </a:spcAft>
              <a:buNone/>
            </a:pPr>
            <a:r>
              <a:rPr lang="en">
                <a:latin typeface="Inter"/>
                <a:ea typeface="Inter"/>
                <a:cs typeface="Inter"/>
                <a:sym typeface="Inter"/>
              </a:rPr>
              <a:t>&lt;name attribute=“attribute value”&gt;value&lt;/name&gt;</a:t>
            </a:r>
            <a:endParaRPr>
              <a:latin typeface="Inter"/>
              <a:ea typeface="Inter"/>
              <a:cs typeface="Inter"/>
              <a:sym typeface="Inter"/>
            </a:endParaRPr>
          </a:p>
          <a:p>
            <a:pPr marL="0" lvl="0" indent="0" algn="l" rtl="0">
              <a:spcBef>
                <a:spcPts val="0"/>
              </a:spcBef>
              <a:spcAft>
                <a:spcPts val="1200"/>
              </a:spcAft>
              <a:buNone/>
            </a:pPr>
            <a:endParaRPr>
              <a:latin typeface="Inter"/>
              <a:ea typeface="Inter"/>
              <a:cs typeface="Inter"/>
              <a:sym typeface="Inter"/>
            </a:endParaRPr>
          </a:p>
        </p:txBody>
      </p:sp>
      <p:sp>
        <p:nvSpPr>
          <p:cNvPr id="232" name="Google Shape;232;p30"/>
          <p:cNvSpPr txBox="1">
            <a:spLocks noGrp="1"/>
          </p:cNvSpPr>
          <p:nvPr>
            <p:ph type="title"/>
          </p:nvPr>
        </p:nvSpPr>
        <p:spPr>
          <a:xfrm>
            <a:off x="6580925" y="218400"/>
            <a:ext cx="2310000" cy="486600"/>
          </a:xfrm>
          <a:prstGeom prst="rect">
            <a:avLst/>
          </a:prstGeom>
          <a:solidFill>
            <a:srgbClr val="C9DAF8"/>
          </a:solidFill>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 sz="1720">
                <a:latin typeface="Manrope"/>
                <a:ea typeface="Manrope"/>
                <a:cs typeface="Manrope"/>
                <a:sym typeface="Manrope"/>
              </a:rPr>
              <a:t>Post-Installation</a:t>
            </a:r>
            <a:endParaRPr sz="1720">
              <a:latin typeface="Manrope"/>
              <a:ea typeface="Manrope"/>
              <a:cs typeface="Manrope"/>
              <a:sym typeface="Manrope"/>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1"/>
          <p:cNvSpPr txBox="1">
            <a:spLocks noGrp="1"/>
          </p:cNvSpPr>
          <p:nvPr>
            <p:ph type="title"/>
          </p:nvPr>
        </p:nvSpPr>
        <p:spPr>
          <a:xfrm>
            <a:off x="201800" y="132275"/>
            <a:ext cx="7051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800" b="1">
                <a:latin typeface="Manrope"/>
                <a:ea typeface="Manrope"/>
                <a:cs typeface="Manrope"/>
                <a:sym typeface="Manrope"/>
              </a:rPr>
              <a:t>Stage 15: </a:t>
            </a:r>
            <a:r>
              <a:rPr lang="en" sz="1700" b="1"/>
              <a:t>Performance Monitoring and Final Acceptance</a:t>
            </a:r>
            <a:endParaRPr sz="1700" b="1"/>
          </a:p>
          <a:p>
            <a:pPr marL="0" lvl="0" indent="0" algn="l" rtl="0">
              <a:spcBef>
                <a:spcPts val="0"/>
              </a:spcBef>
              <a:spcAft>
                <a:spcPts val="0"/>
              </a:spcAft>
              <a:buSzPts val="990"/>
              <a:buNone/>
            </a:pPr>
            <a:endParaRPr sz="1800" b="1">
              <a:latin typeface="Manrope"/>
              <a:ea typeface="Manrope"/>
              <a:cs typeface="Manrope"/>
              <a:sym typeface="Manrope"/>
            </a:endParaRPr>
          </a:p>
        </p:txBody>
      </p:sp>
      <p:sp>
        <p:nvSpPr>
          <p:cNvPr id="238" name="Google Shape;238;p31"/>
          <p:cNvSpPr txBox="1">
            <a:spLocks noGrp="1"/>
          </p:cNvSpPr>
          <p:nvPr>
            <p:ph type="body" idx="1"/>
          </p:nvPr>
        </p:nvSpPr>
        <p:spPr>
          <a:xfrm>
            <a:off x="128525" y="704963"/>
            <a:ext cx="8280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000">
                <a:solidFill>
                  <a:schemeClr val="dk1"/>
                </a:solidFill>
                <a:latin typeface="Inter"/>
                <a:ea typeface="Inter"/>
                <a:cs typeface="Inter"/>
                <a:sym typeface="Inter"/>
              </a:rPr>
              <a:t>Confirm the system performs as expected under construction loads and/or early service loads (especially for embankments).</a:t>
            </a:r>
            <a:endParaRPr sz="1000">
              <a:solidFill>
                <a:schemeClr val="dk1"/>
              </a:solidFill>
              <a:latin typeface="Inter"/>
              <a:ea typeface="Inter"/>
              <a:cs typeface="Inter"/>
              <a:sym typeface="Inter"/>
            </a:endParaRPr>
          </a:p>
        </p:txBody>
      </p:sp>
      <p:sp>
        <p:nvSpPr>
          <p:cNvPr id="239" name="Google Shape;239;p31"/>
          <p:cNvSpPr/>
          <p:nvPr/>
        </p:nvSpPr>
        <p:spPr>
          <a:xfrm rot="-5400000">
            <a:off x="5129125" y="608800"/>
            <a:ext cx="3455700" cy="4574100"/>
          </a:xfrm>
          <a:prstGeom prst="round1Rect">
            <a:avLst>
              <a:gd name="adj" fmla="val 8032"/>
            </a:avLst>
          </a:prstGeom>
          <a:solidFill>
            <a:schemeClr val="lt2"/>
          </a:solidFill>
          <a:ln>
            <a:noFill/>
          </a:ln>
          <a:effectLst>
            <a:outerShdw blurRad="171450" dist="114300" dir="13440000" algn="bl" rotWithShape="0">
              <a:schemeClr val="dk1">
                <a:alpha val="392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Nunito Light"/>
              <a:ea typeface="Nunito Light"/>
              <a:cs typeface="Nunito Light"/>
              <a:sym typeface="Nunito Light"/>
            </a:endParaRPr>
          </a:p>
        </p:txBody>
      </p:sp>
      <p:sp>
        <p:nvSpPr>
          <p:cNvPr id="240" name="Google Shape;240;p31"/>
          <p:cNvSpPr txBox="1">
            <a:spLocks noGrp="1"/>
          </p:cNvSpPr>
          <p:nvPr>
            <p:ph type="body" idx="1"/>
          </p:nvPr>
        </p:nvSpPr>
        <p:spPr>
          <a:xfrm>
            <a:off x="5037275" y="1419438"/>
            <a:ext cx="35607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2000">
                <a:solidFill>
                  <a:schemeClr val="dk1"/>
                </a:solidFill>
                <a:latin typeface="Inter"/>
                <a:ea typeface="Inter"/>
                <a:cs typeface="Inter"/>
                <a:sym typeface="Inter"/>
              </a:rPr>
              <a:t>DIGGS - </a:t>
            </a:r>
            <a:r>
              <a:rPr lang="en" sz="2000">
                <a:solidFill>
                  <a:srgbClr val="CC4125"/>
                </a:solidFill>
                <a:latin typeface="Inter"/>
                <a:ea typeface="Inter"/>
                <a:cs typeface="Inter"/>
                <a:sym typeface="Inter"/>
              </a:rPr>
              <a:t>Feature</a:t>
            </a:r>
            <a:endParaRPr sz="2000">
              <a:solidFill>
                <a:srgbClr val="CC4125"/>
              </a:solidFill>
              <a:latin typeface="Inter"/>
              <a:ea typeface="Inter"/>
              <a:cs typeface="Inter"/>
              <a:sym typeface="Inter"/>
            </a:endParaRPr>
          </a:p>
        </p:txBody>
      </p:sp>
      <p:sp>
        <p:nvSpPr>
          <p:cNvPr id="241" name="Google Shape;241;p31"/>
          <p:cNvSpPr txBox="1">
            <a:spLocks noGrp="1"/>
          </p:cNvSpPr>
          <p:nvPr>
            <p:ph type="body" idx="1"/>
          </p:nvPr>
        </p:nvSpPr>
        <p:spPr>
          <a:xfrm>
            <a:off x="201800" y="1328550"/>
            <a:ext cx="4356600" cy="31959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100" b="1">
                <a:solidFill>
                  <a:schemeClr val="dk1"/>
                </a:solidFill>
                <a:latin typeface="Inter"/>
                <a:ea typeface="Inter"/>
                <a:cs typeface="Inter"/>
                <a:sym typeface="Inter"/>
              </a:rPr>
              <a:t>Report at end of stage (key parameters):</a:t>
            </a:r>
            <a:endParaRPr sz="1100" b="1">
              <a:solidFill>
                <a:schemeClr val="dk1"/>
              </a:solidFill>
              <a:latin typeface="Inter"/>
              <a:ea typeface="Inter"/>
              <a:cs typeface="Inter"/>
              <a:sym typeface="Inter"/>
            </a:endParaRPr>
          </a:p>
          <a:p>
            <a:pPr marL="457200" lvl="0" indent="-298450" algn="l" rtl="0">
              <a:spcBef>
                <a:spcPts val="1200"/>
              </a:spcBef>
              <a:spcAft>
                <a:spcPts val="0"/>
              </a:spcAft>
              <a:buClr>
                <a:schemeClr val="dk1"/>
              </a:buClr>
              <a:buSzPts val="1100"/>
              <a:buFont typeface="Inter"/>
              <a:buChar char="●"/>
            </a:pPr>
            <a:r>
              <a:rPr lang="en" sz="1100">
                <a:solidFill>
                  <a:schemeClr val="dk1"/>
                </a:solidFill>
                <a:latin typeface="Inter"/>
                <a:ea typeface="Inter"/>
                <a:cs typeface="Inter"/>
                <a:sym typeface="Inter"/>
              </a:rPr>
              <a:t>Settlement monitoring results (time vs settlement) at agreed points</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Differential settlement checks (adjacent points)</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Pore pressure readings (if piezometers used) and trends</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Any trigger/action levels exceeded and actions taken</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Final acceptance statement linked to criteria in </a:t>
            </a:r>
            <a:r>
              <a:rPr lang="en" sz="1100">
                <a:solidFill>
                  <a:srgbClr val="FF0000"/>
                </a:solidFill>
                <a:latin typeface="Inter"/>
                <a:ea typeface="Inter"/>
                <a:cs typeface="Inter"/>
                <a:sym typeface="Inter"/>
              </a:rPr>
              <a:t>Stage 6</a:t>
            </a:r>
            <a:endParaRPr sz="1100">
              <a:solidFill>
                <a:srgbClr val="FF0000"/>
              </a:solidFill>
              <a:latin typeface="Inter"/>
              <a:ea typeface="Inter"/>
              <a:cs typeface="Inter"/>
              <a:sym typeface="Inter"/>
            </a:endParaRPr>
          </a:p>
          <a:p>
            <a:pPr marL="0" lvl="0" indent="0" algn="l" rtl="0">
              <a:spcBef>
                <a:spcPts val="1200"/>
              </a:spcBef>
              <a:spcAft>
                <a:spcPts val="1200"/>
              </a:spcAft>
              <a:buNone/>
            </a:pPr>
            <a:endParaRPr sz="1100">
              <a:latin typeface="Inter"/>
              <a:ea typeface="Inter"/>
              <a:cs typeface="Inter"/>
              <a:sym typeface="Inter"/>
            </a:endParaRPr>
          </a:p>
        </p:txBody>
      </p:sp>
      <p:sp>
        <p:nvSpPr>
          <p:cNvPr id="242" name="Google Shape;242;p31"/>
          <p:cNvSpPr txBox="1">
            <a:spLocks noGrp="1"/>
          </p:cNvSpPr>
          <p:nvPr>
            <p:ph type="body" idx="1"/>
          </p:nvPr>
        </p:nvSpPr>
        <p:spPr>
          <a:xfrm>
            <a:off x="5037275" y="1880463"/>
            <a:ext cx="4356600" cy="5727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0"/>
              </a:spcAft>
              <a:buNone/>
            </a:pPr>
            <a:r>
              <a:rPr lang="en">
                <a:latin typeface="Inter"/>
                <a:ea typeface="Inter"/>
                <a:cs typeface="Inter"/>
                <a:sym typeface="Inter"/>
              </a:rPr>
              <a:t>&lt;name attribute=“attribute value”&gt;value&lt;/name&gt;</a:t>
            </a:r>
            <a:endParaRPr>
              <a:latin typeface="Inter"/>
              <a:ea typeface="Inter"/>
              <a:cs typeface="Inter"/>
              <a:sym typeface="Inter"/>
            </a:endParaRPr>
          </a:p>
          <a:p>
            <a:pPr marL="0" lvl="0" indent="0" algn="l" rtl="0">
              <a:spcBef>
                <a:spcPts val="0"/>
              </a:spcBef>
              <a:spcAft>
                <a:spcPts val="1200"/>
              </a:spcAft>
              <a:buNone/>
            </a:pPr>
            <a:endParaRPr>
              <a:latin typeface="Inter"/>
              <a:ea typeface="Inter"/>
              <a:cs typeface="Inter"/>
              <a:sym typeface="Inter"/>
            </a:endParaRPr>
          </a:p>
        </p:txBody>
      </p:sp>
      <p:sp>
        <p:nvSpPr>
          <p:cNvPr id="243" name="Google Shape;243;p31"/>
          <p:cNvSpPr txBox="1">
            <a:spLocks noGrp="1"/>
          </p:cNvSpPr>
          <p:nvPr>
            <p:ph type="title"/>
          </p:nvPr>
        </p:nvSpPr>
        <p:spPr>
          <a:xfrm>
            <a:off x="6580925" y="218400"/>
            <a:ext cx="2310000" cy="486600"/>
          </a:xfrm>
          <a:prstGeom prst="rect">
            <a:avLst/>
          </a:prstGeom>
          <a:solidFill>
            <a:srgbClr val="C9DAF8"/>
          </a:solidFill>
        </p:spPr>
        <p:txBody>
          <a:bodyPr spcFirstLastPara="1" wrap="square" lIns="91425" tIns="91425" rIns="91425" bIns="91425" anchor="t" anchorCtr="0">
            <a:noAutofit/>
          </a:bodyPr>
          <a:lstStyle/>
          <a:p>
            <a:pPr marL="0" marR="0" lvl="0" indent="0" algn="ctr" rtl="0">
              <a:lnSpc>
                <a:spcPct val="100000"/>
              </a:lnSpc>
              <a:spcBef>
                <a:spcPts val="0"/>
              </a:spcBef>
              <a:spcAft>
                <a:spcPts val="0"/>
              </a:spcAft>
              <a:buSzPts val="990"/>
              <a:buNone/>
            </a:pPr>
            <a:r>
              <a:rPr lang="en" sz="1720">
                <a:latin typeface="Manrope"/>
                <a:ea typeface="Manrope"/>
                <a:cs typeface="Manrope"/>
                <a:sym typeface="Manrope"/>
              </a:rPr>
              <a:t>Post-Installation</a:t>
            </a:r>
            <a:endParaRPr sz="1720">
              <a:latin typeface="Manrope"/>
              <a:ea typeface="Manrope"/>
              <a:cs typeface="Manrope"/>
              <a:sym typeface="Manrope"/>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32"/>
          <p:cNvSpPr txBox="1">
            <a:spLocks noGrp="1"/>
          </p:cNvSpPr>
          <p:nvPr>
            <p:ph type="title"/>
          </p:nvPr>
        </p:nvSpPr>
        <p:spPr>
          <a:xfrm>
            <a:off x="201800" y="132275"/>
            <a:ext cx="7051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800" b="1">
                <a:latin typeface="Manrope"/>
                <a:ea typeface="Manrope"/>
                <a:cs typeface="Manrope"/>
                <a:sym typeface="Manrope"/>
              </a:rPr>
              <a:t>Stage 16: </a:t>
            </a:r>
            <a:r>
              <a:rPr lang="en" sz="1700" b="1"/>
              <a:t>Closeout and Handover</a:t>
            </a:r>
            <a:endParaRPr sz="1700" b="1"/>
          </a:p>
          <a:p>
            <a:pPr marL="0" lvl="0" indent="0" algn="l" rtl="0">
              <a:spcBef>
                <a:spcPts val="0"/>
              </a:spcBef>
              <a:spcAft>
                <a:spcPts val="0"/>
              </a:spcAft>
              <a:buSzPts val="990"/>
              <a:buNone/>
            </a:pPr>
            <a:endParaRPr sz="1800" b="1">
              <a:latin typeface="Manrope"/>
              <a:ea typeface="Manrope"/>
              <a:cs typeface="Manrope"/>
              <a:sym typeface="Manrope"/>
            </a:endParaRPr>
          </a:p>
        </p:txBody>
      </p:sp>
      <p:sp>
        <p:nvSpPr>
          <p:cNvPr id="249" name="Google Shape;249;p32"/>
          <p:cNvSpPr txBox="1">
            <a:spLocks noGrp="1"/>
          </p:cNvSpPr>
          <p:nvPr>
            <p:ph type="body" idx="1"/>
          </p:nvPr>
        </p:nvSpPr>
        <p:spPr>
          <a:xfrm>
            <a:off x="128525" y="704963"/>
            <a:ext cx="8280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000">
                <a:solidFill>
                  <a:schemeClr val="dk1"/>
                </a:solidFill>
                <a:latin typeface="Inter"/>
                <a:ea typeface="Inter"/>
                <a:cs typeface="Inter"/>
                <a:sym typeface="Inter"/>
              </a:rPr>
              <a:t>Deliver a clean as-built package so the owner can reuse the data and so future teams can learn from the project.</a:t>
            </a:r>
            <a:endParaRPr sz="1000">
              <a:solidFill>
                <a:schemeClr val="dk1"/>
              </a:solidFill>
              <a:latin typeface="Inter"/>
              <a:ea typeface="Inter"/>
              <a:cs typeface="Inter"/>
              <a:sym typeface="Inter"/>
            </a:endParaRPr>
          </a:p>
        </p:txBody>
      </p:sp>
      <p:sp>
        <p:nvSpPr>
          <p:cNvPr id="250" name="Google Shape;250;p32"/>
          <p:cNvSpPr/>
          <p:nvPr/>
        </p:nvSpPr>
        <p:spPr>
          <a:xfrm rot="-5400000">
            <a:off x="5129125" y="608800"/>
            <a:ext cx="3455700" cy="4574100"/>
          </a:xfrm>
          <a:prstGeom prst="round1Rect">
            <a:avLst>
              <a:gd name="adj" fmla="val 8032"/>
            </a:avLst>
          </a:prstGeom>
          <a:solidFill>
            <a:schemeClr val="lt2"/>
          </a:solidFill>
          <a:ln>
            <a:noFill/>
          </a:ln>
          <a:effectLst>
            <a:outerShdw blurRad="171450" dist="114300" dir="13440000" algn="bl" rotWithShape="0">
              <a:schemeClr val="dk1">
                <a:alpha val="392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Nunito Light"/>
              <a:ea typeface="Nunito Light"/>
              <a:cs typeface="Nunito Light"/>
              <a:sym typeface="Nunito Light"/>
            </a:endParaRPr>
          </a:p>
        </p:txBody>
      </p:sp>
      <p:sp>
        <p:nvSpPr>
          <p:cNvPr id="251" name="Google Shape;251;p32"/>
          <p:cNvSpPr txBox="1">
            <a:spLocks noGrp="1"/>
          </p:cNvSpPr>
          <p:nvPr>
            <p:ph type="body" idx="1"/>
          </p:nvPr>
        </p:nvSpPr>
        <p:spPr>
          <a:xfrm>
            <a:off x="5037275" y="1419438"/>
            <a:ext cx="35607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2000">
                <a:solidFill>
                  <a:schemeClr val="dk1"/>
                </a:solidFill>
                <a:latin typeface="Inter"/>
                <a:ea typeface="Inter"/>
                <a:cs typeface="Inter"/>
                <a:sym typeface="Inter"/>
              </a:rPr>
              <a:t>DIGGS - </a:t>
            </a:r>
            <a:r>
              <a:rPr lang="en" sz="2000">
                <a:solidFill>
                  <a:srgbClr val="CC4125"/>
                </a:solidFill>
                <a:latin typeface="Inter"/>
                <a:ea typeface="Inter"/>
                <a:cs typeface="Inter"/>
                <a:sym typeface="Inter"/>
              </a:rPr>
              <a:t>Feature</a:t>
            </a:r>
            <a:endParaRPr sz="2000">
              <a:solidFill>
                <a:srgbClr val="CC4125"/>
              </a:solidFill>
              <a:latin typeface="Inter"/>
              <a:ea typeface="Inter"/>
              <a:cs typeface="Inter"/>
              <a:sym typeface="Inter"/>
            </a:endParaRPr>
          </a:p>
        </p:txBody>
      </p:sp>
      <p:sp>
        <p:nvSpPr>
          <p:cNvPr id="252" name="Google Shape;252;p32"/>
          <p:cNvSpPr txBox="1">
            <a:spLocks noGrp="1"/>
          </p:cNvSpPr>
          <p:nvPr>
            <p:ph type="body" idx="1"/>
          </p:nvPr>
        </p:nvSpPr>
        <p:spPr>
          <a:xfrm>
            <a:off x="201800" y="1328550"/>
            <a:ext cx="4356600" cy="31959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None/>
            </a:pPr>
            <a:r>
              <a:rPr lang="en" sz="1100" b="1">
                <a:solidFill>
                  <a:schemeClr val="dk1"/>
                </a:solidFill>
                <a:latin typeface="Inter"/>
                <a:ea typeface="Inter"/>
                <a:cs typeface="Inter"/>
                <a:sym typeface="Inter"/>
              </a:rPr>
              <a:t>Report at end of stage (key parameters):</a:t>
            </a:r>
            <a:endParaRPr sz="1100" b="1">
              <a:solidFill>
                <a:schemeClr val="dk1"/>
              </a:solidFill>
              <a:latin typeface="Inter"/>
              <a:ea typeface="Inter"/>
              <a:cs typeface="Inter"/>
              <a:sym typeface="Inter"/>
            </a:endParaRPr>
          </a:p>
          <a:p>
            <a:pPr marL="457200" lvl="0" indent="-298450" algn="l" rtl="0">
              <a:spcBef>
                <a:spcPts val="1200"/>
              </a:spcBef>
              <a:spcAft>
                <a:spcPts val="0"/>
              </a:spcAft>
              <a:buClr>
                <a:schemeClr val="dk1"/>
              </a:buClr>
              <a:buSzPts val="1100"/>
              <a:buFont typeface="Inter"/>
              <a:buChar char="●"/>
            </a:pPr>
            <a:r>
              <a:rPr lang="en" sz="1100">
                <a:solidFill>
                  <a:schemeClr val="dk1"/>
                </a:solidFill>
                <a:latin typeface="Inter"/>
                <a:ea typeface="Inter"/>
                <a:cs typeface="Inter"/>
                <a:sym typeface="Inter"/>
              </a:rPr>
              <a:t>Complete as-built dataset: every column + LTP + test results + monitoring records</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Summary of compliance: pass/fail counts, exceptions and resolution</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Final drawings (as-built layout), certifications, and signed QC/QA package</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Lessons learned and recommended improvements for future projects</a:t>
            </a:r>
            <a:endParaRPr sz="1100">
              <a:solidFill>
                <a:schemeClr val="dk1"/>
              </a:solidFill>
              <a:latin typeface="Inter"/>
              <a:ea typeface="Inter"/>
              <a:cs typeface="Inter"/>
              <a:sym typeface="Inter"/>
            </a:endParaRPr>
          </a:p>
          <a:p>
            <a:pPr marL="0" lvl="0" indent="0" algn="l" rtl="0">
              <a:spcBef>
                <a:spcPts val="1200"/>
              </a:spcBef>
              <a:spcAft>
                <a:spcPts val="1200"/>
              </a:spcAft>
              <a:buNone/>
            </a:pPr>
            <a:endParaRPr sz="1100">
              <a:latin typeface="Inter"/>
              <a:ea typeface="Inter"/>
              <a:cs typeface="Inter"/>
              <a:sym typeface="Inter"/>
            </a:endParaRPr>
          </a:p>
        </p:txBody>
      </p:sp>
      <p:sp>
        <p:nvSpPr>
          <p:cNvPr id="253" name="Google Shape;253;p32"/>
          <p:cNvSpPr txBox="1">
            <a:spLocks noGrp="1"/>
          </p:cNvSpPr>
          <p:nvPr>
            <p:ph type="body" idx="1"/>
          </p:nvPr>
        </p:nvSpPr>
        <p:spPr>
          <a:xfrm>
            <a:off x="5037275" y="1880463"/>
            <a:ext cx="4356600" cy="5727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0"/>
              </a:spcAft>
              <a:buNone/>
            </a:pPr>
            <a:r>
              <a:rPr lang="en">
                <a:latin typeface="Inter"/>
                <a:ea typeface="Inter"/>
                <a:cs typeface="Inter"/>
                <a:sym typeface="Inter"/>
              </a:rPr>
              <a:t>&lt;name attribute=“attribute value”&gt;value&lt;/name&gt;</a:t>
            </a:r>
            <a:endParaRPr>
              <a:latin typeface="Inter"/>
              <a:ea typeface="Inter"/>
              <a:cs typeface="Inter"/>
              <a:sym typeface="Inter"/>
            </a:endParaRPr>
          </a:p>
          <a:p>
            <a:pPr marL="0" lvl="0" indent="0" algn="l" rtl="0">
              <a:spcBef>
                <a:spcPts val="0"/>
              </a:spcBef>
              <a:spcAft>
                <a:spcPts val="1200"/>
              </a:spcAft>
              <a:buNone/>
            </a:pPr>
            <a:endParaRPr>
              <a:latin typeface="Inter"/>
              <a:ea typeface="Inter"/>
              <a:cs typeface="Inter"/>
              <a:sym typeface="Inter"/>
            </a:endParaRPr>
          </a:p>
        </p:txBody>
      </p:sp>
      <p:sp>
        <p:nvSpPr>
          <p:cNvPr id="254" name="Google Shape;254;p32"/>
          <p:cNvSpPr txBox="1">
            <a:spLocks noGrp="1"/>
          </p:cNvSpPr>
          <p:nvPr>
            <p:ph type="title"/>
          </p:nvPr>
        </p:nvSpPr>
        <p:spPr>
          <a:xfrm>
            <a:off x="6580925" y="218400"/>
            <a:ext cx="2310000" cy="486600"/>
          </a:xfrm>
          <a:prstGeom prst="rect">
            <a:avLst/>
          </a:prstGeom>
          <a:solidFill>
            <a:srgbClr val="C9DAF8"/>
          </a:solidFill>
        </p:spPr>
        <p:txBody>
          <a:bodyPr spcFirstLastPara="1" wrap="square" lIns="91425" tIns="91425" rIns="91425" bIns="91425" anchor="t" anchorCtr="0">
            <a:noAutofit/>
          </a:bodyPr>
          <a:lstStyle/>
          <a:p>
            <a:pPr marL="0" marR="0" lvl="0" indent="0" algn="ctr" rtl="0">
              <a:lnSpc>
                <a:spcPct val="100000"/>
              </a:lnSpc>
              <a:spcBef>
                <a:spcPts val="0"/>
              </a:spcBef>
              <a:spcAft>
                <a:spcPts val="0"/>
              </a:spcAft>
              <a:buSzPts val="990"/>
              <a:buNone/>
            </a:pPr>
            <a:r>
              <a:rPr lang="en" sz="1720">
                <a:latin typeface="Manrope"/>
                <a:ea typeface="Manrope"/>
                <a:cs typeface="Manrope"/>
                <a:sym typeface="Manrope"/>
              </a:rPr>
              <a:t>Post-Installation</a:t>
            </a:r>
            <a:endParaRPr sz="1720">
              <a:latin typeface="Manrope"/>
              <a:ea typeface="Manrope"/>
              <a:cs typeface="Manrope"/>
              <a:sym typeface="Manrope"/>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33"/>
          <p:cNvSpPr txBox="1">
            <a:spLocks noGrp="1"/>
          </p:cNvSpPr>
          <p:nvPr>
            <p:ph type="ctrTitle"/>
          </p:nvPr>
        </p:nvSpPr>
        <p:spPr>
          <a:xfrm>
            <a:off x="-24" y="1062075"/>
            <a:ext cx="9144000" cy="2052600"/>
          </a:xfrm>
          <a:prstGeom prst="rect">
            <a:avLst/>
          </a:prstGeom>
          <a:solidFill>
            <a:schemeClr val="accent5"/>
          </a:solidFill>
        </p:spPr>
        <p:txBody>
          <a:bodyPr spcFirstLastPara="1" wrap="square" lIns="91425" tIns="91425" rIns="91425" bIns="91425" anchor="b" anchorCtr="0">
            <a:normAutofit/>
          </a:bodyPr>
          <a:lstStyle/>
          <a:p>
            <a:pPr marL="457200" lvl="0" indent="0" algn="ctr" rtl="0">
              <a:spcBef>
                <a:spcPts val="0"/>
              </a:spcBef>
              <a:spcAft>
                <a:spcPts val="0"/>
              </a:spcAft>
              <a:buNone/>
            </a:pPr>
            <a:r>
              <a:rPr lang="en" sz="1720">
                <a:solidFill>
                  <a:schemeClr val="lt1"/>
                </a:solidFill>
                <a:latin typeface="Manrope"/>
                <a:ea typeface="Manrope"/>
                <a:cs typeface="Manrope"/>
                <a:sym typeface="Manrope"/>
              </a:rPr>
              <a:t>Summary of the Parameters for DIGGS </a:t>
            </a:r>
            <a:endParaRPr sz="1720">
              <a:solidFill>
                <a:schemeClr val="lt1"/>
              </a:solidFill>
              <a:latin typeface="Manrope"/>
              <a:ea typeface="Manrope"/>
              <a:cs typeface="Manrope"/>
              <a:sym typeface="Manrope"/>
            </a:endParaRPr>
          </a:p>
          <a:p>
            <a:pPr marL="0" lvl="0" indent="0" algn="l" rtl="0">
              <a:spcBef>
                <a:spcPts val="0"/>
              </a:spcBef>
              <a:spcAft>
                <a:spcPts val="0"/>
              </a:spcAft>
              <a:buNone/>
            </a:pPr>
            <a:endParaRPr>
              <a:solidFill>
                <a:schemeClr val="lt1"/>
              </a:solidFill>
            </a:endParaRPr>
          </a:p>
        </p:txBody>
      </p:sp>
      <p:pic>
        <p:nvPicPr>
          <p:cNvPr id="260" name="Google Shape;260;p33"/>
          <p:cNvPicPr preferRelativeResize="0"/>
          <p:nvPr/>
        </p:nvPicPr>
        <p:blipFill rotWithShape="1">
          <a:blip r:embed="rId3">
            <a:alphaModFix/>
          </a:blip>
          <a:srcRect r="44781" b="69849"/>
          <a:stretch/>
        </p:blipFill>
        <p:spPr>
          <a:xfrm>
            <a:off x="2777938" y="3686400"/>
            <a:ext cx="2323225" cy="655924"/>
          </a:xfrm>
          <a:prstGeom prst="rect">
            <a:avLst/>
          </a:prstGeom>
          <a:noFill/>
          <a:ln>
            <a:noFill/>
          </a:ln>
        </p:spPr>
      </p:pic>
      <p:pic>
        <p:nvPicPr>
          <p:cNvPr id="261" name="Google Shape;261;p33"/>
          <p:cNvPicPr preferRelativeResize="0"/>
          <p:nvPr/>
        </p:nvPicPr>
        <p:blipFill>
          <a:blip r:embed="rId4">
            <a:alphaModFix/>
          </a:blip>
          <a:stretch>
            <a:fillRect/>
          </a:stretch>
        </p:blipFill>
        <p:spPr>
          <a:xfrm>
            <a:off x="5220637" y="3441637"/>
            <a:ext cx="1145425" cy="11454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35"/>
          <p:cNvSpPr txBox="1"/>
          <p:nvPr/>
        </p:nvSpPr>
        <p:spPr>
          <a:xfrm>
            <a:off x="1476925" y="2056050"/>
            <a:ext cx="6849600" cy="1031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b="1">
                <a:solidFill>
                  <a:schemeClr val="dk1"/>
                </a:solidFill>
                <a:latin typeface="Inter"/>
                <a:ea typeface="Inter"/>
                <a:cs typeface="Inter"/>
                <a:sym typeface="Inter"/>
              </a:rPr>
              <a:t>[REQ]</a:t>
            </a:r>
            <a:r>
              <a:rPr lang="en" sz="1100">
                <a:solidFill>
                  <a:schemeClr val="dk1"/>
                </a:solidFill>
                <a:latin typeface="Inter"/>
                <a:ea typeface="Inter"/>
                <a:cs typeface="Inter"/>
                <a:sym typeface="Inter"/>
              </a:rPr>
              <a:t> = minimum fields that should exist for a usable RI/CMC dataset</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0" lvl="0" indent="0" algn="l" rtl="0">
              <a:spcBef>
                <a:spcPts val="0"/>
              </a:spcBef>
              <a:spcAft>
                <a:spcPts val="0"/>
              </a:spcAft>
              <a:buNone/>
            </a:pPr>
            <a:r>
              <a:rPr lang="en" sz="1100" b="1">
                <a:solidFill>
                  <a:schemeClr val="dk1"/>
                </a:solidFill>
                <a:latin typeface="Inter"/>
                <a:ea typeface="Inter"/>
                <a:cs typeface="Inter"/>
                <a:sym typeface="Inter"/>
              </a:rPr>
              <a:t>[REC]</a:t>
            </a:r>
            <a:r>
              <a:rPr lang="en" sz="1100">
                <a:solidFill>
                  <a:schemeClr val="dk1"/>
                </a:solidFill>
                <a:latin typeface="Inter"/>
                <a:ea typeface="Inter"/>
                <a:cs typeface="Inter"/>
                <a:sym typeface="Inter"/>
              </a:rPr>
              <a:t> = strongly recommended for QA/QC, analytics, and interoperability</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0" lvl="0" indent="0" algn="l" rtl="0">
              <a:spcBef>
                <a:spcPts val="0"/>
              </a:spcBef>
              <a:spcAft>
                <a:spcPts val="0"/>
              </a:spcAft>
              <a:buNone/>
            </a:pPr>
            <a:r>
              <a:rPr lang="en" sz="1100" b="1">
                <a:solidFill>
                  <a:schemeClr val="dk1"/>
                </a:solidFill>
                <a:latin typeface="Inter"/>
                <a:ea typeface="Inter"/>
                <a:cs typeface="Inter"/>
                <a:sym typeface="Inter"/>
              </a:rPr>
              <a:t>[OPT]</a:t>
            </a:r>
            <a:r>
              <a:rPr lang="en" sz="1100">
                <a:solidFill>
                  <a:schemeClr val="dk1"/>
                </a:solidFill>
                <a:latin typeface="Inter"/>
                <a:ea typeface="Inter"/>
                <a:cs typeface="Inter"/>
                <a:sym typeface="Inter"/>
              </a:rPr>
              <a:t> = optional (project‑specific or nice to have)</a:t>
            </a:r>
            <a:endParaRPr sz="1100">
              <a:solidFill>
                <a:schemeClr val="dk1"/>
              </a:solidFill>
              <a:latin typeface="Inter"/>
              <a:ea typeface="Inter"/>
              <a:cs typeface="Inter"/>
              <a:sym typeface="Inte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36"/>
          <p:cNvSpPr txBox="1">
            <a:spLocks noGrp="1"/>
          </p:cNvSpPr>
          <p:nvPr>
            <p:ph type="title" idx="4294967295"/>
          </p:nvPr>
        </p:nvSpPr>
        <p:spPr>
          <a:xfrm>
            <a:off x="257950" y="1973050"/>
            <a:ext cx="2095200" cy="1601100"/>
          </a:xfrm>
          <a:prstGeom prst="rect">
            <a:avLst/>
          </a:prstGeom>
          <a:solidFill>
            <a:schemeClr val="accent6"/>
          </a:solidFill>
        </p:spPr>
        <p:txBody>
          <a:bodyPr spcFirstLastPara="1" wrap="square" lIns="91425" tIns="91425" rIns="91425" bIns="91425" anchor="t" anchorCtr="0">
            <a:noAutofit/>
          </a:bodyPr>
          <a:lstStyle/>
          <a:p>
            <a:pPr marL="0" lvl="0" indent="0" algn="ctr" rtl="0">
              <a:spcBef>
                <a:spcPts val="0"/>
              </a:spcBef>
              <a:spcAft>
                <a:spcPts val="0"/>
              </a:spcAft>
              <a:buSzPts val="990"/>
              <a:buNone/>
            </a:pPr>
            <a:br>
              <a:rPr lang="en" sz="1720">
                <a:latin typeface="Manrope"/>
                <a:ea typeface="Manrope"/>
                <a:cs typeface="Manrope"/>
                <a:sym typeface="Manrope"/>
              </a:rPr>
            </a:br>
            <a:br>
              <a:rPr lang="en" sz="1720">
                <a:latin typeface="Manrope"/>
                <a:ea typeface="Manrope"/>
                <a:cs typeface="Manrope"/>
                <a:sym typeface="Manrope"/>
              </a:rPr>
            </a:br>
            <a:r>
              <a:rPr lang="en" sz="1720">
                <a:latin typeface="Manrope"/>
                <a:ea typeface="Manrope"/>
                <a:cs typeface="Manrope"/>
                <a:sym typeface="Manrope"/>
              </a:rPr>
              <a:t>Pre-Installation</a:t>
            </a:r>
            <a:endParaRPr sz="1720">
              <a:latin typeface="Manrope"/>
              <a:ea typeface="Manrope"/>
              <a:cs typeface="Manrope"/>
              <a:sym typeface="Manrope"/>
            </a:endParaRPr>
          </a:p>
        </p:txBody>
      </p:sp>
      <p:sp>
        <p:nvSpPr>
          <p:cNvPr id="277" name="Google Shape;277;p36"/>
          <p:cNvSpPr txBox="1"/>
          <p:nvPr/>
        </p:nvSpPr>
        <p:spPr>
          <a:xfrm>
            <a:off x="2602950" y="874000"/>
            <a:ext cx="6540900" cy="3074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300" b="1">
                <a:solidFill>
                  <a:schemeClr val="dk1"/>
                </a:solidFill>
                <a:latin typeface="Inter"/>
                <a:ea typeface="Inter"/>
                <a:cs typeface="Inter"/>
                <a:sym typeface="Inter"/>
              </a:rPr>
              <a:t>A. Project and dataset metadata</a:t>
            </a:r>
            <a:endParaRPr sz="1300" b="1">
              <a:solidFill>
                <a:schemeClr val="dk1"/>
              </a:solidFill>
              <a:latin typeface="Inter"/>
              <a:ea typeface="Inter"/>
              <a:cs typeface="Inter"/>
              <a:sym typeface="Inter"/>
            </a:endParaRPr>
          </a:p>
          <a:p>
            <a:pPr marL="457200" lvl="0" indent="-298450" algn="l" rtl="0">
              <a:lnSpc>
                <a:spcPct val="115000"/>
              </a:lnSpc>
              <a:spcBef>
                <a:spcPts val="1200"/>
              </a:spcBef>
              <a:spcAft>
                <a:spcPts val="0"/>
              </a:spcAft>
              <a:buClr>
                <a:schemeClr val="dk1"/>
              </a:buClr>
              <a:buSzPts val="1100"/>
              <a:buChar char="●"/>
            </a:pPr>
            <a:r>
              <a:rPr lang="en" sz="1100" b="1">
                <a:solidFill>
                  <a:schemeClr val="dk1"/>
                </a:solidFill>
                <a:latin typeface="Inter"/>
                <a:ea typeface="Inter"/>
                <a:cs typeface="Inter"/>
                <a:sym typeface="Inter"/>
              </a:rPr>
              <a:t>[REQ] ProjectID</a:t>
            </a:r>
            <a:r>
              <a:rPr lang="en" sz="1100">
                <a:solidFill>
                  <a:schemeClr val="dk1"/>
                </a:solidFill>
                <a:latin typeface="Inter"/>
                <a:ea typeface="Inter"/>
                <a:cs typeface="Inter"/>
                <a:sym typeface="Inter"/>
              </a:rPr>
              <a:t> (unique string; persistent)</a:t>
            </a:r>
            <a:br>
              <a:rPr lang="en" sz="1100">
                <a:solidFill>
                  <a:schemeClr val="dk1"/>
                </a:solidFill>
                <a:latin typeface="Inter"/>
                <a:ea typeface="Inter"/>
                <a:cs typeface="Inter"/>
                <a:sym typeface="Inter"/>
              </a:rPr>
            </a:br>
            <a:r>
              <a:rPr lang="en" sz="1100" b="1">
                <a:solidFill>
                  <a:schemeClr val="dk1"/>
                </a:solidFill>
                <a:latin typeface="Inter"/>
                <a:ea typeface="Inter"/>
                <a:cs typeface="Inter"/>
                <a:sym typeface="Inter"/>
              </a:rPr>
              <a:t>[REQ] ProjectName</a:t>
            </a:r>
            <a:br>
              <a:rPr lang="en" sz="1100" b="1">
                <a:solidFill>
                  <a:schemeClr val="dk1"/>
                </a:solidFill>
                <a:latin typeface="Inter"/>
                <a:ea typeface="Inter"/>
                <a:cs typeface="Inter"/>
                <a:sym typeface="Inter"/>
              </a:rPr>
            </a:br>
            <a:r>
              <a:rPr lang="en" sz="1100" b="1">
                <a:solidFill>
                  <a:schemeClr val="dk1"/>
                </a:solidFill>
                <a:latin typeface="Inter"/>
                <a:ea typeface="Inter"/>
                <a:cs typeface="Inter"/>
                <a:sym typeface="Inter"/>
              </a:rPr>
              <a:t>[REQ] Owner / Client</a:t>
            </a:r>
            <a:br>
              <a:rPr lang="en" sz="1100" b="1">
                <a:solidFill>
                  <a:schemeClr val="dk1"/>
                </a:solidFill>
                <a:latin typeface="Inter"/>
                <a:ea typeface="Inter"/>
                <a:cs typeface="Inter"/>
                <a:sym typeface="Inter"/>
              </a:rPr>
            </a:br>
            <a:r>
              <a:rPr lang="en" sz="1100" b="1">
                <a:solidFill>
                  <a:schemeClr val="dk1"/>
                </a:solidFill>
                <a:latin typeface="Inter"/>
                <a:ea typeface="Inter"/>
                <a:cs typeface="Inter"/>
                <a:sym typeface="Inter"/>
              </a:rPr>
              <a:t>[REQ] SiteName / LocationName</a:t>
            </a:r>
            <a:br>
              <a:rPr lang="en" sz="1100" b="1">
                <a:solidFill>
                  <a:schemeClr val="dk1"/>
                </a:solidFill>
                <a:latin typeface="Inter"/>
                <a:ea typeface="Inter"/>
                <a:cs typeface="Inter"/>
                <a:sym typeface="Inter"/>
              </a:rPr>
            </a:br>
            <a:r>
              <a:rPr lang="en" sz="1100" b="1">
                <a:solidFill>
                  <a:schemeClr val="dk1"/>
                </a:solidFill>
                <a:latin typeface="Inter"/>
                <a:ea typeface="Inter"/>
                <a:cs typeface="Inter"/>
                <a:sym typeface="Inter"/>
              </a:rPr>
              <a:t>[REQ] CoordinateReferenceSystem</a:t>
            </a:r>
            <a:r>
              <a:rPr lang="en" sz="1100">
                <a:solidFill>
                  <a:schemeClr val="dk1"/>
                </a:solidFill>
                <a:latin typeface="Inter"/>
                <a:ea typeface="Inter"/>
                <a:cs typeface="Inter"/>
                <a:sym typeface="Inter"/>
              </a:rPr>
              <a:t> (EPSG code or WKT)</a:t>
            </a:r>
            <a:br>
              <a:rPr lang="en" sz="1100">
                <a:solidFill>
                  <a:schemeClr val="dk1"/>
                </a:solidFill>
                <a:latin typeface="Inter"/>
                <a:ea typeface="Inter"/>
                <a:cs typeface="Inter"/>
                <a:sym typeface="Inter"/>
              </a:rPr>
            </a:br>
            <a:r>
              <a:rPr lang="en" sz="1100" b="1">
                <a:solidFill>
                  <a:schemeClr val="dk1"/>
                </a:solidFill>
                <a:latin typeface="Inter"/>
                <a:ea typeface="Inter"/>
                <a:cs typeface="Inter"/>
                <a:sym typeface="Inter"/>
              </a:rPr>
              <a:t>[REQ] VerticalDatum</a:t>
            </a:r>
            <a:br>
              <a:rPr lang="en" sz="1100" b="1">
                <a:solidFill>
                  <a:schemeClr val="dk1"/>
                </a:solidFill>
                <a:latin typeface="Inter"/>
                <a:ea typeface="Inter"/>
                <a:cs typeface="Inter"/>
                <a:sym typeface="Inter"/>
              </a:rPr>
            </a:br>
            <a:r>
              <a:rPr lang="en" sz="1100" b="1">
                <a:solidFill>
                  <a:schemeClr val="dk1"/>
                </a:solidFill>
                <a:latin typeface="Inter"/>
                <a:ea typeface="Inter"/>
                <a:cs typeface="Inter"/>
                <a:sym typeface="Inter"/>
              </a:rPr>
              <a:t>[REQ] UnitsPolicy</a:t>
            </a:r>
            <a:r>
              <a:rPr lang="en" sz="1100">
                <a:solidFill>
                  <a:schemeClr val="dk1"/>
                </a:solidFill>
                <a:latin typeface="Inter"/>
                <a:ea typeface="Inter"/>
                <a:cs typeface="Inter"/>
                <a:sym typeface="Inter"/>
              </a:rPr>
              <a:t> (explicit; SI/US customary; preferably SI internally)</a:t>
            </a:r>
            <a:br>
              <a:rPr lang="en" sz="1100">
                <a:solidFill>
                  <a:schemeClr val="dk1"/>
                </a:solidFill>
                <a:latin typeface="Inter"/>
                <a:ea typeface="Inter"/>
                <a:cs typeface="Inter"/>
                <a:sym typeface="Inter"/>
              </a:rPr>
            </a:br>
            <a:r>
              <a:rPr lang="en" sz="1100" b="1">
                <a:solidFill>
                  <a:schemeClr val="dk1"/>
                </a:solidFill>
                <a:latin typeface="Inter"/>
                <a:ea typeface="Inter"/>
                <a:cs typeface="Inter"/>
                <a:sym typeface="Inter"/>
              </a:rPr>
              <a:t>[REQ] DatasetVersion / RevisionID</a:t>
            </a:r>
            <a:br>
              <a:rPr lang="en" sz="1100" b="1">
                <a:solidFill>
                  <a:schemeClr val="dk1"/>
                </a:solidFill>
                <a:latin typeface="Inter"/>
                <a:ea typeface="Inter"/>
                <a:cs typeface="Inter"/>
                <a:sym typeface="Inter"/>
              </a:rPr>
            </a:br>
            <a:r>
              <a:rPr lang="en" sz="1100" b="1">
                <a:solidFill>
                  <a:schemeClr val="dk1"/>
                </a:solidFill>
                <a:latin typeface="Inter"/>
                <a:ea typeface="Inter"/>
                <a:cs typeface="Inter"/>
                <a:sym typeface="Inter"/>
              </a:rPr>
              <a:t>[REQ] AuthoringOrganization</a:t>
            </a:r>
            <a:br>
              <a:rPr lang="en" sz="1100" b="1">
                <a:solidFill>
                  <a:schemeClr val="dk1"/>
                </a:solidFill>
                <a:latin typeface="Inter"/>
                <a:ea typeface="Inter"/>
                <a:cs typeface="Inter"/>
                <a:sym typeface="Inter"/>
              </a:rPr>
            </a:br>
            <a:r>
              <a:rPr lang="en" sz="1100" b="1">
                <a:solidFill>
                  <a:schemeClr val="dk1"/>
                </a:solidFill>
                <a:latin typeface="Inter"/>
                <a:ea typeface="Inter"/>
                <a:cs typeface="Inter"/>
                <a:sym typeface="Inter"/>
              </a:rPr>
              <a:t>[REQ] DataCreationDateTime</a:t>
            </a:r>
            <a:r>
              <a:rPr lang="en" sz="1100">
                <a:solidFill>
                  <a:schemeClr val="dk1"/>
                </a:solidFill>
                <a:latin typeface="Inter"/>
                <a:ea typeface="Inter"/>
                <a:cs typeface="Inter"/>
                <a:sym typeface="Inter"/>
              </a:rPr>
              <a:t> (ISO 8601)</a:t>
            </a:r>
            <a:br>
              <a:rPr lang="en" sz="1100">
                <a:solidFill>
                  <a:schemeClr val="dk1"/>
                </a:solidFill>
                <a:latin typeface="Inter"/>
                <a:ea typeface="Inter"/>
                <a:cs typeface="Inter"/>
                <a:sym typeface="Inter"/>
              </a:rPr>
            </a:br>
            <a:r>
              <a:rPr lang="en" sz="1100" b="1">
                <a:solidFill>
                  <a:schemeClr val="dk1"/>
                </a:solidFill>
                <a:latin typeface="Inter"/>
                <a:ea typeface="Inter"/>
                <a:cs typeface="Inter"/>
                <a:sym typeface="Inter"/>
              </a:rPr>
              <a:t>[REC] SpecificationVersion / ContractPackageID</a:t>
            </a:r>
            <a:br>
              <a:rPr lang="en" sz="1100" b="1">
                <a:solidFill>
                  <a:schemeClr val="dk1"/>
                </a:solidFill>
                <a:latin typeface="Inter"/>
                <a:ea typeface="Inter"/>
                <a:cs typeface="Inter"/>
                <a:sym typeface="Inter"/>
              </a:rPr>
            </a:br>
            <a:r>
              <a:rPr lang="en" sz="1100" b="1">
                <a:solidFill>
                  <a:schemeClr val="dk1"/>
                </a:solidFill>
                <a:latin typeface="Inter"/>
                <a:ea typeface="Inter"/>
                <a:cs typeface="Inter"/>
                <a:sym typeface="Inter"/>
              </a:rPr>
              <a:t>[REC] DesignEngineer / GeotechnicalEngineerOfRecord</a:t>
            </a:r>
            <a:br>
              <a:rPr lang="en" sz="1100" b="1">
                <a:solidFill>
                  <a:schemeClr val="dk1"/>
                </a:solidFill>
                <a:latin typeface="Inter"/>
                <a:ea typeface="Inter"/>
                <a:cs typeface="Inter"/>
                <a:sym typeface="Inter"/>
              </a:rPr>
            </a:br>
            <a:r>
              <a:rPr lang="en" sz="1100" b="1">
                <a:solidFill>
                  <a:schemeClr val="dk1"/>
                </a:solidFill>
                <a:latin typeface="Inter"/>
                <a:ea typeface="Inter"/>
                <a:cs typeface="Inter"/>
                <a:sym typeface="Inter"/>
              </a:rPr>
              <a:t>[REC] ContractorName</a:t>
            </a:r>
            <a:r>
              <a:rPr lang="en" sz="1100">
                <a:solidFill>
                  <a:schemeClr val="dk1"/>
                </a:solidFill>
                <a:latin typeface="Inter"/>
                <a:ea typeface="Inter"/>
                <a:cs typeface="Inter"/>
                <a:sym typeface="Inter"/>
              </a:rPr>
              <a:t> (if known at this stage)</a:t>
            </a:r>
            <a:endParaRPr sz="1100">
              <a:solidFill>
                <a:schemeClr val="dk1"/>
              </a:solidFill>
              <a:latin typeface="Inter"/>
              <a:ea typeface="Inter"/>
              <a:cs typeface="Inter"/>
              <a:sym typeface="Inte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37"/>
          <p:cNvSpPr txBox="1">
            <a:spLocks noGrp="1"/>
          </p:cNvSpPr>
          <p:nvPr>
            <p:ph type="title" idx="4294967295"/>
          </p:nvPr>
        </p:nvSpPr>
        <p:spPr>
          <a:xfrm>
            <a:off x="257950" y="1973050"/>
            <a:ext cx="2095200" cy="1601100"/>
          </a:xfrm>
          <a:prstGeom prst="rect">
            <a:avLst/>
          </a:prstGeom>
          <a:solidFill>
            <a:schemeClr val="accent6"/>
          </a:solidFill>
        </p:spPr>
        <p:txBody>
          <a:bodyPr spcFirstLastPara="1" wrap="square" lIns="91425" tIns="91425" rIns="91425" bIns="91425" anchor="t" anchorCtr="0">
            <a:noAutofit/>
          </a:bodyPr>
          <a:lstStyle/>
          <a:p>
            <a:pPr marL="0" lvl="0" indent="0" algn="ctr" rtl="0">
              <a:spcBef>
                <a:spcPts val="0"/>
              </a:spcBef>
              <a:spcAft>
                <a:spcPts val="0"/>
              </a:spcAft>
              <a:buSzPts val="990"/>
              <a:buNone/>
            </a:pPr>
            <a:br>
              <a:rPr lang="en" sz="1720">
                <a:latin typeface="Manrope"/>
                <a:ea typeface="Manrope"/>
                <a:cs typeface="Manrope"/>
                <a:sym typeface="Manrope"/>
              </a:rPr>
            </a:br>
            <a:br>
              <a:rPr lang="en" sz="1720">
                <a:latin typeface="Manrope"/>
                <a:ea typeface="Manrope"/>
                <a:cs typeface="Manrope"/>
                <a:sym typeface="Manrope"/>
              </a:rPr>
            </a:br>
            <a:r>
              <a:rPr lang="en" sz="1720">
                <a:latin typeface="Manrope"/>
                <a:ea typeface="Manrope"/>
                <a:cs typeface="Manrope"/>
                <a:sym typeface="Manrope"/>
              </a:rPr>
              <a:t>Pre-Installation</a:t>
            </a:r>
            <a:endParaRPr sz="1720">
              <a:latin typeface="Manrope"/>
              <a:ea typeface="Manrope"/>
              <a:cs typeface="Manrope"/>
              <a:sym typeface="Manrope"/>
            </a:endParaRPr>
          </a:p>
        </p:txBody>
      </p:sp>
      <p:sp>
        <p:nvSpPr>
          <p:cNvPr id="283" name="Google Shape;283;p37"/>
          <p:cNvSpPr txBox="1"/>
          <p:nvPr/>
        </p:nvSpPr>
        <p:spPr>
          <a:xfrm>
            <a:off x="2456425" y="455250"/>
            <a:ext cx="6540900" cy="4202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300" b="1">
                <a:solidFill>
                  <a:schemeClr val="dk1"/>
                </a:solidFill>
                <a:latin typeface="Inter"/>
                <a:ea typeface="Inter"/>
                <a:cs typeface="Inter"/>
                <a:sym typeface="Inter"/>
              </a:rPr>
              <a:t>B. Ground model linkage (site investigation and design parameters)</a:t>
            </a:r>
            <a:endParaRPr sz="1300" b="1">
              <a:solidFill>
                <a:schemeClr val="dk1"/>
              </a:solidFill>
              <a:latin typeface="Inter"/>
              <a:ea typeface="Inter"/>
              <a:cs typeface="Inter"/>
              <a:sym typeface="Inter"/>
            </a:endParaRPr>
          </a:p>
          <a:p>
            <a:pPr marL="0" lvl="0" indent="0" algn="l" rtl="0">
              <a:lnSpc>
                <a:spcPct val="115000"/>
              </a:lnSpc>
              <a:spcBef>
                <a:spcPts val="1200"/>
              </a:spcBef>
              <a:spcAft>
                <a:spcPts val="0"/>
              </a:spcAft>
              <a:buNone/>
            </a:pPr>
            <a:r>
              <a:rPr lang="en" sz="1100">
                <a:solidFill>
                  <a:schemeClr val="dk1"/>
                </a:solidFill>
                <a:latin typeface="Inter"/>
                <a:ea typeface="Inter"/>
                <a:cs typeface="Inter"/>
                <a:sym typeface="Inter"/>
              </a:rPr>
              <a:t>(We don’t need to repeat full logs if they already exist in DIGGS SI data, but you </a:t>
            </a:r>
            <a:r>
              <a:rPr lang="en" sz="1100" b="1">
                <a:solidFill>
                  <a:schemeClr val="dk1"/>
                </a:solidFill>
                <a:latin typeface="Inter"/>
                <a:ea typeface="Inter"/>
                <a:cs typeface="Inter"/>
                <a:sym typeface="Inter"/>
              </a:rPr>
              <a:t>must</a:t>
            </a:r>
            <a:r>
              <a:rPr lang="en" sz="1100">
                <a:solidFill>
                  <a:schemeClr val="dk1"/>
                </a:solidFill>
                <a:latin typeface="Inter"/>
                <a:ea typeface="Inter"/>
                <a:cs typeface="Inter"/>
                <a:sym typeface="Inter"/>
              </a:rPr>
              <a:t> link the RI design to them.)</a:t>
            </a:r>
            <a:endParaRPr sz="1100">
              <a:solidFill>
                <a:schemeClr val="dk1"/>
              </a:solidFill>
              <a:latin typeface="Inter"/>
              <a:ea typeface="Inter"/>
              <a:cs typeface="Inter"/>
              <a:sym typeface="Inter"/>
            </a:endParaRPr>
          </a:p>
          <a:p>
            <a:pPr marL="457200" lvl="0" indent="-298450" algn="l" rtl="0">
              <a:lnSpc>
                <a:spcPct val="115000"/>
              </a:lnSpc>
              <a:spcBef>
                <a:spcPts val="1200"/>
              </a:spcBef>
              <a:spcAft>
                <a:spcPts val="0"/>
              </a:spcAft>
              <a:buClr>
                <a:schemeClr val="dk1"/>
              </a:buClr>
              <a:buSzPts val="1100"/>
              <a:buChar char="●"/>
            </a:pPr>
            <a:r>
              <a:rPr lang="en" sz="1100" b="1">
                <a:solidFill>
                  <a:schemeClr val="dk1"/>
                </a:solidFill>
                <a:latin typeface="Inter"/>
                <a:ea typeface="Inter"/>
                <a:cs typeface="Inter"/>
                <a:sym typeface="Inter"/>
              </a:rPr>
              <a:t>[REQ] ReferenceToInvestigationData</a:t>
            </a:r>
            <a:r>
              <a:rPr lang="en" sz="1100">
                <a:solidFill>
                  <a:schemeClr val="dk1"/>
                </a:solidFill>
                <a:latin typeface="Inter"/>
                <a:ea typeface="Inter"/>
                <a:cs typeface="Inter"/>
                <a:sym typeface="Inter"/>
              </a:rPr>
              <a:t> (IDs/links to boreholes/CPTs/lab tests used)</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latin typeface="Inter"/>
                <a:ea typeface="Inter"/>
                <a:cs typeface="Inter"/>
                <a:sym typeface="Inter"/>
              </a:rPr>
              <a:t>[REQ] DesignGroundwaterLevel</a:t>
            </a:r>
            <a:r>
              <a:rPr lang="en" sz="1100">
                <a:solidFill>
                  <a:schemeClr val="dk1"/>
                </a:solidFill>
                <a:latin typeface="Inter"/>
                <a:ea typeface="Inter"/>
                <a:cs typeface="Inter"/>
                <a:sym typeface="Inter"/>
              </a:rPr>
              <a:t> (elevation; plus basis: seasonal high/mean)</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latin typeface="Inter"/>
                <a:ea typeface="Inter"/>
                <a:cs typeface="Inter"/>
                <a:sym typeface="Inter"/>
              </a:rPr>
              <a:t>[REQ] GoverningSoilLayers</a:t>
            </a:r>
            <a:r>
              <a:rPr lang="en" sz="1100">
                <a:solidFill>
                  <a:schemeClr val="dk1"/>
                </a:solidFill>
                <a:latin typeface="Inter"/>
                <a:ea typeface="Inter"/>
                <a:cs typeface="Inter"/>
                <a:sym typeface="Inter"/>
              </a:rPr>
              <a:t> (IDs or names; thickness ranges)</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latin typeface="Inter"/>
                <a:ea typeface="Inter"/>
                <a:cs typeface="Inter"/>
                <a:sym typeface="Inter"/>
              </a:rPr>
              <a:t>[REC] DesignParameterProfiles</a:t>
            </a:r>
            <a:r>
              <a:rPr lang="en" sz="1100">
                <a:solidFill>
                  <a:schemeClr val="dk1"/>
                </a:solidFill>
                <a:latin typeface="Inter"/>
                <a:ea typeface="Inter"/>
                <a:cs typeface="Inter"/>
                <a:sym typeface="Inter"/>
              </a:rPr>
              <a:t> (per layer or depth-dependent):</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914400" lvl="1" indent="-298450" algn="l" rtl="0">
              <a:lnSpc>
                <a:spcPct val="115000"/>
              </a:lnSpc>
              <a:spcBef>
                <a:spcPts val="0"/>
              </a:spcBef>
              <a:spcAft>
                <a:spcPts val="0"/>
              </a:spcAft>
              <a:buClr>
                <a:schemeClr val="dk1"/>
              </a:buClr>
              <a:buSzPts val="1100"/>
              <a:buChar char="○"/>
            </a:pPr>
            <a:r>
              <a:rPr lang="en" sz="1100" b="1">
                <a:solidFill>
                  <a:schemeClr val="dk1"/>
                </a:solidFill>
                <a:latin typeface="Inter"/>
                <a:ea typeface="Inter"/>
                <a:cs typeface="Inter"/>
                <a:sym typeface="Inter"/>
              </a:rPr>
              <a:t>Su(z)</a:t>
            </a:r>
            <a:r>
              <a:rPr lang="en" sz="1100">
                <a:solidFill>
                  <a:schemeClr val="dk1"/>
                </a:solidFill>
                <a:latin typeface="Inter"/>
                <a:ea typeface="Inter"/>
                <a:cs typeface="Inter"/>
                <a:sym typeface="Inter"/>
              </a:rPr>
              <a:t> or strength parameters (Su, φ’, c’)</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914400" lvl="1" indent="-298450" algn="l" rtl="0">
              <a:lnSpc>
                <a:spcPct val="115000"/>
              </a:lnSpc>
              <a:spcBef>
                <a:spcPts val="0"/>
              </a:spcBef>
              <a:spcAft>
                <a:spcPts val="0"/>
              </a:spcAft>
              <a:buClr>
                <a:schemeClr val="dk1"/>
              </a:buClr>
              <a:buSzPts val="1100"/>
              <a:buChar char="○"/>
            </a:pPr>
            <a:r>
              <a:rPr lang="en" sz="1100" b="1">
                <a:solidFill>
                  <a:schemeClr val="dk1"/>
                </a:solidFill>
                <a:latin typeface="Inter"/>
                <a:ea typeface="Inter"/>
                <a:cs typeface="Inter"/>
                <a:sym typeface="Inter"/>
              </a:rPr>
              <a:t>Compressibility</a:t>
            </a:r>
            <a:r>
              <a:rPr lang="en" sz="1100">
                <a:solidFill>
                  <a:schemeClr val="dk1"/>
                </a:solidFill>
                <a:latin typeface="Inter"/>
                <a:ea typeface="Inter"/>
                <a:cs typeface="Inter"/>
                <a:sym typeface="Inter"/>
              </a:rPr>
              <a:t> (mv, Cc/Cr, Cv)</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914400" lvl="1" indent="-298450" algn="l" rtl="0">
              <a:lnSpc>
                <a:spcPct val="115000"/>
              </a:lnSpc>
              <a:spcBef>
                <a:spcPts val="0"/>
              </a:spcBef>
              <a:spcAft>
                <a:spcPts val="0"/>
              </a:spcAft>
              <a:buClr>
                <a:schemeClr val="dk1"/>
              </a:buClr>
              <a:buSzPts val="1100"/>
              <a:buChar char="○"/>
            </a:pPr>
            <a:r>
              <a:rPr lang="en" sz="1100" b="1">
                <a:solidFill>
                  <a:schemeClr val="dk1"/>
                </a:solidFill>
                <a:latin typeface="Inter"/>
                <a:ea typeface="Inter"/>
                <a:cs typeface="Inter"/>
                <a:sym typeface="Inter"/>
              </a:rPr>
              <a:t>Stiffness</a:t>
            </a:r>
            <a:r>
              <a:rPr lang="en" sz="1100">
                <a:solidFill>
                  <a:schemeClr val="dk1"/>
                </a:solidFill>
                <a:latin typeface="Inter"/>
                <a:ea typeface="Inter"/>
                <a:cs typeface="Inter"/>
                <a:sym typeface="Inter"/>
              </a:rPr>
              <a:t> (E or equivalent)</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latin typeface="Inter"/>
                <a:ea typeface="Inter"/>
                <a:cs typeface="Inter"/>
                <a:sym typeface="Inter"/>
              </a:rPr>
              <a:t>[OPT] GeohazardFlags</a:t>
            </a:r>
            <a:r>
              <a:rPr lang="en" sz="1100">
                <a:solidFill>
                  <a:schemeClr val="dk1"/>
                </a:solidFill>
                <a:latin typeface="Inter"/>
                <a:ea typeface="Inter"/>
                <a:cs typeface="Inter"/>
                <a:sym typeface="Inter"/>
              </a:rPr>
              <a:t> (soft pockets, organic, liquefaction susceptibility, obstructions risk)</a:t>
            </a:r>
            <a:endParaRPr sz="1300" b="1">
              <a:solidFill>
                <a:schemeClr val="dk1"/>
              </a:solidFill>
              <a:latin typeface="Inter"/>
              <a:ea typeface="Inter"/>
              <a:cs typeface="Inter"/>
              <a:sym typeface="Inte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38"/>
          <p:cNvSpPr txBox="1">
            <a:spLocks noGrp="1"/>
          </p:cNvSpPr>
          <p:nvPr>
            <p:ph type="title" idx="4294967295"/>
          </p:nvPr>
        </p:nvSpPr>
        <p:spPr>
          <a:xfrm>
            <a:off x="257950" y="1973050"/>
            <a:ext cx="2095200" cy="1601100"/>
          </a:xfrm>
          <a:prstGeom prst="rect">
            <a:avLst/>
          </a:prstGeom>
          <a:solidFill>
            <a:schemeClr val="accent6"/>
          </a:solidFill>
        </p:spPr>
        <p:txBody>
          <a:bodyPr spcFirstLastPara="1" wrap="square" lIns="91425" tIns="91425" rIns="91425" bIns="91425" anchor="t" anchorCtr="0">
            <a:noAutofit/>
          </a:bodyPr>
          <a:lstStyle/>
          <a:p>
            <a:pPr marL="0" lvl="0" indent="0" algn="ctr" rtl="0">
              <a:spcBef>
                <a:spcPts val="0"/>
              </a:spcBef>
              <a:spcAft>
                <a:spcPts val="0"/>
              </a:spcAft>
              <a:buSzPts val="990"/>
              <a:buNone/>
            </a:pPr>
            <a:br>
              <a:rPr lang="en" sz="1720">
                <a:latin typeface="Manrope"/>
                <a:ea typeface="Manrope"/>
                <a:cs typeface="Manrope"/>
                <a:sym typeface="Manrope"/>
              </a:rPr>
            </a:br>
            <a:br>
              <a:rPr lang="en" sz="1720">
                <a:latin typeface="Manrope"/>
                <a:ea typeface="Manrope"/>
                <a:cs typeface="Manrope"/>
                <a:sym typeface="Manrope"/>
              </a:rPr>
            </a:br>
            <a:r>
              <a:rPr lang="en" sz="1720">
                <a:latin typeface="Manrope"/>
                <a:ea typeface="Manrope"/>
                <a:cs typeface="Manrope"/>
                <a:sym typeface="Manrope"/>
              </a:rPr>
              <a:t>Pre-Installation</a:t>
            </a:r>
            <a:endParaRPr sz="1720">
              <a:latin typeface="Manrope"/>
              <a:ea typeface="Manrope"/>
              <a:cs typeface="Manrope"/>
              <a:sym typeface="Manrope"/>
            </a:endParaRPr>
          </a:p>
        </p:txBody>
      </p:sp>
      <p:sp>
        <p:nvSpPr>
          <p:cNvPr id="289" name="Google Shape;289;p38"/>
          <p:cNvSpPr txBox="1"/>
          <p:nvPr/>
        </p:nvSpPr>
        <p:spPr>
          <a:xfrm>
            <a:off x="2456425" y="455250"/>
            <a:ext cx="6540900" cy="4233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300" b="1">
                <a:solidFill>
                  <a:schemeClr val="dk1"/>
                </a:solidFill>
                <a:latin typeface="Inter"/>
                <a:ea typeface="Inter"/>
                <a:cs typeface="Inter"/>
                <a:sym typeface="Inter"/>
              </a:rPr>
              <a:t>C. RI/CMC design intent (what was designed)</a:t>
            </a:r>
            <a:endParaRPr sz="1300" b="1">
              <a:solidFill>
                <a:schemeClr val="dk1"/>
              </a:solidFill>
              <a:latin typeface="Inter"/>
              <a:ea typeface="Inter"/>
              <a:cs typeface="Inter"/>
              <a:sym typeface="Inter"/>
            </a:endParaRPr>
          </a:p>
          <a:p>
            <a:pPr marL="0" lvl="0" indent="0" algn="l" rtl="0">
              <a:lnSpc>
                <a:spcPct val="115000"/>
              </a:lnSpc>
              <a:spcBef>
                <a:spcPts val="1200"/>
              </a:spcBef>
              <a:spcAft>
                <a:spcPts val="0"/>
              </a:spcAft>
              <a:buNone/>
            </a:pPr>
            <a:r>
              <a:rPr lang="en" sz="1100" b="1">
                <a:solidFill>
                  <a:schemeClr val="dk1"/>
                </a:solidFill>
                <a:latin typeface="Inter"/>
                <a:ea typeface="Inter"/>
                <a:cs typeface="Inter"/>
                <a:sym typeface="Inter"/>
              </a:rPr>
              <a:t>C1. Treatment area / zones (recommended as a “TreatmentArea” feature)</a:t>
            </a:r>
            <a:endParaRPr sz="1100" b="1">
              <a:solidFill>
                <a:schemeClr val="dk1"/>
              </a:solidFill>
              <a:latin typeface="Inter"/>
              <a:ea typeface="Inter"/>
              <a:cs typeface="Inter"/>
              <a:sym typeface="Inter"/>
            </a:endParaRPr>
          </a:p>
          <a:p>
            <a:pPr marL="457200" lvl="0" indent="-298450" algn="l" rtl="0">
              <a:lnSpc>
                <a:spcPct val="115000"/>
              </a:lnSpc>
              <a:spcBef>
                <a:spcPts val="1200"/>
              </a:spcBef>
              <a:spcAft>
                <a:spcPts val="0"/>
              </a:spcAft>
              <a:buClr>
                <a:schemeClr val="dk1"/>
              </a:buClr>
              <a:buSzPts val="1100"/>
              <a:buFont typeface="Inter"/>
              <a:buChar char="●"/>
            </a:pPr>
            <a:r>
              <a:rPr lang="en" sz="1100" b="1">
                <a:solidFill>
                  <a:schemeClr val="dk1"/>
                </a:solidFill>
                <a:latin typeface="Inter"/>
                <a:ea typeface="Inter"/>
                <a:cs typeface="Inter"/>
                <a:sym typeface="Inter"/>
              </a:rPr>
              <a:t>[REQ] TreatmentAreaID</a:t>
            </a:r>
            <a:br>
              <a:rPr lang="en" sz="1100" b="1">
                <a:solidFill>
                  <a:schemeClr val="dk1"/>
                </a:solidFill>
                <a:latin typeface="Inter"/>
                <a:ea typeface="Inter"/>
                <a:cs typeface="Inter"/>
                <a:sym typeface="Inter"/>
              </a:rPr>
            </a:br>
            <a:endParaRPr sz="1100" b="1">
              <a:solidFill>
                <a:schemeClr val="dk1"/>
              </a:solidFill>
              <a:latin typeface="Inter"/>
              <a:ea typeface="Inter"/>
              <a:cs typeface="Inter"/>
              <a:sym typeface="Inter"/>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latin typeface="Inter"/>
                <a:ea typeface="Inter"/>
                <a:cs typeface="Inter"/>
                <a:sym typeface="Inter"/>
              </a:rPr>
              <a:t>[REQ] TreatmentAreaBoundaryGeometry</a:t>
            </a:r>
            <a:r>
              <a:rPr lang="en" sz="1100">
                <a:solidFill>
                  <a:schemeClr val="dk1"/>
                </a:solidFill>
                <a:latin typeface="Inter"/>
                <a:ea typeface="Inter"/>
                <a:cs typeface="Inter"/>
                <a:sym typeface="Inter"/>
              </a:rPr>
              <a:t> (polygon)</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latin typeface="Inter"/>
                <a:ea typeface="Inter"/>
                <a:cs typeface="Inter"/>
                <a:sym typeface="Inter"/>
              </a:rPr>
              <a:t>[REQ] GroundImprovementPurpose</a:t>
            </a:r>
            <a:r>
              <a:rPr lang="en" sz="1100">
                <a:solidFill>
                  <a:schemeClr val="dk1"/>
                </a:solidFill>
                <a:latin typeface="Inter"/>
                <a:ea typeface="Inter"/>
                <a:cs typeface="Inter"/>
                <a:sym typeface="Inter"/>
              </a:rPr>
              <a:t> (enumeration; settlement control / bearing / stability / etc.)</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latin typeface="Inter"/>
                <a:ea typeface="Inter"/>
                <a:cs typeface="Inter"/>
                <a:sym typeface="Inter"/>
              </a:rPr>
              <a:t>[REC] ZoneType</a:t>
            </a:r>
            <a:r>
              <a:rPr lang="en" sz="1100">
                <a:solidFill>
                  <a:schemeClr val="dk1"/>
                </a:solidFill>
                <a:latin typeface="Inter"/>
                <a:ea typeface="Inter"/>
                <a:cs typeface="Inter"/>
                <a:sym typeface="Inter"/>
              </a:rPr>
              <a:t> (building slab / embankment / tank / platform)</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lnSpc>
                <a:spcPct val="115000"/>
              </a:lnSpc>
              <a:spcBef>
                <a:spcPts val="0"/>
              </a:spcBef>
              <a:spcAft>
                <a:spcPts val="0"/>
              </a:spcAft>
              <a:buClr>
                <a:schemeClr val="dk1"/>
              </a:buClr>
              <a:buSzPts val="1100"/>
              <a:buFont typeface="Inter"/>
              <a:buChar char="●"/>
            </a:pPr>
            <a:r>
              <a:rPr lang="en" sz="1100" b="1">
                <a:solidFill>
                  <a:schemeClr val="dk1"/>
                </a:solidFill>
                <a:latin typeface="Inter"/>
                <a:ea typeface="Inter"/>
                <a:cs typeface="Inter"/>
                <a:sym typeface="Inter"/>
              </a:rPr>
              <a:t>[REC] TargetPerformanceCriteria</a:t>
            </a:r>
            <a:br>
              <a:rPr lang="en" sz="1100" b="1">
                <a:solidFill>
                  <a:schemeClr val="dk1"/>
                </a:solidFill>
                <a:latin typeface="Inter"/>
                <a:ea typeface="Inter"/>
                <a:cs typeface="Inter"/>
                <a:sym typeface="Inter"/>
              </a:rPr>
            </a:br>
            <a:endParaRPr sz="1100" b="1">
              <a:solidFill>
                <a:schemeClr val="dk1"/>
              </a:solidFill>
              <a:latin typeface="Inter"/>
              <a:ea typeface="Inter"/>
              <a:cs typeface="Inter"/>
              <a:sym typeface="Inter"/>
            </a:endParaRPr>
          </a:p>
          <a:p>
            <a:pPr marL="914400" lvl="1" indent="-298450" algn="l" rtl="0">
              <a:lnSpc>
                <a:spcPct val="115000"/>
              </a:lnSpc>
              <a:spcBef>
                <a:spcPts val="0"/>
              </a:spcBef>
              <a:spcAft>
                <a:spcPts val="0"/>
              </a:spcAft>
              <a:buClr>
                <a:schemeClr val="dk1"/>
              </a:buClr>
              <a:buSzPts val="1100"/>
              <a:buChar char="○"/>
            </a:pPr>
            <a:r>
              <a:rPr lang="en" sz="1100" b="1">
                <a:solidFill>
                  <a:schemeClr val="dk1"/>
                </a:solidFill>
                <a:latin typeface="Inter"/>
                <a:ea typeface="Inter"/>
                <a:cs typeface="Inter"/>
                <a:sym typeface="Inter"/>
              </a:rPr>
              <a:t>MaxTotalSettlement</a:t>
            </a:r>
            <a:r>
              <a:rPr lang="en" sz="1100">
                <a:solidFill>
                  <a:schemeClr val="dk1"/>
                </a:solidFill>
                <a:latin typeface="Inter"/>
                <a:ea typeface="Inter"/>
                <a:cs typeface="Inter"/>
                <a:sym typeface="Inter"/>
              </a:rPr>
              <a:t> (mm)</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914400" lvl="1" indent="-298450" algn="l" rtl="0">
              <a:lnSpc>
                <a:spcPct val="115000"/>
              </a:lnSpc>
              <a:spcBef>
                <a:spcPts val="0"/>
              </a:spcBef>
              <a:spcAft>
                <a:spcPts val="0"/>
              </a:spcAft>
              <a:buClr>
                <a:schemeClr val="dk1"/>
              </a:buClr>
              <a:buSzPts val="1100"/>
              <a:buChar char="○"/>
            </a:pPr>
            <a:r>
              <a:rPr lang="en" sz="1100" b="1">
                <a:solidFill>
                  <a:schemeClr val="dk1"/>
                </a:solidFill>
                <a:latin typeface="Inter"/>
                <a:ea typeface="Inter"/>
                <a:cs typeface="Inter"/>
                <a:sym typeface="Inter"/>
              </a:rPr>
              <a:t>MaxDifferentialSettlement / AngularDistortion</a:t>
            </a:r>
            <a:r>
              <a:rPr lang="en" sz="1100">
                <a:solidFill>
                  <a:schemeClr val="dk1"/>
                </a:solidFill>
                <a:latin typeface="Inter"/>
                <a:ea typeface="Inter"/>
                <a:cs typeface="Inter"/>
                <a:sym typeface="Inter"/>
              </a:rPr>
              <a:t> (mm or ratio)</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914400" lvl="1" indent="-298450" algn="l" rtl="0">
              <a:lnSpc>
                <a:spcPct val="115000"/>
              </a:lnSpc>
              <a:spcBef>
                <a:spcPts val="0"/>
              </a:spcBef>
              <a:spcAft>
                <a:spcPts val="0"/>
              </a:spcAft>
              <a:buClr>
                <a:schemeClr val="dk1"/>
              </a:buClr>
              <a:buSzPts val="1100"/>
              <a:buChar char="○"/>
            </a:pPr>
            <a:r>
              <a:rPr lang="en" sz="1100" b="1">
                <a:solidFill>
                  <a:schemeClr val="dk1"/>
                </a:solidFill>
                <a:latin typeface="Inter"/>
                <a:ea typeface="Inter"/>
                <a:cs typeface="Inter"/>
                <a:sym typeface="Inter"/>
              </a:rPr>
              <a:t>FactorOfSafetyTargets</a:t>
            </a:r>
            <a:r>
              <a:rPr lang="en" sz="1100">
                <a:solidFill>
                  <a:schemeClr val="dk1"/>
                </a:solidFill>
                <a:latin typeface="Inter"/>
                <a:ea typeface="Inter"/>
                <a:cs typeface="Inter"/>
                <a:sym typeface="Inter"/>
              </a:rPr>
              <a:t> (bearing/stability)</a:t>
            </a:r>
            <a:br>
              <a:rPr lang="en" sz="1100">
                <a:solidFill>
                  <a:schemeClr val="dk1"/>
                </a:solidFill>
                <a:latin typeface="Inter"/>
                <a:ea typeface="Inter"/>
                <a:cs typeface="Inter"/>
                <a:sym typeface="Inter"/>
              </a:rPr>
            </a:br>
            <a:endParaRPr sz="1300" b="1">
              <a:solidFill>
                <a:schemeClr val="dk1"/>
              </a:solidFill>
              <a:latin typeface="Inter"/>
              <a:ea typeface="Inter"/>
              <a:cs typeface="Inter"/>
              <a:sym typeface="Inte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39"/>
          <p:cNvSpPr txBox="1">
            <a:spLocks noGrp="1"/>
          </p:cNvSpPr>
          <p:nvPr>
            <p:ph type="title" idx="4294967295"/>
          </p:nvPr>
        </p:nvSpPr>
        <p:spPr>
          <a:xfrm>
            <a:off x="257950" y="1973050"/>
            <a:ext cx="2095200" cy="1601100"/>
          </a:xfrm>
          <a:prstGeom prst="rect">
            <a:avLst/>
          </a:prstGeom>
          <a:solidFill>
            <a:schemeClr val="accent6"/>
          </a:solidFill>
        </p:spPr>
        <p:txBody>
          <a:bodyPr spcFirstLastPara="1" wrap="square" lIns="91425" tIns="91425" rIns="91425" bIns="91425" anchor="t" anchorCtr="0">
            <a:noAutofit/>
          </a:bodyPr>
          <a:lstStyle/>
          <a:p>
            <a:pPr marL="0" lvl="0" indent="0" algn="ctr" rtl="0">
              <a:spcBef>
                <a:spcPts val="0"/>
              </a:spcBef>
              <a:spcAft>
                <a:spcPts val="0"/>
              </a:spcAft>
              <a:buSzPts val="990"/>
              <a:buNone/>
            </a:pPr>
            <a:br>
              <a:rPr lang="en" sz="1720">
                <a:latin typeface="Manrope"/>
                <a:ea typeface="Manrope"/>
                <a:cs typeface="Manrope"/>
                <a:sym typeface="Manrope"/>
              </a:rPr>
            </a:br>
            <a:br>
              <a:rPr lang="en" sz="1720">
                <a:latin typeface="Manrope"/>
                <a:ea typeface="Manrope"/>
                <a:cs typeface="Manrope"/>
                <a:sym typeface="Manrope"/>
              </a:rPr>
            </a:br>
            <a:r>
              <a:rPr lang="en" sz="1720">
                <a:latin typeface="Manrope"/>
                <a:ea typeface="Manrope"/>
                <a:cs typeface="Manrope"/>
                <a:sym typeface="Manrope"/>
              </a:rPr>
              <a:t>Pre-Installation</a:t>
            </a:r>
            <a:endParaRPr sz="1720">
              <a:latin typeface="Manrope"/>
              <a:ea typeface="Manrope"/>
              <a:cs typeface="Manrope"/>
              <a:sym typeface="Manrope"/>
            </a:endParaRPr>
          </a:p>
        </p:txBody>
      </p:sp>
      <p:sp>
        <p:nvSpPr>
          <p:cNvPr id="295" name="Google Shape;295;p39"/>
          <p:cNvSpPr txBox="1"/>
          <p:nvPr/>
        </p:nvSpPr>
        <p:spPr>
          <a:xfrm>
            <a:off x="2474750" y="321000"/>
            <a:ext cx="6540900" cy="4596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100" b="1">
                <a:solidFill>
                  <a:schemeClr val="dk1"/>
                </a:solidFill>
                <a:latin typeface="Inter"/>
                <a:ea typeface="Inter"/>
                <a:cs typeface="Inter"/>
                <a:sym typeface="Inter"/>
              </a:rPr>
              <a:t>C2. CMC layout and geometry (design values)</a:t>
            </a:r>
            <a:endParaRPr sz="1100" b="1">
              <a:solidFill>
                <a:schemeClr val="dk1"/>
              </a:solidFill>
              <a:latin typeface="Inter"/>
              <a:ea typeface="Inter"/>
              <a:cs typeface="Inter"/>
              <a:sym typeface="Inter"/>
            </a:endParaRPr>
          </a:p>
          <a:p>
            <a:pPr marL="457200" lvl="0" indent="-298450" algn="l" rtl="0">
              <a:lnSpc>
                <a:spcPct val="115000"/>
              </a:lnSpc>
              <a:spcBef>
                <a:spcPts val="1200"/>
              </a:spcBef>
              <a:spcAft>
                <a:spcPts val="0"/>
              </a:spcAft>
              <a:buClr>
                <a:schemeClr val="dk1"/>
              </a:buClr>
              <a:buSzPts val="1100"/>
              <a:buChar char="●"/>
            </a:pPr>
            <a:r>
              <a:rPr lang="en" sz="1100" b="1">
                <a:solidFill>
                  <a:schemeClr val="dk1"/>
                </a:solidFill>
                <a:latin typeface="Inter"/>
                <a:ea typeface="Inter"/>
                <a:cs typeface="Inter"/>
                <a:sym typeface="Inter"/>
              </a:rPr>
              <a:t>[REQ] DesignInclusionType</a:t>
            </a:r>
            <a:r>
              <a:rPr lang="en" sz="1100">
                <a:solidFill>
                  <a:schemeClr val="dk1"/>
                </a:solidFill>
                <a:latin typeface="Inter"/>
                <a:ea typeface="Inter"/>
                <a:cs typeface="Inter"/>
                <a:sym typeface="Inter"/>
              </a:rPr>
              <a:t> (RigidInclusion / CMC)</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latin typeface="Inter"/>
                <a:ea typeface="Inter"/>
                <a:cs typeface="Inter"/>
                <a:sym typeface="Inter"/>
              </a:rPr>
              <a:t>[REQ] PatternType</a:t>
            </a:r>
            <a:r>
              <a:rPr lang="en" sz="1100">
                <a:solidFill>
                  <a:schemeClr val="dk1"/>
                </a:solidFill>
                <a:latin typeface="Inter"/>
                <a:ea typeface="Inter"/>
                <a:cs typeface="Inter"/>
                <a:sym typeface="Inter"/>
              </a:rPr>
              <a:t> (square / triangular / custom)</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latin typeface="Inter"/>
                <a:ea typeface="Inter"/>
                <a:cs typeface="Inter"/>
                <a:sym typeface="Inter"/>
              </a:rPr>
              <a:t>[REQ] DesignSpacingS</a:t>
            </a:r>
            <a:r>
              <a:rPr lang="en" sz="1100">
                <a:solidFill>
                  <a:schemeClr val="dk1"/>
                </a:solidFill>
                <a:latin typeface="Inter"/>
                <a:ea typeface="Inter"/>
                <a:cs typeface="Inter"/>
                <a:sym typeface="Inter"/>
              </a:rPr>
              <a:t> (m)</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latin typeface="Inter"/>
                <a:ea typeface="Inter"/>
                <a:cs typeface="Inter"/>
                <a:sym typeface="Inter"/>
              </a:rPr>
              <a:t>[REQ] DesignDiameterD</a:t>
            </a:r>
            <a:r>
              <a:rPr lang="en" sz="1100">
                <a:solidFill>
                  <a:schemeClr val="dk1"/>
                </a:solidFill>
                <a:latin typeface="Inter"/>
                <a:ea typeface="Inter"/>
                <a:cs typeface="Inter"/>
                <a:sym typeface="Inter"/>
              </a:rPr>
              <a:t> (m)</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latin typeface="Inter"/>
                <a:ea typeface="Inter"/>
                <a:cs typeface="Inter"/>
                <a:sym typeface="Inter"/>
              </a:rPr>
              <a:t>[REQ] DesignDepth / ToeElevation</a:t>
            </a:r>
            <a:r>
              <a:rPr lang="en" sz="1100">
                <a:solidFill>
                  <a:schemeClr val="dk1"/>
                </a:solidFill>
                <a:latin typeface="Inter"/>
                <a:ea typeface="Inter"/>
                <a:cs typeface="Inter"/>
                <a:sym typeface="Inter"/>
              </a:rPr>
              <a:t> (m or elevation)</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latin typeface="Inter"/>
                <a:ea typeface="Inter"/>
                <a:cs typeface="Inter"/>
                <a:sym typeface="Inter"/>
              </a:rPr>
              <a:t>[REQ] CutoffElevation</a:t>
            </a:r>
            <a:r>
              <a:rPr lang="en" sz="1100">
                <a:solidFill>
                  <a:schemeClr val="dk1"/>
                </a:solidFill>
                <a:latin typeface="Inter"/>
                <a:ea typeface="Inter"/>
                <a:cs typeface="Inter"/>
                <a:sym typeface="Inter"/>
              </a:rPr>
              <a:t> (planned column head level)</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latin typeface="Inter"/>
                <a:ea typeface="Inter"/>
                <a:cs typeface="Inter"/>
                <a:sym typeface="Inter"/>
              </a:rPr>
              <a:t>[REQ] EndBearingLayerDefinition</a:t>
            </a:r>
            <a:r>
              <a:rPr lang="en" sz="1100">
                <a:solidFill>
                  <a:schemeClr val="dk1"/>
                </a:solidFill>
                <a:latin typeface="Inter"/>
                <a:ea typeface="Inter"/>
                <a:cs typeface="Inter"/>
                <a:sym typeface="Inter"/>
              </a:rPr>
              <a:t> (text + layer ID)</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latin typeface="Inter"/>
                <a:ea typeface="Inter"/>
                <a:cs typeface="Inter"/>
                <a:sym typeface="Inter"/>
              </a:rPr>
              <a:t>[REC] EdgeTreatmentDetails</a:t>
            </a:r>
            <a:r>
              <a:rPr lang="en" sz="1100">
                <a:solidFill>
                  <a:schemeClr val="dk1"/>
                </a:solidFill>
                <a:latin typeface="Inter"/>
                <a:ea typeface="Inter"/>
                <a:cs typeface="Inter"/>
                <a:sym typeface="Inter"/>
              </a:rPr>
              <a:t> (half‑spacing, perimeter rows, transitions)</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latin typeface="Inter"/>
                <a:ea typeface="Inter"/>
                <a:cs typeface="Inter"/>
                <a:sym typeface="Inter"/>
              </a:rPr>
              <a:t>[REC] AreaReplacementRatio</a:t>
            </a:r>
            <a:r>
              <a:rPr lang="en" sz="1100">
                <a:solidFill>
                  <a:schemeClr val="dk1"/>
                </a:solidFill>
                <a:latin typeface="Inter"/>
                <a:ea typeface="Inter"/>
                <a:cs typeface="Inter"/>
                <a:sym typeface="Inter"/>
              </a:rPr>
              <a:t> (dimensionless)</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latin typeface="Inter"/>
                <a:ea typeface="Inter"/>
                <a:cs typeface="Inter"/>
                <a:sym typeface="Inter"/>
              </a:rPr>
              <a:t>[REC] DesignStressConcentrationAssumption</a:t>
            </a:r>
            <a:r>
              <a:rPr lang="en" sz="1100">
                <a:solidFill>
                  <a:schemeClr val="dk1"/>
                </a:solidFill>
                <a:latin typeface="Inter"/>
                <a:ea typeface="Inter"/>
                <a:cs typeface="Inter"/>
                <a:sym typeface="Inter"/>
              </a:rPr>
              <a:t> (dimensionless, if used)</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latin typeface="Inter"/>
                <a:ea typeface="Inter"/>
                <a:cs typeface="Inter"/>
                <a:sym typeface="Inter"/>
              </a:rPr>
              <a:t>[OPT] DesignMethodReference</a:t>
            </a:r>
            <a:r>
              <a:rPr lang="en" sz="1100">
                <a:solidFill>
                  <a:schemeClr val="dk1"/>
                </a:solidFill>
                <a:latin typeface="Inter"/>
                <a:ea typeface="Inter"/>
                <a:cs typeface="Inter"/>
                <a:sym typeface="Inter"/>
              </a:rPr>
              <a:t> (unit‑cell / numerical / project method memo)</a:t>
            </a:r>
            <a:endParaRPr sz="1300" b="1">
              <a:solidFill>
                <a:schemeClr val="dk1"/>
              </a:solidFill>
              <a:latin typeface="Inter"/>
              <a:ea typeface="Inter"/>
              <a:cs typeface="Inter"/>
              <a:sym typeface="Inte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40"/>
          <p:cNvSpPr txBox="1">
            <a:spLocks noGrp="1"/>
          </p:cNvSpPr>
          <p:nvPr>
            <p:ph type="title" idx="4294967295"/>
          </p:nvPr>
        </p:nvSpPr>
        <p:spPr>
          <a:xfrm>
            <a:off x="257950" y="1973050"/>
            <a:ext cx="2095200" cy="1601100"/>
          </a:xfrm>
          <a:prstGeom prst="rect">
            <a:avLst/>
          </a:prstGeom>
          <a:solidFill>
            <a:schemeClr val="accent6"/>
          </a:solidFill>
        </p:spPr>
        <p:txBody>
          <a:bodyPr spcFirstLastPara="1" wrap="square" lIns="91425" tIns="91425" rIns="91425" bIns="91425" anchor="t" anchorCtr="0">
            <a:noAutofit/>
          </a:bodyPr>
          <a:lstStyle/>
          <a:p>
            <a:pPr marL="0" lvl="0" indent="0" algn="ctr" rtl="0">
              <a:spcBef>
                <a:spcPts val="0"/>
              </a:spcBef>
              <a:spcAft>
                <a:spcPts val="0"/>
              </a:spcAft>
              <a:buSzPts val="990"/>
              <a:buNone/>
            </a:pPr>
            <a:br>
              <a:rPr lang="en" sz="1720">
                <a:latin typeface="Manrope"/>
                <a:ea typeface="Manrope"/>
                <a:cs typeface="Manrope"/>
                <a:sym typeface="Manrope"/>
              </a:rPr>
            </a:br>
            <a:br>
              <a:rPr lang="en" sz="1720">
                <a:latin typeface="Manrope"/>
                <a:ea typeface="Manrope"/>
                <a:cs typeface="Manrope"/>
                <a:sym typeface="Manrope"/>
              </a:rPr>
            </a:br>
            <a:r>
              <a:rPr lang="en" sz="1720">
                <a:latin typeface="Manrope"/>
                <a:ea typeface="Manrope"/>
                <a:cs typeface="Manrope"/>
                <a:sym typeface="Manrope"/>
              </a:rPr>
              <a:t>Pre-Installation</a:t>
            </a:r>
            <a:endParaRPr sz="1720">
              <a:latin typeface="Manrope"/>
              <a:ea typeface="Manrope"/>
              <a:cs typeface="Manrope"/>
              <a:sym typeface="Manrope"/>
            </a:endParaRPr>
          </a:p>
        </p:txBody>
      </p:sp>
      <p:sp>
        <p:nvSpPr>
          <p:cNvPr id="301" name="Google Shape;301;p40"/>
          <p:cNvSpPr txBox="1"/>
          <p:nvPr/>
        </p:nvSpPr>
        <p:spPr>
          <a:xfrm>
            <a:off x="2474750" y="321000"/>
            <a:ext cx="6540900" cy="3818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100" b="1">
                <a:solidFill>
                  <a:schemeClr val="dk1"/>
                </a:solidFill>
                <a:latin typeface="Inter"/>
                <a:ea typeface="Inter"/>
                <a:cs typeface="Inter"/>
                <a:sym typeface="Inter"/>
              </a:rPr>
              <a:t>C3. Load Transfer Platform (LTP) design intent</a:t>
            </a:r>
            <a:endParaRPr sz="1100" b="1">
              <a:solidFill>
                <a:schemeClr val="dk1"/>
              </a:solidFill>
              <a:latin typeface="Inter"/>
              <a:ea typeface="Inter"/>
              <a:cs typeface="Inter"/>
              <a:sym typeface="Inter"/>
            </a:endParaRPr>
          </a:p>
          <a:p>
            <a:pPr marL="457200" lvl="0" indent="-298450" algn="l" rtl="0">
              <a:lnSpc>
                <a:spcPct val="115000"/>
              </a:lnSpc>
              <a:spcBef>
                <a:spcPts val="1200"/>
              </a:spcBef>
              <a:spcAft>
                <a:spcPts val="0"/>
              </a:spcAft>
              <a:buClr>
                <a:schemeClr val="dk1"/>
              </a:buClr>
              <a:buSzPts val="1100"/>
              <a:buFont typeface="Inter"/>
              <a:buChar char="●"/>
            </a:pPr>
            <a:r>
              <a:rPr lang="en" sz="1100" b="1">
                <a:solidFill>
                  <a:schemeClr val="dk1"/>
                </a:solidFill>
                <a:latin typeface="Inter"/>
                <a:ea typeface="Inter"/>
                <a:cs typeface="Inter"/>
                <a:sym typeface="Inter"/>
              </a:rPr>
              <a:t>[REQ] LTP_ID</a:t>
            </a:r>
            <a:br>
              <a:rPr lang="en" sz="1100" b="1">
                <a:solidFill>
                  <a:schemeClr val="dk1"/>
                </a:solidFill>
                <a:latin typeface="Inter"/>
                <a:ea typeface="Inter"/>
                <a:cs typeface="Inter"/>
                <a:sym typeface="Inter"/>
              </a:rPr>
            </a:br>
            <a:endParaRPr sz="1100" b="1">
              <a:solidFill>
                <a:schemeClr val="dk1"/>
              </a:solidFill>
              <a:latin typeface="Inter"/>
              <a:ea typeface="Inter"/>
              <a:cs typeface="Inter"/>
              <a:sym typeface="Inter"/>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latin typeface="Inter"/>
                <a:ea typeface="Inter"/>
                <a:cs typeface="Inter"/>
                <a:sym typeface="Inter"/>
              </a:rPr>
              <a:t>[REQ] LTP_ThicknessDesign</a:t>
            </a:r>
            <a:r>
              <a:rPr lang="en" sz="1100">
                <a:solidFill>
                  <a:schemeClr val="dk1"/>
                </a:solidFill>
                <a:latin typeface="Inter"/>
                <a:ea typeface="Inter"/>
                <a:cs typeface="Inter"/>
                <a:sym typeface="Inter"/>
              </a:rPr>
              <a:t> (m)</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latin typeface="Inter"/>
                <a:ea typeface="Inter"/>
                <a:cs typeface="Inter"/>
                <a:sym typeface="Inter"/>
              </a:rPr>
              <a:t>[REQ] LTP_MaterialType</a:t>
            </a:r>
            <a:r>
              <a:rPr lang="en" sz="1100">
                <a:solidFill>
                  <a:schemeClr val="dk1"/>
                </a:solidFill>
                <a:latin typeface="Inter"/>
                <a:ea typeface="Inter"/>
                <a:cs typeface="Inter"/>
                <a:sym typeface="Inter"/>
              </a:rPr>
              <a:t> (granular fill / engineered fill)</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latin typeface="Inter"/>
                <a:ea typeface="Inter"/>
                <a:cs typeface="Inter"/>
                <a:sym typeface="Inter"/>
              </a:rPr>
              <a:t>[REQ] LTP_GradationLimits</a:t>
            </a:r>
            <a:r>
              <a:rPr lang="en" sz="1100">
                <a:solidFill>
                  <a:schemeClr val="dk1"/>
                </a:solidFill>
                <a:latin typeface="Inter"/>
                <a:ea typeface="Inter"/>
                <a:cs typeface="Inter"/>
                <a:sym typeface="Inter"/>
              </a:rPr>
              <a:t> (spec band or reference)</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latin typeface="Inter"/>
                <a:ea typeface="Inter"/>
                <a:cs typeface="Inter"/>
                <a:sym typeface="Inter"/>
              </a:rPr>
              <a:t>[REQ] LTP_CompactionRequirement</a:t>
            </a:r>
            <a:r>
              <a:rPr lang="en" sz="1100">
                <a:solidFill>
                  <a:schemeClr val="dk1"/>
                </a:solidFill>
                <a:latin typeface="Inter"/>
                <a:ea typeface="Inter"/>
                <a:cs typeface="Inter"/>
                <a:sym typeface="Inter"/>
              </a:rPr>
              <a:t> (e.g., %MDD or relative density)</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latin typeface="Inter"/>
                <a:ea typeface="Inter"/>
                <a:cs typeface="Inter"/>
                <a:sym typeface="Inter"/>
              </a:rPr>
              <a:t>[REC] LTP_ReinforcementFlag</a:t>
            </a:r>
            <a:r>
              <a:rPr lang="en" sz="1100">
                <a:solidFill>
                  <a:schemeClr val="dk1"/>
                </a:solidFill>
                <a:latin typeface="Inter"/>
                <a:ea typeface="Inter"/>
                <a:cs typeface="Inter"/>
                <a:sym typeface="Inter"/>
              </a:rPr>
              <a:t> (yes/no)</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latin typeface="Inter"/>
                <a:ea typeface="Inter"/>
                <a:cs typeface="Inter"/>
                <a:sym typeface="Inter"/>
              </a:rPr>
              <a:t>[REC] GeosyntheticType</a:t>
            </a:r>
            <a:r>
              <a:rPr lang="en" sz="1100">
                <a:solidFill>
                  <a:schemeClr val="dk1"/>
                </a:solidFill>
                <a:latin typeface="Inter"/>
                <a:ea typeface="Inter"/>
                <a:cs typeface="Inter"/>
                <a:sym typeface="Inter"/>
              </a:rPr>
              <a:t> (geogrid/geotextile)</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latin typeface="Inter"/>
                <a:ea typeface="Inter"/>
                <a:cs typeface="Inter"/>
                <a:sym typeface="Inter"/>
              </a:rPr>
              <a:t>[REC] GeosyntheticStrengthProperties</a:t>
            </a:r>
            <a:r>
              <a:rPr lang="en" sz="1100">
                <a:solidFill>
                  <a:schemeClr val="dk1"/>
                </a:solidFill>
                <a:latin typeface="Inter"/>
                <a:ea typeface="Inter"/>
                <a:cs typeface="Inter"/>
                <a:sym typeface="Inter"/>
              </a:rPr>
              <a:t> (as specified)</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latin typeface="Inter"/>
                <a:ea typeface="Inter"/>
                <a:cs typeface="Inter"/>
                <a:sym typeface="Inter"/>
              </a:rPr>
              <a:t>[OPT] LTP_StiffnessTarget</a:t>
            </a:r>
            <a:r>
              <a:rPr lang="en" sz="1100">
                <a:solidFill>
                  <a:schemeClr val="dk1"/>
                </a:solidFill>
                <a:latin typeface="Inter"/>
                <a:ea typeface="Inter"/>
                <a:cs typeface="Inter"/>
                <a:sym typeface="Inter"/>
              </a:rPr>
              <a:t> (Ev2 / modulus target)</a:t>
            </a:r>
            <a:endParaRPr sz="1100" b="1">
              <a:solidFill>
                <a:schemeClr val="dk1"/>
              </a:solidFill>
              <a:latin typeface="Inter"/>
              <a:ea typeface="Inter"/>
              <a:cs typeface="Inter"/>
              <a:sym typeface="Inte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41"/>
          <p:cNvSpPr txBox="1">
            <a:spLocks noGrp="1"/>
          </p:cNvSpPr>
          <p:nvPr>
            <p:ph type="title" idx="4294967295"/>
          </p:nvPr>
        </p:nvSpPr>
        <p:spPr>
          <a:xfrm>
            <a:off x="257950" y="1973050"/>
            <a:ext cx="2095200" cy="1601100"/>
          </a:xfrm>
          <a:prstGeom prst="rect">
            <a:avLst/>
          </a:prstGeom>
          <a:solidFill>
            <a:schemeClr val="accent6"/>
          </a:solidFill>
        </p:spPr>
        <p:txBody>
          <a:bodyPr spcFirstLastPara="1" wrap="square" lIns="91425" tIns="91425" rIns="91425" bIns="91425" anchor="t" anchorCtr="0">
            <a:noAutofit/>
          </a:bodyPr>
          <a:lstStyle/>
          <a:p>
            <a:pPr marL="0" lvl="0" indent="0" algn="ctr" rtl="0">
              <a:spcBef>
                <a:spcPts val="0"/>
              </a:spcBef>
              <a:spcAft>
                <a:spcPts val="0"/>
              </a:spcAft>
              <a:buSzPts val="990"/>
              <a:buNone/>
            </a:pPr>
            <a:br>
              <a:rPr lang="en" sz="1720">
                <a:latin typeface="Manrope"/>
                <a:ea typeface="Manrope"/>
                <a:cs typeface="Manrope"/>
                <a:sym typeface="Manrope"/>
              </a:rPr>
            </a:br>
            <a:br>
              <a:rPr lang="en" sz="1720">
                <a:latin typeface="Manrope"/>
                <a:ea typeface="Manrope"/>
                <a:cs typeface="Manrope"/>
                <a:sym typeface="Manrope"/>
              </a:rPr>
            </a:br>
            <a:r>
              <a:rPr lang="en" sz="1720">
                <a:latin typeface="Manrope"/>
                <a:ea typeface="Manrope"/>
                <a:cs typeface="Manrope"/>
                <a:sym typeface="Manrope"/>
              </a:rPr>
              <a:t>Pre-Installation</a:t>
            </a:r>
            <a:endParaRPr sz="1720">
              <a:latin typeface="Manrope"/>
              <a:ea typeface="Manrope"/>
              <a:cs typeface="Manrope"/>
              <a:sym typeface="Manrope"/>
            </a:endParaRPr>
          </a:p>
        </p:txBody>
      </p:sp>
      <p:sp>
        <p:nvSpPr>
          <p:cNvPr id="307" name="Google Shape;307;p41"/>
          <p:cNvSpPr txBox="1"/>
          <p:nvPr/>
        </p:nvSpPr>
        <p:spPr>
          <a:xfrm>
            <a:off x="2474750" y="158250"/>
            <a:ext cx="6540900" cy="4827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300" b="1">
                <a:solidFill>
                  <a:schemeClr val="dk1"/>
                </a:solidFill>
                <a:latin typeface="Inter"/>
                <a:ea typeface="Inter"/>
                <a:cs typeface="Inter"/>
                <a:sym typeface="Inter"/>
              </a:rPr>
              <a:t>D. Construction plan and acceptance criteria (the “rules”)</a:t>
            </a:r>
            <a:endParaRPr sz="1300" b="1">
              <a:solidFill>
                <a:schemeClr val="dk1"/>
              </a:solidFill>
              <a:latin typeface="Inter"/>
              <a:ea typeface="Inter"/>
              <a:cs typeface="Inter"/>
              <a:sym typeface="Inter"/>
            </a:endParaRPr>
          </a:p>
          <a:p>
            <a:pPr marL="457200" lvl="0" indent="-298450" algn="l" rtl="0">
              <a:lnSpc>
                <a:spcPct val="115000"/>
              </a:lnSpc>
              <a:spcBef>
                <a:spcPts val="1200"/>
              </a:spcBef>
              <a:spcAft>
                <a:spcPts val="0"/>
              </a:spcAft>
              <a:buClr>
                <a:schemeClr val="dk1"/>
              </a:buClr>
              <a:buSzPts val="1100"/>
              <a:buChar char="●"/>
            </a:pPr>
            <a:r>
              <a:rPr lang="en" sz="1100" b="1">
                <a:solidFill>
                  <a:schemeClr val="dk1"/>
                </a:solidFill>
                <a:latin typeface="Inter"/>
                <a:ea typeface="Inter"/>
                <a:cs typeface="Inter"/>
                <a:sym typeface="Inter"/>
              </a:rPr>
              <a:t>[REQ] InstallationMethodPlanned</a:t>
            </a:r>
            <a:r>
              <a:rPr lang="en" sz="1100">
                <a:solidFill>
                  <a:schemeClr val="dk1"/>
                </a:solidFill>
                <a:latin typeface="Inter"/>
                <a:ea typeface="Inter"/>
                <a:cs typeface="Inter"/>
                <a:sym typeface="Inter"/>
              </a:rPr>
              <a:t> (full displacement / partial displacement / predrill + tremie / etc.)</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latin typeface="Inter"/>
                <a:ea typeface="Inter"/>
                <a:cs typeface="Inter"/>
                <a:sym typeface="Inter"/>
              </a:rPr>
              <a:t>[REQ] Grout/ConcreteMixDesignID</a:t>
            </a:r>
            <a:r>
              <a:rPr lang="en" sz="1100">
                <a:solidFill>
                  <a:schemeClr val="dk1"/>
                </a:solidFill>
                <a:latin typeface="Inter"/>
                <a:ea typeface="Inter"/>
                <a:cs typeface="Inter"/>
                <a:sym typeface="Inter"/>
              </a:rPr>
              <a:t> (reference)</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lnSpc>
                <a:spcPct val="115000"/>
              </a:lnSpc>
              <a:spcBef>
                <a:spcPts val="0"/>
              </a:spcBef>
              <a:spcAft>
                <a:spcPts val="0"/>
              </a:spcAft>
              <a:buClr>
                <a:schemeClr val="dk1"/>
              </a:buClr>
              <a:buSzPts val="1100"/>
              <a:buFont typeface="Inter"/>
              <a:buChar char="●"/>
            </a:pPr>
            <a:r>
              <a:rPr lang="en" sz="1100" b="1">
                <a:solidFill>
                  <a:schemeClr val="dk1"/>
                </a:solidFill>
                <a:latin typeface="Inter"/>
                <a:ea typeface="Inter"/>
                <a:cs typeface="Inter"/>
                <a:sym typeface="Inter"/>
              </a:rPr>
              <a:t>[REQ] TargetProductionTolerances</a:t>
            </a:r>
            <a:br>
              <a:rPr lang="en" sz="1100" b="1">
                <a:solidFill>
                  <a:schemeClr val="dk1"/>
                </a:solidFill>
                <a:latin typeface="Inter"/>
                <a:ea typeface="Inter"/>
                <a:cs typeface="Inter"/>
                <a:sym typeface="Inter"/>
              </a:rPr>
            </a:br>
            <a:endParaRPr sz="1100" b="1">
              <a:solidFill>
                <a:schemeClr val="dk1"/>
              </a:solidFill>
              <a:latin typeface="Inter"/>
              <a:ea typeface="Inter"/>
              <a:cs typeface="Inter"/>
              <a:sym typeface="Inter"/>
            </a:endParaRPr>
          </a:p>
          <a:p>
            <a:pPr marL="914400" lvl="1" indent="-298450" algn="l" rtl="0">
              <a:lnSpc>
                <a:spcPct val="115000"/>
              </a:lnSpc>
              <a:spcBef>
                <a:spcPts val="0"/>
              </a:spcBef>
              <a:spcAft>
                <a:spcPts val="0"/>
              </a:spcAft>
              <a:buClr>
                <a:schemeClr val="dk1"/>
              </a:buClr>
              <a:buSzPts val="1100"/>
              <a:buChar char="○"/>
            </a:pPr>
            <a:r>
              <a:rPr lang="en" sz="1100" b="1">
                <a:solidFill>
                  <a:schemeClr val="dk1"/>
                </a:solidFill>
                <a:latin typeface="Inter"/>
                <a:ea typeface="Inter"/>
                <a:cs typeface="Inter"/>
                <a:sym typeface="Inter"/>
              </a:rPr>
              <a:t>PositionTolerance</a:t>
            </a:r>
            <a:r>
              <a:rPr lang="en" sz="1100">
                <a:solidFill>
                  <a:schemeClr val="dk1"/>
                </a:solidFill>
                <a:latin typeface="Inter"/>
                <a:ea typeface="Inter"/>
                <a:cs typeface="Inter"/>
                <a:sym typeface="Inter"/>
              </a:rPr>
              <a:t> (mm)</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914400" lvl="1" indent="-298450" algn="l" rtl="0">
              <a:lnSpc>
                <a:spcPct val="115000"/>
              </a:lnSpc>
              <a:spcBef>
                <a:spcPts val="0"/>
              </a:spcBef>
              <a:spcAft>
                <a:spcPts val="0"/>
              </a:spcAft>
              <a:buClr>
                <a:schemeClr val="dk1"/>
              </a:buClr>
              <a:buSzPts val="1100"/>
              <a:buChar char="○"/>
            </a:pPr>
            <a:r>
              <a:rPr lang="en" sz="1100" b="1">
                <a:solidFill>
                  <a:schemeClr val="dk1"/>
                </a:solidFill>
                <a:latin typeface="Inter"/>
                <a:ea typeface="Inter"/>
                <a:cs typeface="Inter"/>
                <a:sym typeface="Inter"/>
              </a:rPr>
              <a:t>VerticalityTolerance</a:t>
            </a:r>
            <a:r>
              <a:rPr lang="en" sz="1100">
                <a:solidFill>
                  <a:schemeClr val="dk1"/>
                </a:solidFill>
                <a:latin typeface="Inter"/>
                <a:ea typeface="Inter"/>
                <a:cs typeface="Inter"/>
                <a:sym typeface="Inter"/>
              </a:rPr>
              <a:t> (% or mm/m)</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914400" lvl="1" indent="-298450" algn="l" rtl="0">
              <a:lnSpc>
                <a:spcPct val="115000"/>
              </a:lnSpc>
              <a:spcBef>
                <a:spcPts val="0"/>
              </a:spcBef>
              <a:spcAft>
                <a:spcPts val="0"/>
              </a:spcAft>
              <a:buClr>
                <a:schemeClr val="dk1"/>
              </a:buClr>
              <a:buSzPts val="1100"/>
              <a:buChar char="○"/>
            </a:pPr>
            <a:r>
              <a:rPr lang="en" sz="1100" b="1">
                <a:solidFill>
                  <a:schemeClr val="dk1"/>
                </a:solidFill>
                <a:latin typeface="Inter"/>
                <a:ea typeface="Inter"/>
                <a:cs typeface="Inter"/>
                <a:sym typeface="Inter"/>
              </a:rPr>
              <a:t>DepthTolerance</a:t>
            </a:r>
            <a:r>
              <a:rPr lang="en" sz="1100">
                <a:solidFill>
                  <a:schemeClr val="dk1"/>
                </a:solidFill>
                <a:latin typeface="Inter"/>
                <a:ea typeface="Inter"/>
                <a:cs typeface="Inter"/>
                <a:sym typeface="Inter"/>
              </a:rPr>
              <a:t> (m)</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latin typeface="Inter"/>
                <a:ea typeface="Inter"/>
                <a:cs typeface="Inter"/>
                <a:sym typeface="Inter"/>
              </a:rPr>
              <a:t>[REQ] AcceptanceCriteriaSetID</a:t>
            </a:r>
            <a:r>
              <a:rPr lang="en" sz="1100">
                <a:solidFill>
                  <a:schemeClr val="dk1"/>
                </a:solidFill>
                <a:latin typeface="Inter"/>
                <a:ea typeface="Inter"/>
                <a:cs typeface="Inter"/>
                <a:sym typeface="Inter"/>
              </a:rPr>
              <a:t> (reference)</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latin typeface="Inter"/>
                <a:ea typeface="Inter"/>
                <a:cs typeface="Inter"/>
                <a:sym typeface="Inter"/>
              </a:rPr>
              <a:t>[REC] TrialSectionRequired</a:t>
            </a:r>
            <a:r>
              <a:rPr lang="en" sz="1100">
                <a:solidFill>
                  <a:schemeClr val="dk1"/>
                </a:solidFill>
                <a:latin typeface="Inter"/>
                <a:ea typeface="Inter"/>
                <a:cs typeface="Inter"/>
                <a:sym typeface="Inter"/>
              </a:rPr>
              <a:t> (yes/no; and limits)</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lnSpc>
                <a:spcPct val="115000"/>
              </a:lnSpc>
              <a:spcBef>
                <a:spcPts val="0"/>
              </a:spcBef>
              <a:spcAft>
                <a:spcPts val="0"/>
              </a:spcAft>
              <a:buClr>
                <a:schemeClr val="dk1"/>
              </a:buClr>
              <a:buSzPts val="1100"/>
              <a:buFont typeface="Inter"/>
              <a:buChar char="●"/>
            </a:pPr>
            <a:r>
              <a:rPr lang="en" sz="1100" b="1">
                <a:solidFill>
                  <a:schemeClr val="dk1"/>
                </a:solidFill>
                <a:latin typeface="Inter"/>
                <a:ea typeface="Inter"/>
                <a:cs typeface="Inter"/>
                <a:sym typeface="Inter"/>
              </a:rPr>
              <a:t>[REC] PlannedVerificationTests</a:t>
            </a:r>
            <a:br>
              <a:rPr lang="en" sz="1100" b="1">
                <a:solidFill>
                  <a:schemeClr val="dk1"/>
                </a:solidFill>
                <a:latin typeface="Inter"/>
                <a:ea typeface="Inter"/>
                <a:cs typeface="Inter"/>
                <a:sym typeface="Inter"/>
              </a:rPr>
            </a:br>
            <a:endParaRPr sz="1100" b="1">
              <a:solidFill>
                <a:schemeClr val="dk1"/>
              </a:solidFill>
              <a:latin typeface="Inter"/>
              <a:ea typeface="Inter"/>
              <a:cs typeface="Inter"/>
              <a:sym typeface="Inter"/>
            </a:endParaRPr>
          </a:p>
          <a:p>
            <a:pPr marL="914400" lvl="1" indent="-298450" algn="l" rtl="0">
              <a:lnSpc>
                <a:spcPct val="115000"/>
              </a:lnSpc>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type + frequency + locations logic</a:t>
            </a:r>
            <a:br>
              <a:rPr lang="en" sz="1100">
                <a:solidFill>
                  <a:schemeClr val="dk1"/>
                </a:solidFill>
                <a:latin typeface="Inter"/>
                <a:ea typeface="Inter"/>
                <a:cs typeface="Inter"/>
                <a:sym typeface="Inter"/>
              </a:rPr>
            </a:br>
            <a:endParaRPr sz="1100">
              <a:solidFill>
                <a:schemeClr val="dk1"/>
              </a:solidFill>
              <a:latin typeface="Inter"/>
              <a:ea typeface="Inter"/>
              <a:cs typeface="Inter"/>
              <a:sym typeface="Inter"/>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latin typeface="Inter"/>
                <a:ea typeface="Inter"/>
                <a:cs typeface="Inter"/>
                <a:sym typeface="Inter"/>
              </a:rPr>
              <a:t>[OPT] EnvironmentalConstraints</a:t>
            </a:r>
            <a:r>
              <a:rPr lang="en" sz="1100">
                <a:solidFill>
                  <a:schemeClr val="dk1"/>
                </a:solidFill>
                <a:latin typeface="Inter"/>
                <a:ea typeface="Inter"/>
                <a:cs typeface="Inter"/>
                <a:sym typeface="Inter"/>
              </a:rPr>
              <a:t> (spoils handling, washout plan, etc.)</a:t>
            </a:r>
            <a:endParaRPr sz="1100" b="1">
              <a:solidFill>
                <a:schemeClr val="dk1"/>
              </a:solidFill>
              <a:latin typeface="Inter"/>
              <a:ea typeface="Inter"/>
              <a:cs typeface="Inter"/>
              <a:sym typeface="Inte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42"/>
          <p:cNvSpPr txBox="1">
            <a:spLocks noGrp="1"/>
          </p:cNvSpPr>
          <p:nvPr>
            <p:ph type="title" idx="4294967295"/>
          </p:nvPr>
        </p:nvSpPr>
        <p:spPr>
          <a:xfrm>
            <a:off x="238825" y="1781175"/>
            <a:ext cx="1795200" cy="1367700"/>
          </a:xfrm>
          <a:prstGeom prst="rect">
            <a:avLst/>
          </a:prstGeom>
          <a:solidFill>
            <a:srgbClr val="B6D7A8"/>
          </a:solidFill>
        </p:spPr>
        <p:txBody>
          <a:bodyPr spcFirstLastPara="1" wrap="square" lIns="91425" tIns="91425" rIns="91425" bIns="91425" anchor="t" anchorCtr="0">
            <a:noAutofit/>
          </a:bodyPr>
          <a:lstStyle/>
          <a:p>
            <a:pPr marL="0" lvl="0" indent="0" algn="ctr" rtl="0">
              <a:spcBef>
                <a:spcPts val="0"/>
              </a:spcBef>
              <a:spcAft>
                <a:spcPts val="0"/>
              </a:spcAft>
              <a:buSzPts val="990"/>
              <a:buNone/>
            </a:pPr>
            <a:br>
              <a:rPr lang="en" sz="1720">
                <a:latin typeface="Manrope"/>
                <a:ea typeface="Manrope"/>
                <a:cs typeface="Manrope"/>
                <a:sym typeface="Manrope"/>
              </a:rPr>
            </a:br>
            <a:br>
              <a:rPr lang="en" sz="1720">
                <a:latin typeface="Manrope"/>
                <a:ea typeface="Manrope"/>
                <a:cs typeface="Manrope"/>
                <a:sym typeface="Manrope"/>
              </a:rPr>
            </a:br>
            <a:r>
              <a:rPr lang="en" sz="1720">
                <a:latin typeface="Manrope"/>
                <a:ea typeface="Manrope"/>
                <a:cs typeface="Manrope"/>
                <a:sym typeface="Manrope"/>
              </a:rPr>
              <a:t>Installation</a:t>
            </a:r>
            <a:endParaRPr sz="1720">
              <a:latin typeface="Manrope"/>
              <a:ea typeface="Manrope"/>
              <a:cs typeface="Manrope"/>
              <a:sym typeface="Manrope"/>
            </a:endParaRPr>
          </a:p>
        </p:txBody>
      </p:sp>
      <p:sp>
        <p:nvSpPr>
          <p:cNvPr id="313" name="Google Shape;313;p42"/>
          <p:cNvSpPr txBox="1"/>
          <p:nvPr/>
        </p:nvSpPr>
        <p:spPr>
          <a:xfrm>
            <a:off x="0" y="3278800"/>
            <a:ext cx="2829300" cy="1031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chemeClr val="dk1"/>
                </a:solidFill>
                <a:latin typeface="Inter"/>
                <a:ea typeface="Inter"/>
                <a:cs typeface="Inter"/>
                <a:sym typeface="Inter"/>
              </a:rPr>
              <a:t>This is the core of RI/CMC value. In DIGGS terms, treat each CMC as a </a:t>
            </a:r>
            <a:r>
              <a:rPr lang="en" sz="1100" b="1">
                <a:solidFill>
                  <a:schemeClr val="dk1"/>
                </a:solidFill>
                <a:latin typeface="Inter"/>
                <a:ea typeface="Inter"/>
                <a:cs typeface="Inter"/>
                <a:sym typeface="Inter"/>
              </a:rPr>
              <a:t>Feature</a:t>
            </a:r>
            <a:r>
              <a:rPr lang="en" sz="1100">
                <a:solidFill>
                  <a:schemeClr val="dk1"/>
                </a:solidFill>
                <a:latin typeface="Inter"/>
                <a:ea typeface="Inter"/>
                <a:cs typeface="Inter"/>
                <a:sym typeface="Inter"/>
              </a:rPr>
              <a:t> with geometry, plus an </a:t>
            </a:r>
            <a:r>
              <a:rPr lang="en" sz="1100" b="1">
                <a:solidFill>
                  <a:schemeClr val="dk1"/>
                </a:solidFill>
                <a:latin typeface="Inter"/>
                <a:ea typeface="Inter"/>
                <a:cs typeface="Inter"/>
                <a:sym typeface="Inter"/>
              </a:rPr>
              <a:t>InstallationActivity</a:t>
            </a:r>
            <a:r>
              <a:rPr lang="en" sz="1100">
                <a:solidFill>
                  <a:schemeClr val="dk1"/>
                </a:solidFill>
                <a:latin typeface="Inter"/>
                <a:ea typeface="Inter"/>
                <a:cs typeface="Inter"/>
                <a:sym typeface="Inter"/>
              </a:rPr>
              <a:t> with </a:t>
            </a:r>
            <a:r>
              <a:rPr lang="en" sz="1100" b="1">
                <a:solidFill>
                  <a:schemeClr val="dk1"/>
                </a:solidFill>
                <a:latin typeface="Inter"/>
                <a:ea typeface="Inter"/>
                <a:cs typeface="Inter"/>
                <a:sym typeface="Inter"/>
              </a:rPr>
              <a:t>time series</a:t>
            </a:r>
            <a:r>
              <a:rPr lang="en" sz="1100">
                <a:solidFill>
                  <a:schemeClr val="dk1"/>
                </a:solidFill>
                <a:latin typeface="Inter"/>
                <a:ea typeface="Inter"/>
                <a:cs typeface="Inter"/>
                <a:sym typeface="Inter"/>
              </a:rPr>
              <a:t> or summarized metrics.</a:t>
            </a:r>
            <a:endParaRPr>
              <a:latin typeface="Inter"/>
              <a:ea typeface="Inter"/>
              <a:cs typeface="Inter"/>
              <a:sym typeface="Inter"/>
            </a:endParaRPr>
          </a:p>
        </p:txBody>
      </p:sp>
      <p:sp>
        <p:nvSpPr>
          <p:cNvPr id="314" name="Google Shape;314;p42"/>
          <p:cNvSpPr txBox="1"/>
          <p:nvPr/>
        </p:nvSpPr>
        <p:spPr>
          <a:xfrm>
            <a:off x="3040675" y="590813"/>
            <a:ext cx="5723400" cy="1711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300" b="1">
                <a:solidFill>
                  <a:schemeClr val="dk1"/>
                </a:solidFill>
                <a:latin typeface="Inter"/>
                <a:ea typeface="Inter"/>
                <a:cs typeface="Inter"/>
                <a:sym typeface="Inter"/>
              </a:rPr>
              <a:t>A. Rig / equipment / monitoring system metadata</a:t>
            </a:r>
            <a:endParaRPr sz="1300" b="1">
              <a:solidFill>
                <a:schemeClr val="dk1"/>
              </a:solidFill>
              <a:latin typeface="Inter"/>
              <a:ea typeface="Inter"/>
              <a:cs typeface="Inter"/>
              <a:sym typeface="Inter"/>
            </a:endParaRPr>
          </a:p>
          <a:p>
            <a:pPr marL="457200" lvl="0" indent="-298450" algn="l" rtl="0">
              <a:lnSpc>
                <a:spcPct val="115000"/>
              </a:lnSpc>
              <a:spcBef>
                <a:spcPts val="1200"/>
              </a:spcBef>
              <a:spcAft>
                <a:spcPts val="0"/>
              </a:spcAft>
              <a:buClr>
                <a:schemeClr val="dk1"/>
              </a:buClr>
              <a:buSzPts val="1100"/>
              <a:buAutoNum type="alphaUcPeriod"/>
            </a:pPr>
            <a:r>
              <a:rPr lang="en" sz="1100" b="1">
                <a:solidFill>
                  <a:schemeClr val="dk1"/>
                </a:solidFill>
                <a:latin typeface="Inter"/>
                <a:ea typeface="Inter"/>
                <a:cs typeface="Inter"/>
                <a:sym typeface="Inter"/>
              </a:rPr>
              <a:t>[REQ] RigID</a:t>
            </a:r>
            <a:br>
              <a:rPr lang="en" sz="1100" b="1">
                <a:solidFill>
                  <a:schemeClr val="dk1"/>
                </a:solidFill>
                <a:latin typeface="Inter"/>
                <a:ea typeface="Inter"/>
                <a:cs typeface="Inter"/>
                <a:sym typeface="Inter"/>
              </a:rPr>
            </a:br>
            <a:r>
              <a:rPr lang="en" sz="1100" b="1">
                <a:solidFill>
                  <a:schemeClr val="dk1"/>
                </a:solidFill>
                <a:latin typeface="Inter"/>
                <a:ea typeface="Inter"/>
                <a:cs typeface="Inter"/>
                <a:sym typeface="Inter"/>
              </a:rPr>
              <a:t>[REQ] MonitoringSystemName/Version</a:t>
            </a:r>
            <a:r>
              <a:rPr lang="en" sz="1100">
                <a:solidFill>
                  <a:schemeClr val="dk1"/>
                </a:solidFill>
                <a:latin typeface="Inter"/>
                <a:ea typeface="Inter"/>
                <a:cs typeface="Inter"/>
                <a:sym typeface="Inter"/>
              </a:rPr>
              <a:t> (if digital logging used)</a:t>
            </a:r>
            <a:br>
              <a:rPr lang="en" sz="1100">
                <a:solidFill>
                  <a:schemeClr val="dk1"/>
                </a:solidFill>
                <a:latin typeface="Inter"/>
                <a:ea typeface="Inter"/>
                <a:cs typeface="Inter"/>
                <a:sym typeface="Inter"/>
              </a:rPr>
            </a:br>
            <a:r>
              <a:rPr lang="en" sz="1100" b="1">
                <a:solidFill>
                  <a:schemeClr val="dk1"/>
                </a:solidFill>
                <a:latin typeface="Inter"/>
                <a:ea typeface="Inter"/>
                <a:cs typeface="Inter"/>
                <a:sym typeface="Inter"/>
              </a:rPr>
              <a:t>[REQ] OperatorID</a:t>
            </a:r>
            <a:r>
              <a:rPr lang="en" sz="1100">
                <a:solidFill>
                  <a:schemeClr val="dk1"/>
                </a:solidFill>
                <a:latin typeface="Inter"/>
                <a:ea typeface="Inter"/>
                <a:cs typeface="Inter"/>
                <a:sym typeface="Inter"/>
              </a:rPr>
              <a:t> (or crew ID)</a:t>
            </a:r>
            <a:br>
              <a:rPr lang="en" sz="1100">
                <a:solidFill>
                  <a:schemeClr val="dk1"/>
                </a:solidFill>
                <a:latin typeface="Inter"/>
                <a:ea typeface="Inter"/>
                <a:cs typeface="Inter"/>
                <a:sym typeface="Inter"/>
              </a:rPr>
            </a:br>
            <a:r>
              <a:rPr lang="en" sz="1100" b="1">
                <a:solidFill>
                  <a:schemeClr val="dk1"/>
                </a:solidFill>
                <a:latin typeface="Inter"/>
                <a:ea typeface="Inter"/>
                <a:cs typeface="Inter"/>
                <a:sym typeface="Inter"/>
              </a:rPr>
              <a:t>[REC] ToolType</a:t>
            </a:r>
            <a:r>
              <a:rPr lang="en" sz="1100">
                <a:solidFill>
                  <a:schemeClr val="dk1"/>
                </a:solidFill>
                <a:latin typeface="Inter"/>
                <a:ea typeface="Inter"/>
                <a:cs typeface="Inter"/>
                <a:sym typeface="Inter"/>
              </a:rPr>
              <a:t> (auger type, diameter, bit)</a:t>
            </a:r>
            <a:br>
              <a:rPr lang="en" sz="1100">
                <a:solidFill>
                  <a:schemeClr val="dk1"/>
                </a:solidFill>
                <a:latin typeface="Inter"/>
                <a:ea typeface="Inter"/>
                <a:cs typeface="Inter"/>
                <a:sym typeface="Inter"/>
              </a:rPr>
            </a:br>
            <a:r>
              <a:rPr lang="en" sz="1100" b="1">
                <a:solidFill>
                  <a:schemeClr val="dk1"/>
                </a:solidFill>
                <a:latin typeface="Inter"/>
                <a:ea typeface="Inter"/>
                <a:cs typeface="Inter"/>
                <a:sym typeface="Inter"/>
              </a:rPr>
              <a:t>[REC] CalibrationRecords</a:t>
            </a:r>
            <a:r>
              <a:rPr lang="en" sz="1100">
                <a:solidFill>
                  <a:schemeClr val="dk1"/>
                </a:solidFill>
                <a:latin typeface="Inter"/>
                <a:ea typeface="Inter"/>
                <a:cs typeface="Inter"/>
                <a:sym typeface="Inter"/>
              </a:rPr>
              <a:t> (flow meter, pressure sensor calibration date)</a:t>
            </a:r>
            <a:br>
              <a:rPr lang="en" sz="1100">
                <a:solidFill>
                  <a:schemeClr val="dk1"/>
                </a:solidFill>
                <a:latin typeface="Inter"/>
                <a:ea typeface="Inter"/>
                <a:cs typeface="Inter"/>
                <a:sym typeface="Inter"/>
              </a:rPr>
            </a:br>
            <a:r>
              <a:rPr lang="en" sz="1100" b="1">
                <a:solidFill>
                  <a:schemeClr val="dk1"/>
                </a:solidFill>
                <a:latin typeface="Inter"/>
                <a:ea typeface="Inter"/>
                <a:cs typeface="Inter"/>
                <a:sym typeface="Inter"/>
              </a:rPr>
              <a:t>[OPT] WeatherConditions</a:t>
            </a:r>
            <a:r>
              <a:rPr lang="en" sz="1100">
                <a:solidFill>
                  <a:schemeClr val="dk1"/>
                </a:solidFill>
                <a:latin typeface="Inter"/>
                <a:ea typeface="Inter"/>
                <a:cs typeface="Inter"/>
                <a:sym typeface="Inter"/>
              </a:rPr>
              <a:t> (if relevant for grout)</a:t>
            </a:r>
            <a:endParaRPr sz="1100">
              <a:solidFill>
                <a:schemeClr val="dk1"/>
              </a:solidFill>
              <a:latin typeface="Inter"/>
              <a:ea typeface="Inter"/>
              <a:cs typeface="Inter"/>
              <a:sym typeface="Inter"/>
            </a:endParaRPr>
          </a:p>
        </p:txBody>
      </p:sp>
      <p:sp>
        <p:nvSpPr>
          <p:cNvPr id="315" name="Google Shape;315;p42"/>
          <p:cNvSpPr txBox="1"/>
          <p:nvPr/>
        </p:nvSpPr>
        <p:spPr>
          <a:xfrm>
            <a:off x="3090900" y="2451788"/>
            <a:ext cx="6053100" cy="2100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300" b="1">
                <a:solidFill>
                  <a:schemeClr val="dk1"/>
                </a:solidFill>
                <a:latin typeface="Inter"/>
                <a:ea typeface="Inter"/>
                <a:cs typeface="Inter"/>
                <a:sym typeface="Inter"/>
              </a:rPr>
              <a:t>B. Material batching and delivery (linked to columns)</a:t>
            </a:r>
            <a:endParaRPr sz="1300" b="1">
              <a:solidFill>
                <a:schemeClr val="dk1"/>
              </a:solidFill>
              <a:latin typeface="Inter"/>
              <a:ea typeface="Inter"/>
              <a:cs typeface="Inter"/>
              <a:sym typeface="Inter"/>
            </a:endParaRPr>
          </a:p>
          <a:p>
            <a:pPr marL="457200" lvl="0" indent="-298450" algn="l" rtl="0">
              <a:lnSpc>
                <a:spcPct val="115000"/>
              </a:lnSpc>
              <a:spcBef>
                <a:spcPts val="1200"/>
              </a:spcBef>
              <a:spcAft>
                <a:spcPts val="0"/>
              </a:spcAft>
              <a:buClr>
                <a:schemeClr val="dk1"/>
              </a:buClr>
              <a:buSzPts val="1100"/>
              <a:buChar char="●"/>
            </a:pPr>
            <a:r>
              <a:rPr lang="en" sz="1100" b="1">
                <a:solidFill>
                  <a:schemeClr val="dk1"/>
                </a:solidFill>
                <a:latin typeface="Inter"/>
                <a:ea typeface="Inter"/>
                <a:cs typeface="Inter"/>
                <a:sym typeface="Inter"/>
              </a:rPr>
              <a:t>[REQ] MaterialBatchID</a:t>
            </a:r>
            <a:br>
              <a:rPr lang="en" sz="1100" b="1">
                <a:solidFill>
                  <a:schemeClr val="dk1"/>
                </a:solidFill>
                <a:latin typeface="Inter"/>
                <a:ea typeface="Inter"/>
                <a:cs typeface="Inter"/>
                <a:sym typeface="Inter"/>
              </a:rPr>
            </a:br>
            <a:r>
              <a:rPr lang="en" sz="1100" b="1">
                <a:solidFill>
                  <a:schemeClr val="dk1"/>
                </a:solidFill>
                <a:latin typeface="Inter"/>
                <a:ea typeface="Inter"/>
                <a:cs typeface="Inter"/>
                <a:sym typeface="Inter"/>
              </a:rPr>
              <a:t>[REQ] MaterialType</a:t>
            </a:r>
            <a:r>
              <a:rPr lang="en" sz="1100">
                <a:solidFill>
                  <a:schemeClr val="dk1"/>
                </a:solidFill>
                <a:latin typeface="Inter"/>
                <a:ea typeface="Inter"/>
                <a:cs typeface="Inter"/>
                <a:sym typeface="Inter"/>
              </a:rPr>
              <a:t> (grout / mortar / concrete)</a:t>
            </a:r>
            <a:br>
              <a:rPr lang="en" sz="1100">
                <a:solidFill>
                  <a:schemeClr val="dk1"/>
                </a:solidFill>
                <a:latin typeface="Inter"/>
                <a:ea typeface="Inter"/>
                <a:cs typeface="Inter"/>
                <a:sym typeface="Inter"/>
              </a:rPr>
            </a:br>
            <a:r>
              <a:rPr lang="en" sz="1100" b="1">
                <a:solidFill>
                  <a:schemeClr val="dk1"/>
                </a:solidFill>
                <a:latin typeface="Inter"/>
                <a:ea typeface="Inter"/>
                <a:cs typeface="Inter"/>
                <a:sym typeface="Inter"/>
              </a:rPr>
              <a:t>[REQ] BatchDateTime</a:t>
            </a:r>
            <a:br>
              <a:rPr lang="en" sz="1100" b="1">
                <a:solidFill>
                  <a:schemeClr val="dk1"/>
                </a:solidFill>
                <a:latin typeface="Inter"/>
                <a:ea typeface="Inter"/>
                <a:cs typeface="Inter"/>
                <a:sym typeface="Inter"/>
              </a:rPr>
            </a:br>
            <a:r>
              <a:rPr lang="en" sz="1100" b="1">
                <a:solidFill>
                  <a:schemeClr val="dk1"/>
                </a:solidFill>
                <a:latin typeface="Inter"/>
                <a:ea typeface="Inter"/>
                <a:cs typeface="Inter"/>
                <a:sym typeface="Inter"/>
              </a:rPr>
              <a:t>[REQ] BinderType</a:t>
            </a:r>
            <a:r>
              <a:rPr lang="en" sz="1100">
                <a:solidFill>
                  <a:schemeClr val="dk1"/>
                </a:solidFill>
                <a:latin typeface="Inter"/>
                <a:ea typeface="Inter"/>
                <a:cs typeface="Inter"/>
                <a:sym typeface="Inter"/>
              </a:rPr>
              <a:t> (cement type)</a:t>
            </a:r>
            <a:br>
              <a:rPr lang="en" sz="1100">
                <a:solidFill>
                  <a:schemeClr val="dk1"/>
                </a:solidFill>
                <a:latin typeface="Inter"/>
                <a:ea typeface="Inter"/>
                <a:cs typeface="Inter"/>
                <a:sym typeface="Inter"/>
              </a:rPr>
            </a:br>
            <a:r>
              <a:rPr lang="en" sz="1100" b="1">
                <a:solidFill>
                  <a:schemeClr val="dk1"/>
                </a:solidFill>
                <a:latin typeface="Inter"/>
                <a:ea typeface="Inter"/>
                <a:cs typeface="Inter"/>
                <a:sym typeface="Inter"/>
              </a:rPr>
              <a:t>[REQ] WaterCementRatio</a:t>
            </a:r>
            <a:r>
              <a:rPr lang="en" sz="1100">
                <a:solidFill>
                  <a:schemeClr val="dk1"/>
                </a:solidFill>
                <a:latin typeface="Inter"/>
                <a:ea typeface="Inter"/>
                <a:cs typeface="Inter"/>
                <a:sym typeface="Inter"/>
              </a:rPr>
              <a:t> (or mix proportions)</a:t>
            </a:r>
            <a:br>
              <a:rPr lang="en" sz="1100">
                <a:solidFill>
                  <a:schemeClr val="dk1"/>
                </a:solidFill>
                <a:latin typeface="Inter"/>
                <a:ea typeface="Inter"/>
                <a:cs typeface="Inter"/>
                <a:sym typeface="Inter"/>
              </a:rPr>
            </a:br>
            <a:r>
              <a:rPr lang="en" sz="1100" b="1">
                <a:solidFill>
                  <a:schemeClr val="dk1"/>
                </a:solidFill>
                <a:latin typeface="Inter"/>
                <a:ea typeface="Inter"/>
                <a:cs typeface="Inter"/>
                <a:sym typeface="Inter"/>
              </a:rPr>
              <a:t>[REC] Admixtures</a:t>
            </a:r>
            <a:r>
              <a:rPr lang="en" sz="1100">
                <a:solidFill>
                  <a:schemeClr val="dk1"/>
                </a:solidFill>
                <a:latin typeface="Inter"/>
                <a:ea typeface="Inter"/>
                <a:cs typeface="Inter"/>
                <a:sym typeface="Inter"/>
              </a:rPr>
              <a:t> (type + dosage)</a:t>
            </a:r>
            <a:br>
              <a:rPr lang="en" sz="1100">
                <a:solidFill>
                  <a:schemeClr val="dk1"/>
                </a:solidFill>
                <a:latin typeface="Inter"/>
                <a:ea typeface="Inter"/>
                <a:cs typeface="Inter"/>
                <a:sym typeface="Inter"/>
              </a:rPr>
            </a:br>
            <a:r>
              <a:rPr lang="en" sz="1100" b="1">
                <a:solidFill>
                  <a:schemeClr val="dk1"/>
                </a:solidFill>
                <a:latin typeface="Inter"/>
                <a:ea typeface="Inter"/>
                <a:cs typeface="Inter"/>
                <a:sym typeface="Inter"/>
              </a:rPr>
              <a:t>[REC] FreshProperties</a:t>
            </a:r>
            <a:r>
              <a:rPr lang="en" sz="1100">
                <a:solidFill>
                  <a:schemeClr val="dk1"/>
                </a:solidFill>
                <a:latin typeface="Inter"/>
                <a:ea typeface="Inter"/>
                <a:cs typeface="Inter"/>
                <a:sym typeface="Inter"/>
              </a:rPr>
              <a:t> (slump/flow, density, temperature)</a:t>
            </a:r>
            <a:br>
              <a:rPr lang="en" sz="1100">
                <a:solidFill>
                  <a:schemeClr val="dk1"/>
                </a:solidFill>
                <a:latin typeface="Inter"/>
                <a:ea typeface="Inter"/>
                <a:cs typeface="Inter"/>
                <a:sym typeface="Inter"/>
              </a:rPr>
            </a:br>
            <a:r>
              <a:rPr lang="en" sz="1100" b="1">
                <a:solidFill>
                  <a:schemeClr val="dk1"/>
                </a:solidFill>
                <a:latin typeface="Inter"/>
                <a:ea typeface="Inter"/>
                <a:cs typeface="Inter"/>
                <a:sym typeface="Inter"/>
              </a:rPr>
              <a:t>[OPT] SupplierTicketID</a:t>
            </a:r>
            <a:endParaRPr sz="1100" b="1">
              <a:solidFill>
                <a:schemeClr val="dk1"/>
              </a:solidFill>
              <a:latin typeface="Inter"/>
              <a:ea typeface="Inter"/>
              <a:cs typeface="Inter"/>
              <a:sym typeface="Inte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43"/>
          <p:cNvSpPr txBox="1">
            <a:spLocks noGrp="1"/>
          </p:cNvSpPr>
          <p:nvPr>
            <p:ph type="title" idx="4294967295"/>
          </p:nvPr>
        </p:nvSpPr>
        <p:spPr>
          <a:xfrm>
            <a:off x="238825" y="1781175"/>
            <a:ext cx="1795200" cy="1367700"/>
          </a:xfrm>
          <a:prstGeom prst="rect">
            <a:avLst/>
          </a:prstGeom>
          <a:solidFill>
            <a:srgbClr val="B6D7A8"/>
          </a:solidFill>
        </p:spPr>
        <p:txBody>
          <a:bodyPr spcFirstLastPara="1" wrap="square" lIns="91425" tIns="91425" rIns="91425" bIns="91425" anchor="t" anchorCtr="0">
            <a:noAutofit/>
          </a:bodyPr>
          <a:lstStyle/>
          <a:p>
            <a:pPr marL="0" lvl="0" indent="0" algn="ctr" rtl="0">
              <a:spcBef>
                <a:spcPts val="0"/>
              </a:spcBef>
              <a:spcAft>
                <a:spcPts val="0"/>
              </a:spcAft>
              <a:buSzPts val="990"/>
              <a:buNone/>
            </a:pPr>
            <a:br>
              <a:rPr lang="en" sz="1720">
                <a:latin typeface="Manrope"/>
                <a:ea typeface="Manrope"/>
                <a:cs typeface="Manrope"/>
                <a:sym typeface="Manrope"/>
              </a:rPr>
            </a:br>
            <a:br>
              <a:rPr lang="en" sz="1720">
                <a:latin typeface="Manrope"/>
                <a:ea typeface="Manrope"/>
                <a:cs typeface="Manrope"/>
                <a:sym typeface="Manrope"/>
              </a:rPr>
            </a:br>
            <a:r>
              <a:rPr lang="en" sz="1720">
                <a:latin typeface="Manrope"/>
                <a:ea typeface="Manrope"/>
                <a:cs typeface="Manrope"/>
                <a:sym typeface="Manrope"/>
              </a:rPr>
              <a:t>Installation</a:t>
            </a:r>
            <a:endParaRPr sz="1720">
              <a:latin typeface="Manrope"/>
              <a:ea typeface="Manrope"/>
              <a:cs typeface="Manrope"/>
              <a:sym typeface="Manrope"/>
            </a:endParaRPr>
          </a:p>
        </p:txBody>
      </p:sp>
      <p:sp>
        <p:nvSpPr>
          <p:cNvPr id="321" name="Google Shape;321;p43"/>
          <p:cNvSpPr txBox="1"/>
          <p:nvPr/>
        </p:nvSpPr>
        <p:spPr>
          <a:xfrm>
            <a:off x="0" y="3278800"/>
            <a:ext cx="2829300" cy="1031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chemeClr val="dk1"/>
                </a:solidFill>
                <a:latin typeface="Inter"/>
                <a:ea typeface="Inter"/>
                <a:cs typeface="Inter"/>
                <a:sym typeface="Inter"/>
              </a:rPr>
              <a:t>This is the core of RI/CMC value. In DIGGS terms, treat each CMC as a </a:t>
            </a:r>
            <a:r>
              <a:rPr lang="en" sz="1100" b="1">
                <a:solidFill>
                  <a:schemeClr val="dk1"/>
                </a:solidFill>
                <a:latin typeface="Inter"/>
                <a:ea typeface="Inter"/>
                <a:cs typeface="Inter"/>
                <a:sym typeface="Inter"/>
              </a:rPr>
              <a:t>Feature</a:t>
            </a:r>
            <a:r>
              <a:rPr lang="en" sz="1100">
                <a:solidFill>
                  <a:schemeClr val="dk1"/>
                </a:solidFill>
                <a:latin typeface="Inter"/>
                <a:ea typeface="Inter"/>
                <a:cs typeface="Inter"/>
                <a:sym typeface="Inter"/>
              </a:rPr>
              <a:t> with geometry, plus an </a:t>
            </a:r>
            <a:r>
              <a:rPr lang="en" sz="1100" b="1">
                <a:solidFill>
                  <a:schemeClr val="dk1"/>
                </a:solidFill>
                <a:latin typeface="Inter"/>
                <a:ea typeface="Inter"/>
                <a:cs typeface="Inter"/>
                <a:sym typeface="Inter"/>
              </a:rPr>
              <a:t>InstallationActivity</a:t>
            </a:r>
            <a:r>
              <a:rPr lang="en" sz="1100">
                <a:solidFill>
                  <a:schemeClr val="dk1"/>
                </a:solidFill>
                <a:latin typeface="Inter"/>
                <a:ea typeface="Inter"/>
                <a:cs typeface="Inter"/>
                <a:sym typeface="Inter"/>
              </a:rPr>
              <a:t> with </a:t>
            </a:r>
            <a:r>
              <a:rPr lang="en" sz="1100" b="1">
                <a:solidFill>
                  <a:schemeClr val="dk1"/>
                </a:solidFill>
                <a:latin typeface="Inter"/>
                <a:ea typeface="Inter"/>
                <a:cs typeface="Inter"/>
                <a:sym typeface="Inter"/>
              </a:rPr>
              <a:t>time series</a:t>
            </a:r>
            <a:r>
              <a:rPr lang="en" sz="1100">
                <a:solidFill>
                  <a:schemeClr val="dk1"/>
                </a:solidFill>
                <a:latin typeface="Inter"/>
                <a:ea typeface="Inter"/>
                <a:cs typeface="Inter"/>
                <a:sym typeface="Inter"/>
              </a:rPr>
              <a:t> or summarized metrics.</a:t>
            </a:r>
            <a:endParaRPr>
              <a:latin typeface="Inter"/>
              <a:ea typeface="Inter"/>
              <a:cs typeface="Inter"/>
              <a:sym typeface="Inter"/>
            </a:endParaRPr>
          </a:p>
        </p:txBody>
      </p:sp>
      <p:sp>
        <p:nvSpPr>
          <p:cNvPr id="322" name="Google Shape;322;p43"/>
          <p:cNvSpPr txBox="1"/>
          <p:nvPr/>
        </p:nvSpPr>
        <p:spPr>
          <a:xfrm>
            <a:off x="2751350" y="1117325"/>
            <a:ext cx="6117900" cy="2490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300" b="1">
                <a:solidFill>
                  <a:schemeClr val="dk1"/>
                </a:solidFill>
                <a:latin typeface="Inter"/>
                <a:ea typeface="Inter"/>
                <a:cs typeface="Inter"/>
                <a:sym typeface="Inter"/>
              </a:rPr>
              <a:t>C. Per‑column “header” (minimum as‑built identity + geometry)</a:t>
            </a:r>
            <a:endParaRPr sz="1300" b="1">
              <a:solidFill>
                <a:schemeClr val="dk1"/>
              </a:solidFill>
              <a:latin typeface="Inter"/>
              <a:ea typeface="Inter"/>
              <a:cs typeface="Inter"/>
              <a:sym typeface="Inter"/>
            </a:endParaRPr>
          </a:p>
          <a:p>
            <a:pPr marL="457200" lvl="0" indent="-298450" algn="l" rtl="0">
              <a:lnSpc>
                <a:spcPct val="115000"/>
              </a:lnSpc>
              <a:spcBef>
                <a:spcPts val="1200"/>
              </a:spcBef>
              <a:spcAft>
                <a:spcPts val="0"/>
              </a:spcAft>
              <a:buClr>
                <a:schemeClr val="dk1"/>
              </a:buClr>
              <a:buSzPts val="1100"/>
              <a:buChar char="●"/>
            </a:pPr>
            <a:r>
              <a:rPr lang="en" sz="1100" b="1">
                <a:solidFill>
                  <a:schemeClr val="dk1"/>
                </a:solidFill>
                <a:latin typeface="Inter"/>
                <a:ea typeface="Inter"/>
                <a:cs typeface="Inter"/>
                <a:sym typeface="Inter"/>
              </a:rPr>
              <a:t>[REQ] InclusionID</a:t>
            </a:r>
            <a:r>
              <a:rPr lang="en" sz="1100">
                <a:solidFill>
                  <a:schemeClr val="dk1"/>
                </a:solidFill>
                <a:latin typeface="Inter"/>
                <a:ea typeface="Inter"/>
                <a:cs typeface="Inter"/>
                <a:sym typeface="Inter"/>
              </a:rPr>
              <a:t> (unique, persistent)</a:t>
            </a:r>
            <a:br>
              <a:rPr lang="en" sz="1100">
                <a:solidFill>
                  <a:schemeClr val="dk1"/>
                </a:solidFill>
                <a:latin typeface="Inter"/>
                <a:ea typeface="Inter"/>
                <a:cs typeface="Inter"/>
                <a:sym typeface="Inter"/>
              </a:rPr>
            </a:br>
            <a:r>
              <a:rPr lang="en" sz="1100" b="1">
                <a:solidFill>
                  <a:schemeClr val="dk1"/>
                </a:solidFill>
                <a:latin typeface="Inter"/>
                <a:ea typeface="Inter"/>
                <a:cs typeface="Inter"/>
                <a:sym typeface="Inter"/>
              </a:rPr>
              <a:t>[REQ] TreatmentAreaID</a:t>
            </a:r>
            <a:r>
              <a:rPr lang="en" sz="1100">
                <a:solidFill>
                  <a:schemeClr val="dk1"/>
                </a:solidFill>
                <a:latin typeface="Inter"/>
                <a:ea typeface="Inter"/>
                <a:cs typeface="Inter"/>
                <a:sym typeface="Inter"/>
              </a:rPr>
              <a:t> (link)</a:t>
            </a:r>
            <a:br>
              <a:rPr lang="en" sz="1100">
                <a:solidFill>
                  <a:schemeClr val="dk1"/>
                </a:solidFill>
                <a:latin typeface="Inter"/>
                <a:ea typeface="Inter"/>
                <a:cs typeface="Inter"/>
                <a:sym typeface="Inter"/>
              </a:rPr>
            </a:br>
            <a:r>
              <a:rPr lang="en" sz="1100" b="1">
                <a:solidFill>
                  <a:schemeClr val="dk1"/>
                </a:solidFill>
                <a:latin typeface="Inter"/>
                <a:ea typeface="Inter"/>
                <a:cs typeface="Inter"/>
                <a:sym typeface="Inter"/>
              </a:rPr>
              <a:t>[REQ] PlannedX, PlannedY</a:t>
            </a:r>
            <a:br>
              <a:rPr lang="en" sz="1100" b="1">
                <a:solidFill>
                  <a:schemeClr val="dk1"/>
                </a:solidFill>
                <a:latin typeface="Inter"/>
                <a:ea typeface="Inter"/>
                <a:cs typeface="Inter"/>
                <a:sym typeface="Inter"/>
              </a:rPr>
            </a:br>
            <a:r>
              <a:rPr lang="en" sz="1100" b="1">
                <a:solidFill>
                  <a:schemeClr val="dk1"/>
                </a:solidFill>
                <a:latin typeface="Inter"/>
                <a:ea typeface="Inter"/>
                <a:cs typeface="Inter"/>
                <a:sym typeface="Inter"/>
              </a:rPr>
              <a:t>[REQ] AsBuiltX, AsBuiltY</a:t>
            </a:r>
            <a:r>
              <a:rPr lang="en" sz="1100">
                <a:solidFill>
                  <a:schemeClr val="dk1"/>
                </a:solidFill>
                <a:latin typeface="Inter"/>
                <a:ea typeface="Inter"/>
                <a:cs typeface="Inter"/>
                <a:sym typeface="Inter"/>
              </a:rPr>
              <a:t> (survey or rig GNSS)</a:t>
            </a:r>
            <a:br>
              <a:rPr lang="en" sz="1100">
                <a:solidFill>
                  <a:schemeClr val="dk1"/>
                </a:solidFill>
                <a:latin typeface="Inter"/>
                <a:ea typeface="Inter"/>
                <a:cs typeface="Inter"/>
                <a:sym typeface="Inter"/>
              </a:rPr>
            </a:br>
            <a:r>
              <a:rPr lang="en" sz="1100" b="1">
                <a:solidFill>
                  <a:schemeClr val="dk1"/>
                </a:solidFill>
                <a:latin typeface="Inter"/>
                <a:ea typeface="Inter"/>
                <a:cs typeface="Inter"/>
                <a:sym typeface="Inter"/>
              </a:rPr>
              <a:t>[REQ] GroundSurfaceElevationAtInstall</a:t>
            </a:r>
            <a:br>
              <a:rPr lang="en" sz="1100" b="1">
                <a:solidFill>
                  <a:schemeClr val="dk1"/>
                </a:solidFill>
                <a:latin typeface="Inter"/>
                <a:ea typeface="Inter"/>
                <a:cs typeface="Inter"/>
                <a:sym typeface="Inter"/>
              </a:rPr>
            </a:br>
            <a:r>
              <a:rPr lang="en" sz="1100" b="1">
                <a:solidFill>
                  <a:schemeClr val="dk1"/>
                </a:solidFill>
                <a:latin typeface="Inter"/>
                <a:ea typeface="Inter"/>
                <a:cs typeface="Inter"/>
                <a:sym typeface="Inter"/>
              </a:rPr>
              <a:t>[REQ] StartDateTime / EndDateTime</a:t>
            </a:r>
            <a:br>
              <a:rPr lang="en" sz="1100" b="1">
                <a:solidFill>
                  <a:schemeClr val="dk1"/>
                </a:solidFill>
                <a:latin typeface="Inter"/>
                <a:ea typeface="Inter"/>
                <a:cs typeface="Inter"/>
                <a:sym typeface="Inter"/>
              </a:rPr>
            </a:br>
            <a:r>
              <a:rPr lang="en" sz="1100" b="1">
                <a:solidFill>
                  <a:schemeClr val="dk1"/>
                </a:solidFill>
                <a:latin typeface="Inter"/>
                <a:ea typeface="Inter"/>
                <a:cs typeface="Inter"/>
                <a:sym typeface="Inter"/>
              </a:rPr>
              <a:t>[REQ] PlannedDepth vs AchievedDepth</a:t>
            </a:r>
            <a:br>
              <a:rPr lang="en" sz="1100" b="1">
                <a:solidFill>
                  <a:schemeClr val="dk1"/>
                </a:solidFill>
                <a:latin typeface="Inter"/>
                <a:ea typeface="Inter"/>
                <a:cs typeface="Inter"/>
                <a:sym typeface="Inter"/>
              </a:rPr>
            </a:br>
            <a:r>
              <a:rPr lang="en" sz="1100" b="1">
                <a:solidFill>
                  <a:schemeClr val="dk1"/>
                </a:solidFill>
                <a:latin typeface="Inter"/>
                <a:ea typeface="Inter"/>
                <a:cs typeface="Inter"/>
                <a:sym typeface="Inter"/>
              </a:rPr>
              <a:t>[REQ] CutoffElevationAchieved</a:t>
            </a:r>
            <a:br>
              <a:rPr lang="en" sz="1100" b="1">
                <a:solidFill>
                  <a:schemeClr val="dk1"/>
                </a:solidFill>
                <a:latin typeface="Inter"/>
                <a:ea typeface="Inter"/>
                <a:cs typeface="Inter"/>
                <a:sym typeface="Inter"/>
              </a:rPr>
            </a:br>
            <a:r>
              <a:rPr lang="en" sz="1100" b="1">
                <a:solidFill>
                  <a:schemeClr val="dk1"/>
                </a:solidFill>
                <a:latin typeface="Inter"/>
                <a:ea typeface="Inter"/>
                <a:cs typeface="Inter"/>
                <a:sym typeface="Inter"/>
              </a:rPr>
              <a:t>[REQ] InstallationMethodActual</a:t>
            </a:r>
            <a:r>
              <a:rPr lang="en" sz="1100">
                <a:solidFill>
                  <a:schemeClr val="dk1"/>
                </a:solidFill>
                <a:latin typeface="Inter"/>
                <a:ea typeface="Inter"/>
                <a:cs typeface="Inter"/>
                <a:sym typeface="Inter"/>
              </a:rPr>
              <a:t> (enumeration)</a:t>
            </a:r>
            <a:br>
              <a:rPr lang="en" sz="1100">
                <a:solidFill>
                  <a:schemeClr val="dk1"/>
                </a:solidFill>
                <a:latin typeface="Inter"/>
                <a:ea typeface="Inter"/>
                <a:cs typeface="Inter"/>
                <a:sym typeface="Inter"/>
              </a:rPr>
            </a:br>
            <a:r>
              <a:rPr lang="en" sz="1100" b="1">
                <a:solidFill>
                  <a:schemeClr val="dk1"/>
                </a:solidFill>
                <a:latin typeface="Inter"/>
                <a:ea typeface="Inter"/>
                <a:cs typeface="Inter"/>
                <a:sym typeface="Inter"/>
              </a:rPr>
              <a:t>[REQ] Status</a:t>
            </a:r>
            <a:r>
              <a:rPr lang="en" sz="1100">
                <a:solidFill>
                  <a:schemeClr val="dk1"/>
                </a:solidFill>
                <a:latin typeface="Inter"/>
                <a:ea typeface="Inter"/>
                <a:cs typeface="Inter"/>
                <a:sym typeface="Inter"/>
              </a:rPr>
              <a:t> (installed / replaced / rejected / reworked)</a:t>
            </a:r>
            <a:endParaRPr sz="1100">
              <a:solidFill>
                <a:schemeClr val="dk1"/>
              </a:solidFill>
              <a:latin typeface="Inter"/>
              <a:ea typeface="Inter"/>
              <a:cs typeface="Inter"/>
              <a:sym typeface="Inte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44"/>
          <p:cNvSpPr txBox="1"/>
          <p:nvPr/>
        </p:nvSpPr>
        <p:spPr>
          <a:xfrm>
            <a:off x="2765900" y="886575"/>
            <a:ext cx="6181500" cy="2993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300" b="1">
                <a:solidFill>
                  <a:schemeClr val="dk1"/>
                </a:solidFill>
              </a:rPr>
              <a:t>D. Per‑column installation records (summaries)</a:t>
            </a:r>
            <a:endParaRPr sz="1300" b="1">
              <a:solidFill>
                <a:schemeClr val="dk1"/>
              </a:solidFill>
            </a:endParaRPr>
          </a:p>
          <a:p>
            <a:pPr marL="0" lvl="0" indent="0" algn="l" rtl="0">
              <a:lnSpc>
                <a:spcPct val="115000"/>
              </a:lnSpc>
              <a:spcBef>
                <a:spcPts val="1200"/>
              </a:spcBef>
              <a:spcAft>
                <a:spcPts val="0"/>
              </a:spcAft>
              <a:buNone/>
            </a:pPr>
            <a:r>
              <a:rPr lang="en" sz="1100">
                <a:solidFill>
                  <a:schemeClr val="dk1"/>
                </a:solidFill>
              </a:rPr>
              <a:t>These can be recorded either as </a:t>
            </a:r>
            <a:r>
              <a:rPr lang="en" sz="1100" b="1">
                <a:solidFill>
                  <a:schemeClr val="dk1"/>
                </a:solidFill>
              </a:rPr>
              <a:t>time series</a:t>
            </a:r>
            <a:r>
              <a:rPr lang="en" sz="1100">
                <a:solidFill>
                  <a:schemeClr val="dk1"/>
                </a:solidFill>
              </a:rPr>
              <a:t> (preferred) or as summary values (minimum).</a:t>
            </a:r>
            <a:endParaRPr sz="1100">
              <a:solidFill>
                <a:schemeClr val="dk1"/>
              </a:solidFill>
            </a:endParaRPr>
          </a:p>
          <a:p>
            <a:pPr marL="0" lvl="0" indent="0" algn="l" rtl="0">
              <a:lnSpc>
                <a:spcPct val="115000"/>
              </a:lnSpc>
              <a:spcBef>
                <a:spcPts val="1200"/>
              </a:spcBef>
              <a:spcAft>
                <a:spcPts val="0"/>
              </a:spcAft>
              <a:buNone/>
            </a:pPr>
            <a:r>
              <a:rPr lang="en" sz="1100" b="1">
                <a:solidFill>
                  <a:schemeClr val="dk1"/>
                </a:solidFill>
              </a:rPr>
              <a:t>Minimum summary metrics</a:t>
            </a:r>
            <a:endParaRPr sz="11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b="1">
                <a:solidFill>
                  <a:schemeClr val="dk1"/>
                </a:solidFill>
              </a:rPr>
              <a:t>[REQ] TotalInjectedVolume</a:t>
            </a:r>
            <a:r>
              <a:rPr lang="en" sz="1100">
                <a:solidFill>
                  <a:schemeClr val="dk1"/>
                </a:solidFill>
              </a:rPr>
              <a:t> (m³)</a:t>
            </a:r>
            <a:br>
              <a:rPr lang="en" sz="1100">
                <a:solidFill>
                  <a:schemeClr val="dk1"/>
                </a:solidFill>
              </a:rPr>
            </a:br>
            <a:r>
              <a:rPr lang="en" sz="1100" b="1">
                <a:solidFill>
                  <a:schemeClr val="dk1"/>
                </a:solidFill>
              </a:rPr>
              <a:t>[REQ] VolumePerMeter</a:t>
            </a:r>
            <a:r>
              <a:rPr lang="en" sz="1100">
                <a:solidFill>
                  <a:schemeClr val="dk1"/>
                </a:solidFill>
              </a:rPr>
              <a:t> (m³/m) (or equivalent)</a:t>
            </a:r>
            <a:br>
              <a:rPr lang="en" sz="1100">
                <a:solidFill>
                  <a:schemeClr val="dk1"/>
                </a:solidFill>
              </a:rPr>
            </a:br>
            <a:r>
              <a:rPr lang="en" sz="1100" b="1">
                <a:solidFill>
                  <a:schemeClr val="dk1"/>
                </a:solidFill>
              </a:rPr>
              <a:t>[REQ] MaxInjectionPressure</a:t>
            </a:r>
            <a:r>
              <a:rPr lang="en" sz="1100">
                <a:solidFill>
                  <a:schemeClr val="dk1"/>
                </a:solidFill>
              </a:rPr>
              <a:t> (kPa or bar)</a:t>
            </a:r>
            <a:br>
              <a:rPr lang="en" sz="1100">
                <a:solidFill>
                  <a:schemeClr val="dk1"/>
                </a:solidFill>
              </a:rPr>
            </a:br>
            <a:r>
              <a:rPr lang="en" sz="1100" b="1">
                <a:solidFill>
                  <a:schemeClr val="dk1"/>
                </a:solidFill>
              </a:rPr>
              <a:t>[REQ] AverageInjectionPressure</a:t>
            </a:r>
            <a:br>
              <a:rPr lang="en" sz="1100" b="1">
                <a:solidFill>
                  <a:schemeClr val="dk1"/>
                </a:solidFill>
              </a:rPr>
            </a:br>
            <a:r>
              <a:rPr lang="en" sz="1100" b="1">
                <a:solidFill>
                  <a:schemeClr val="dk1"/>
                </a:solidFill>
              </a:rPr>
              <a:t>[REQ] WithdrawalRateAverage</a:t>
            </a:r>
            <a:r>
              <a:rPr lang="en" sz="1100">
                <a:solidFill>
                  <a:schemeClr val="dk1"/>
                </a:solidFill>
              </a:rPr>
              <a:t> (m/min)</a:t>
            </a:r>
            <a:br>
              <a:rPr lang="en" sz="1100">
                <a:solidFill>
                  <a:schemeClr val="dk1"/>
                </a:solidFill>
              </a:rPr>
            </a:br>
            <a:r>
              <a:rPr lang="en" sz="1100" b="1">
                <a:solidFill>
                  <a:schemeClr val="dk1"/>
                </a:solidFill>
              </a:rPr>
              <a:t>[REC] PenetrationRateAverage</a:t>
            </a:r>
            <a:r>
              <a:rPr lang="en" sz="1100">
                <a:solidFill>
                  <a:schemeClr val="dk1"/>
                </a:solidFill>
              </a:rPr>
              <a:t> (m/min)</a:t>
            </a:r>
            <a:br>
              <a:rPr lang="en" sz="1100">
                <a:solidFill>
                  <a:schemeClr val="dk1"/>
                </a:solidFill>
              </a:rPr>
            </a:br>
            <a:r>
              <a:rPr lang="en" sz="1100" b="1">
                <a:solidFill>
                  <a:schemeClr val="dk1"/>
                </a:solidFill>
              </a:rPr>
              <a:t>[REC] MaxTorque / AverageTorque</a:t>
            </a:r>
            <a:r>
              <a:rPr lang="en" sz="1100">
                <a:solidFill>
                  <a:schemeClr val="dk1"/>
                </a:solidFill>
              </a:rPr>
              <a:t> (kN·m)</a:t>
            </a:r>
            <a:br>
              <a:rPr lang="en" sz="1100">
                <a:solidFill>
                  <a:schemeClr val="dk1"/>
                </a:solidFill>
              </a:rPr>
            </a:br>
            <a:r>
              <a:rPr lang="en" sz="1100" b="1">
                <a:solidFill>
                  <a:schemeClr val="dk1"/>
                </a:solidFill>
              </a:rPr>
              <a:t>[REC] RotationSpeedAverage</a:t>
            </a:r>
            <a:r>
              <a:rPr lang="en" sz="1100">
                <a:solidFill>
                  <a:schemeClr val="dk1"/>
                </a:solidFill>
              </a:rPr>
              <a:t> (rpm)</a:t>
            </a:r>
            <a:br>
              <a:rPr lang="en" sz="1100">
                <a:solidFill>
                  <a:schemeClr val="dk1"/>
                </a:solidFill>
              </a:rPr>
            </a:br>
            <a:r>
              <a:rPr lang="en" sz="1100" b="1">
                <a:solidFill>
                  <a:schemeClr val="dk1"/>
                </a:solidFill>
              </a:rPr>
              <a:t>[REC] MaterialBatchIDUsed</a:t>
            </a:r>
            <a:r>
              <a:rPr lang="en" sz="1100">
                <a:solidFill>
                  <a:schemeClr val="dk1"/>
                </a:solidFill>
              </a:rPr>
              <a:t> (link)</a:t>
            </a:r>
            <a:endParaRPr sz="1100">
              <a:solidFill>
                <a:schemeClr val="dk1"/>
              </a:solidFill>
            </a:endParaRPr>
          </a:p>
        </p:txBody>
      </p:sp>
      <p:sp>
        <p:nvSpPr>
          <p:cNvPr id="328" name="Google Shape;328;p44"/>
          <p:cNvSpPr txBox="1">
            <a:spLocks noGrp="1"/>
          </p:cNvSpPr>
          <p:nvPr>
            <p:ph type="title" idx="4294967295"/>
          </p:nvPr>
        </p:nvSpPr>
        <p:spPr>
          <a:xfrm>
            <a:off x="238825" y="1781175"/>
            <a:ext cx="1795200" cy="1367700"/>
          </a:xfrm>
          <a:prstGeom prst="rect">
            <a:avLst/>
          </a:prstGeom>
          <a:solidFill>
            <a:srgbClr val="B6D7A8"/>
          </a:solidFill>
        </p:spPr>
        <p:txBody>
          <a:bodyPr spcFirstLastPara="1" wrap="square" lIns="91425" tIns="91425" rIns="91425" bIns="91425" anchor="t" anchorCtr="0">
            <a:noAutofit/>
          </a:bodyPr>
          <a:lstStyle/>
          <a:p>
            <a:pPr marL="0" lvl="0" indent="0" algn="ctr" rtl="0">
              <a:spcBef>
                <a:spcPts val="0"/>
              </a:spcBef>
              <a:spcAft>
                <a:spcPts val="0"/>
              </a:spcAft>
              <a:buSzPts val="990"/>
              <a:buNone/>
            </a:pPr>
            <a:br>
              <a:rPr lang="en" sz="1720">
                <a:latin typeface="Manrope"/>
                <a:ea typeface="Manrope"/>
                <a:cs typeface="Manrope"/>
                <a:sym typeface="Manrope"/>
              </a:rPr>
            </a:br>
            <a:br>
              <a:rPr lang="en" sz="1720">
                <a:latin typeface="Manrope"/>
                <a:ea typeface="Manrope"/>
                <a:cs typeface="Manrope"/>
                <a:sym typeface="Manrope"/>
              </a:rPr>
            </a:br>
            <a:r>
              <a:rPr lang="en" sz="1720">
                <a:latin typeface="Manrope"/>
                <a:ea typeface="Manrope"/>
                <a:cs typeface="Manrope"/>
                <a:sym typeface="Manrope"/>
              </a:rPr>
              <a:t>Installation</a:t>
            </a:r>
            <a:endParaRPr sz="1720">
              <a:latin typeface="Manrope"/>
              <a:ea typeface="Manrope"/>
              <a:cs typeface="Manrope"/>
              <a:sym typeface="Manrope"/>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45"/>
          <p:cNvSpPr txBox="1"/>
          <p:nvPr/>
        </p:nvSpPr>
        <p:spPr>
          <a:xfrm>
            <a:off x="2820850" y="386625"/>
            <a:ext cx="6181500" cy="4156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100" b="1">
                <a:solidFill>
                  <a:schemeClr val="dk1"/>
                </a:solidFill>
              </a:rPr>
              <a:t>Termination / refusal information</a:t>
            </a:r>
            <a:endParaRPr sz="11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b="1">
                <a:solidFill>
                  <a:schemeClr val="dk1"/>
                </a:solidFill>
              </a:rPr>
              <a:t>[REQ] TerminationType</a:t>
            </a:r>
            <a:r>
              <a:rPr lang="en" sz="1100">
                <a:solidFill>
                  <a:schemeClr val="dk1"/>
                </a:solidFill>
              </a:rPr>
              <a:t> (design depth reached / refusal / obstruction / other)</a:t>
            </a:r>
            <a:br>
              <a:rPr lang="en" sz="1100">
                <a:solidFill>
                  <a:schemeClr val="dk1"/>
                </a:solidFill>
              </a:rPr>
            </a:b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[REQ] TerminationDepth / Elevation</a:t>
            </a:r>
            <a:br>
              <a:rPr lang="en" sz="1100" b="1">
                <a:solidFill>
                  <a:schemeClr val="dk1"/>
                </a:solidFill>
              </a:rPr>
            </a:br>
            <a:endParaRPr sz="1100" b="1">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[REC] TerminationReasonDetail</a:t>
            </a:r>
            <a:r>
              <a:rPr lang="en" sz="1100">
                <a:solidFill>
                  <a:schemeClr val="dk1"/>
                </a:solidFill>
              </a:rPr>
              <a:t> (free text + code list)</a:t>
            </a:r>
            <a:br>
              <a:rPr lang="en" sz="1100">
                <a:solidFill>
                  <a:schemeClr val="dk1"/>
                </a:solidFill>
              </a:rPr>
            </a:b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[REC] ObstructionEncounteredFlag</a:t>
            </a:r>
            <a:r>
              <a:rPr lang="en" sz="1100">
                <a:solidFill>
                  <a:schemeClr val="dk1"/>
                </a:solidFill>
              </a:rPr>
              <a:t> (yes/no; depth)</a:t>
            </a:r>
            <a:br>
              <a:rPr lang="en" sz="1100">
                <a:solidFill>
                  <a:schemeClr val="dk1"/>
                </a:solidFill>
              </a:rPr>
            </a:br>
            <a:endParaRPr sz="1100">
              <a:solidFill>
                <a:schemeClr val="dk1"/>
              </a:solidFill>
            </a:endParaRPr>
          </a:p>
          <a:p>
            <a:pPr marL="0" lvl="0" indent="0" algn="l" rtl="0">
              <a:lnSpc>
                <a:spcPct val="115000"/>
              </a:lnSpc>
              <a:spcBef>
                <a:spcPts val="1200"/>
              </a:spcBef>
              <a:spcAft>
                <a:spcPts val="0"/>
              </a:spcAft>
              <a:buNone/>
            </a:pPr>
            <a:r>
              <a:rPr lang="en" sz="1100" b="1">
                <a:solidFill>
                  <a:schemeClr val="dk1"/>
                </a:solidFill>
              </a:rPr>
              <a:t>Nonconformance + corrective action</a:t>
            </a:r>
            <a:endParaRPr sz="11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b="1">
                <a:solidFill>
                  <a:schemeClr val="dk1"/>
                </a:solidFill>
              </a:rPr>
              <a:t>[REQ] NonconformanceFlag</a:t>
            </a:r>
            <a:r>
              <a:rPr lang="en" sz="1100">
                <a:solidFill>
                  <a:schemeClr val="dk1"/>
                </a:solidFill>
              </a:rPr>
              <a:t> (yes/no)</a:t>
            </a:r>
            <a:br>
              <a:rPr lang="en" sz="1100">
                <a:solidFill>
                  <a:schemeClr val="dk1"/>
                </a:solidFill>
              </a:rPr>
            </a:b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[REQ] NonconformanceType</a:t>
            </a:r>
            <a:r>
              <a:rPr lang="en" sz="1100">
                <a:solidFill>
                  <a:schemeClr val="dk1"/>
                </a:solidFill>
              </a:rPr>
              <a:t> (short column / low take / high take / deviation / etc.)</a:t>
            </a:r>
            <a:br>
              <a:rPr lang="en" sz="1100">
                <a:solidFill>
                  <a:schemeClr val="dk1"/>
                </a:solidFill>
              </a:rPr>
            </a:b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[REQ] CorrectiveAction</a:t>
            </a:r>
            <a:r>
              <a:rPr lang="en" sz="1100">
                <a:solidFill>
                  <a:schemeClr val="dk1"/>
                </a:solidFill>
              </a:rPr>
              <a:t> (re-drill / additional column / redesign / accept as-is)</a:t>
            </a:r>
            <a:br>
              <a:rPr lang="en" sz="1100">
                <a:solidFill>
                  <a:schemeClr val="dk1"/>
                </a:solidFill>
              </a:rPr>
            </a:b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[REC] EngineerDispositionID</a:t>
            </a:r>
            <a:r>
              <a:rPr lang="en" sz="1100">
                <a:solidFill>
                  <a:schemeClr val="dk1"/>
                </a:solidFill>
              </a:rPr>
              <a:t> (approval/refusal record)</a:t>
            </a:r>
            <a:endParaRPr sz="1100">
              <a:solidFill>
                <a:schemeClr val="dk1"/>
              </a:solidFill>
            </a:endParaRPr>
          </a:p>
          <a:p>
            <a:pPr marL="457200" lvl="0" indent="-311150" algn="l" rtl="0">
              <a:lnSpc>
                <a:spcPct val="115000"/>
              </a:lnSpc>
              <a:spcBef>
                <a:spcPts val="0"/>
              </a:spcBef>
              <a:spcAft>
                <a:spcPts val="0"/>
              </a:spcAft>
              <a:buClr>
                <a:schemeClr val="dk1"/>
              </a:buClr>
              <a:buSzPts val="1300"/>
              <a:buChar char="●"/>
            </a:pPr>
            <a:endParaRPr sz="1300" b="1">
              <a:solidFill>
                <a:schemeClr val="dk1"/>
              </a:solidFill>
            </a:endParaRPr>
          </a:p>
        </p:txBody>
      </p:sp>
      <p:sp>
        <p:nvSpPr>
          <p:cNvPr id="334" name="Google Shape;334;p45"/>
          <p:cNvSpPr txBox="1">
            <a:spLocks noGrp="1"/>
          </p:cNvSpPr>
          <p:nvPr>
            <p:ph type="title" idx="4294967295"/>
          </p:nvPr>
        </p:nvSpPr>
        <p:spPr>
          <a:xfrm>
            <a:off x="238825" y="1781175"/>
            <a:ext cx="1795200" cy="1367700"/>
          </a:xfrm>
          <a:prstGeom prst="rect">
            <a:avLst/>
          </a:prstGeom>
          <a:solidFill>
            <a:srgbClr val="B6D7A8"/>
          </a:solidFill>
        </p:spPr>
        <p:txBody>
          <a:bodyPr spcFirstLastPara="1" wrap="square" lIns="91425" tIns="91425" rIns="91425" bIns="91425" anchor="t" anchorCtr="0">
            <a:noAutofit/>
          </a:bodyPr>
          <a:lstStyle/>
          <a:p>
            <a:pPr marL="0" lvl="0" indent="0" algn="ctr" rtl="0">
              <a:spcBef>
                <a:spcPts val="0"/>
              </a:spcBef>
              <a:spcAft>
                <a:spcPts val="0"/>
              </a:spcAft>
              <a:buSzPts val="990"/>
              <a:buNone/>
            </a:pPr>
            <a:br>
              <a:rPr lang="en" sz="1720">
                <a:latin typeface="Manrope"/>
                <a:ea typeface="Manrope"/>
                <a:cs typeface="Manrope"/>
                <a:sym typeface="Manrope"/>
              </a:rPr>
            </a:br>
            <a:br>
              <a:rPr lang="en" sz="1720">
                <a:latin typeface="Manrope"/>
                <a:ea typeface="Manrope"/>
                <a:cs typeface="Manrope"/>
                <a:sym typeface="Manrope"/>
              </a:rPr>
            </a:br>
            <a:r>
              <a:rPr lang="en" sz="1720">
                <a:latin typeface="Manrope"/>
                <a:ea typeface="Manrope"/>
                <a:cs typeface="Manrope"/>
                <a:sym typeface="Manrope"/>
              </a:rPr>
              <a:t>Installation</a:t>
            </a:r>
            <a:endParaRPr sz="1720">
              <a:latin typeface="Manrope"/>
              <a:ea typeface="Manrope"/>
              <a:cs typeface="Manrope"/>
              <a:sym typeface="Manrope"/>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46"/>
          <p:cNvSpPr txBox="1"/>
          <p:nvPr/>
        </p:nvSpPr>
        <p:spPr>
          <a:xfrm>
            <a:off x="2765900" y="0"/>
            <a:ext cx="6181500" cy="4980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300" b="1">
                <a:solidFill>
                  <a:schemeClr val="dk1"/>
                </a:solidFill>
              </a:rPr>
              <a:t>E. Installation time‑series (strongly recommended)</a:t>
            </a:r>
            <a:endParaRPr sz="1300" b="1">
              <a:solidFill>
                <a:schemeClr val="dk1"/>
              </a:solidFill>
            </a:endParaRPr>
          </a:p>
          <a:p>
            <a:pPr marL="0" lvl="0" indent="0" algn="l" rtl="0">
              <a:lnSpc>
                <a:spcPct val="115000"/>
              </a:lnSpc>
              <a:spcBef>
                <a:spcPts val="1200"/>
              </a:spcBef>
              <a:spcAft>
                <a:spcPts val="0"/>
              </a:spcAft>
              <a:buNone/>
            </a:pPr>
            <a:r>
              <a:rPr lang="en" sz="1100">
                <a:solidFill>
                  <a:schemeClr val="dk1"/>
                </a:solidFill>
              </a:rPr>
              <a:t>If the rig logs continuously, store time series keyed by </a:t>
            </a:r>
            <a:r>
              <a:rPr lang="en" sz="1100" b="1">
                <a:solidFill>
                  <a:schemeClr val="dk1"/>
                </a:solidFill>
              </a:rPr>
              <a:t>timestamp</a:t>
            </a:r>
            <a:r>
              <a:rPr lang="en" sz="1100">
                <a:solidFill>
                  <a:schemeClr val="dk1"/>
                </a:solidFill>
              </a:rPr>
              <a:t> and </a:t>
            </a:r>
            <a:r>
              <a:rPr lang="en" sz="1100" b="1">
                <a:solidFill>
                  <a:schemeClr val="dk1"/>
                </a:solidFill>
              </a:rPr>
              <a:t>depth</a:t>
            </a:r>
            <a:r>
              <a:rPr lang="en" sz="1100">
                <a:solidFill>
                  <a:schemeClr val="dk1"/>
                </a:solidFill>
              </a:rPr>
              <a:t>.</a:t>
            </a:r>
            <a:endParaRPr sz="110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b="1">
                <a:solidFill>
                  <a:schemeClr val="dk1"/>
                </a:solidFill>
              </a:rPr>
              <a:t>[REC] Depth(t)</a:t>
            </a:r>
            <a:r>
              <a:rPr lang="en" sz="1100">
                <a:solidFill>
                  <a:schemeClr val="dk1"/>
                </a:solidFill>
              </a:rPr>
              <a:t> or Depth vs Time</a:t>
            </a:r>
            <a:br>
              <a:rPr lang="en" sz="1100">
                <a:solidFill>
                  <a:schemeClr val="dk1"/>
                </a:solidFill>
              </a:rPr>
            </a:b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[REC] PenetrationRate(t)</a:t>
            </a:r>
            <a:br>
              <a:rPr lang="en" sz="1100" b="1">
                <a:solidFill>
                  <a:schemeClr val="dk1"/>
                </a:solidFill>
              </a:rPr>
            </a:br>
            <a:endParaRPr sz="1100" b="1">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[REC] WithdrawalRate(t)</a:t>
            </a:r>
            <a:br>
              <a:rPr lang="en" sz="1100" b="1">
                <a:solidFill>
                  <a:schemeClr val="dk1"/>
                </a:solidFill>
              </a:rPr>
            </a:br>
            <a:endParaRPr sz="1100" b="1">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[REC] Torque(t)</a:t>
            </a:r>
            <a:br>
              <a:rPr lang="en" sz="1100" b="1">
                <a:solidFill>
                  <a:schemeClr val="dk1"/>
                </a:solidFill>
              </a:rPr>
            </a:br>
            <a:endParaRPr sz="1100" b="1">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[REC] RotationSpeed(t)</a:t>
            </a:r>
            <a:br>
              <a:rPr lang="en" sz="1100" b="1">
                <a:solidFill>
                  <a:schemeClr val="dk1"/>
                </a:solidFill>
              </a:rPr>
            </a:br>
            <a:endParaRPr sz="1100" b="1">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[REC] CrowdForce/Downforce(t)</a:t>
            </a:r>
            <a:r>
              <a:rPr lang="en" sz="1100">
                <a:solidFill>
                  <a:schemeClr val="dk1"/>
                </a:solidFill>
              </a:rPr>
              <a:t> (if available)</a:t>
            </a:r>
            <a:br>
              <a:rPr lang="en" sz="1100">
                <a:solidFill>
                  <a:schemeClr val="dk1"/>
                </a:solidFill>
              </a:rPr>
            </a:b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[REC] PumpPressure(t)</a:t>
            </a:r>
            <a:br>
              <a:rPr lang="en" sz="1100" b="1">
                <a:solidFill>
                  <a:schemeClr val="dk1"/>
                </a:solidFill>
              </a:rPr>
            </a:br>
            <a:endParaRPr sz="1100" b="1">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[REC] FlowRate(t)</a:t>
            </a:r>
            <a:br>
              <a:rPr lang="en" sz="1100" b="1">
                <a:solidFill>
                  <a:schemeClr val="dk1"/>
                </a:solidFill>
              </a:rPr>
            </a:br>
            <a:endParaRPr sz="1100" b="1">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[REC] CumulativeVolume(t)</a:t>
            </a:r>
            <a:br>
              <a:rPr lang="en" sz="1100" b="1">
                <a:solidFill>
                  <a:schemeClr val="dk1"/>
                </a:solidFill>
              </a:rPr>
            </a:br>
            <a:endParaRPr sz="1100" b="1">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[OPT] GroutTemperature(t)</a:t>
            </a:r>
            <a:br>
              <a:rPr lang="en" sz="1100" b="1">
                <a:solidFill>
                  <a:schemeClr val="dk1"/>
                </a:solidFill>
              </a:rPr>
            </a:br>
            <a:endParaRPr sz="1100" b="1">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[OPT] Vibration/Noise metrics</a:t>
            </a:r>
            <a:r>
              <a:rPr lang="en" sz="1100">
                <a:solidFill>
                  <a:schemeClr val="dk1"/>
                </a:solidFill>
              </a:rPr>
              <a:t> (if recorded)</a:t>
            </a:r>
            <a:endParaRPr sz="1300" b="1">
              <a:solidFill>
                <a:schemeClr val="dk1"/>
              </a:solidFill>
            </a:endParaRPr>
          </a:p>
        </p:txBody>
      </p:sp>
      <p:sp>
        <p:nvSpPr>
          <p:cNvPr id="340" name="Google Shape;340;p46"/>
          <p:cNvSpPr txBox="1">
            <a:spLocks noGrp="1"/>
          </p:cNvSpPr>
          <p:nvPr>
            <p:ph type="title" idx="4294967295"/>
          </p:nvPr>
        </p:nvSpPr>
        <p:spPr>
          <a:xfrm>
            <a:off x="238825" y="1781175"/>
            <a:ext cx="1795200" cy="1367700"/>
          </a:xfrm>
          <a:prstGeom prst="rect">
            <a:avLst/>
          </a:prstGeom>
          <a:solidFill>
            <a:srgbClr val="B6D7A8"/>
          </a:solidFill>
        </p:spPr>
        <p:txBody>
          <a:bodyPr spcFirstLastPara="1" wrap="square" lIns="91425" tIns="91425" rIns="91425" bIns="91425" anchor="t" anchorCtr="0">
            <a:noAutofit/>
          </a:bodyPr>
          <a:lstStyle/>
          <a:p>
            <a:pPr marL="0" lvl="0" indent="0" algn="ctr" rtl="0">
              <a:spcBef>
                <a:spcPts val="0"/>
              </a:spcBef>
              <a:spcAft>
                <a:spcPts val="0"/>
              </a:spcAft>
              <a:buSzPts val="990"/>
              <a:buNone/>
            </a:pPr>
            <a:br>
              <a:rPr lang="en" sz="1720">
                <a:latin typeface="Manrope"/>
                <a:ea typeface="Manrope"/>
                <a:cs typeface="Manrope"/>
                <a:sym typeface="Manrope"/>
              </a:rPr>
            </a:br>
            <a:br>
              <a:rPr lang="en" sz="1720">
                <a:latin typeface="Manrope"/>
                <a:ea typeface="Manrope"/>
                <a:cs typeface="Manrope"/>
                <a:sym typeface="Manrope"/>
              </a:rPr>
            </a:br>
            <a:r>
              <a:rPr lang="en" sz="1720">
                <a:latin typeface="Manrope"/>
                <a:ea typeface="Manrope"/>
                <a:cs typeface="Manrope"/>
                <a:sym typeface="Manrope"/>
              </a:rPr>
              <a:t>Installation</a:t>
            </a:r>
            <a:endParaRPr sz="1720">
              <a:latin typeface="Manrope"/>
              <a:ea typeface="Manrope"/>
              <a:cs typeface="Manrope"/>
              <a:sym typeface="Manrope"/>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47"/>
          <p:cNvSpPr txBox="1">
            <a:spLocks noGrp="1"/>
          </p:cNvSpPr>
          <p:nvPr>
            <p:ph type="title" idx="4294967295"/>
          </p:nvPr>
        </p:nvSpPr>
        <p:spPr>
          <a:xfrm>
            <a:off x="255350" y="2085150"/>
            <a:ext cx="2310000" cy="1039200"/>
          </a:xfrm>
          <a:prstGeom prst="rect">
            <a:avLst/>
          </a:prstGeom>
          <a:solidFill>
            <a:srgbClr val="C9DAF8"/>
          </a:solidFill>
        </p:spPr>
        <p:txBody>
          <a:bodyPr spcFirstLastPara="1" wrap="square" lIns="91425" tIns="91425" rIns="91425" bIns="91425" anchor="t" anchorCtr="0">
            <a:noAutofit/>
          </a:bodyPr>
          <a:lstStyle/>
          <a:p>
            <a:pPr marL="0" lvl="0" indent="0" algn="ctr" rtl="0">
              <a:spcBef>
                <a:spcPts val="0"/>
              </a:spcBef>
              <a:spcAft>
                <a:spcPts val="0"/>
              </a:spcAft>
              <a:buSzPts val="990"/>
              <a:buNone/>
            </a:pPr>
            <a:br>
              <a:rPr lang="en" sz="1720">
                <a:latin typeface="Manrope"/>
                <a:ea typeface="Manrope"/>
                <a:cs typeface="Manrope"/>
                <a:sym typeface="Manrope"/>
              </a:rPr>
            </a:br>
            <a:r>
              <a:rPr lang="en" sz="1720">
                <a:latin typeface="Manrope"/>
                <a:ea typeface="Manrope"/>
                <a:cs typeface="Manrope"/>
                <a:sym typeface="Manrope"/>
              </a:rPr>
              <a:t>Post-Installation</a:t>
            </a:r>
            <a:endParaRPr sz="1720">
              <a:latin typeface="Manrope"/>
              <a:ea typeface="Manrope"/>
              <a:cs typeface="Manrope"/>
              <a:sym typeface="Manrope"/>
            </a:endParaRPr>
          </a:p>
        </p:txBody>
      </p:sp>
      <p:sp>
        <p:nvSpPr>
          <p:cNvPr id="346" name="Google Shape;346;p47"/>
          <p:cNvSpPr txBox="1"/>
          <p:nvPr/>
        </p:nvSpPr>
        <p:spPr>
          <a:xfrm>
            <a:off x="2857500" y="50550"/>
            <a:ext cx="6181500" cy="2295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300" b="1">
                <a:solidFill>
                  <a:schemeClr val="dk1"/>
                </a:solidFill>
              </a:rPr>
              <a:t>A. As‑built RI/CMC inventory summary</a:t>
            </a:r>
            <a:endParaRPr sz="13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b="1">
                <a:solidFill>
                  <a:schemeClr val="dk1"/>
                </a:solidFill>
              </a:rPr>
              <a:t>[REQ] TotalInstalledCount</a:t>
            </a:r>
            <a:br>
              <a:rPr lang="en" sz="1100" b="1">
                <a:solidFill>
                  <a:schemeClr val="dk1"/>
                </a:solidFill>
              </a:rPr>
            </a:br>
            <a:endParaRPr sz="1100" b="1">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[REQ] InstalledByZoneCount</a:t>
            </a:r>
            <a:br>
              <a:rPr lang="en" sz="1100" b="1">
                <a:solidFill>
                  <a:schemeClr val="dk1"/>
                </a:solidFill>
              </a:rPr>
            </a:br>
            <a:endParaRPr sz="1100" b="1">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[REQ] ExceptionsList</a:t>
            </a:r>
            <a:r>
              <a:rPr lang="en" sz="1100">
                <a:solidFill>
                  <a:schemeClr val="dk1"/>
                </a:solidFill>
              </a:rPr>
              <a:t> (IDs)</a:t>
            </a:r>
            <a:br>
              <a:rPr lang="en" sz="1100">
                <a:solidFill>
                  <a:schemeClr val="dk1"/>
                </a:solidFill>
              </a:rPr>
            </a:b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[REC] StatisticalSummaries</a:t>
            </a:r>
            <a:r>
              <a:rPr lang="en" sz="1100">
                <a:solidFill>
                  <a:schemeClr val="dk1"/>
                </a:solidFill>
              </a:rPr>
              <a:t> (depth/volume/pressure distributions)</a:t>
            </a:r>
            <a:br>
              <a:rPr lang="en" sz="1100">
                <a:solidFill>
                  <a:schemeClr val="dk1"/>
                </a:solidFill>
              </a:rPr>
            </a:b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[REC] AsBuiltSpacingCheckResults</a:t>
            </a:r>
            <a:r>
              <a:rPr lang="en" sz="1100">
                <a:solidFill>
                  <a:schemeClr val="dk1"/>
                </a:solidFill>
              </a:rPr>
              <a:t> (min/mean/max spacing; outliers)</a:t>
            </a:r>
            <a:endParaRPr sz="1300" b="1">
              <a:solidFill>
                <a:schemeClr val="dk1"/>
              </a:solidFill>
            </a:endParaRPr>
          </a:p>
        </p:txBody>
      </p:sp>
      <p:sp>
        <p:nvSpPr>
          <p:cNvPr id="347" name="Google Shape;347;p47"/>
          <p:cNvSpPr txBox="1"/>
          <p:nvPr/>
        </p:nvSpPr>
        <p:spPr>
          <a:xfrm>
            <a:off x="3095625" y="2765925"/>
            <a:ext cx="5229000" cy="1906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300" b="1">
                <a:solidFill>
                  <a:schemeClr val="dk1"/>
                </a:solidFill>
              </a:rPr>
              <a:t>B. Column head treatment and survey</a:t>
            </a:r>
            <a:endParaRPr sz="13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b="1">
                <a:solidFill>
                  <a:schemeClr val="dk1"/>
                </a:solidFill>
              </a:rPr>
              <a:t>[REQ] FinalHeadElevation</a:t>
            </a:r>
            <a:r>
              <a:rPr lang="en" sz="1100">
                <a:solidFill>
                  <a:schemeClr val="dk1"/>
                </a:solidFill>
              </a:rPr>
              <a:t> (per column or per cluster)</a:t>
            </a:r>
            <a:br>
              <a:rPr lang="en" sz="1100">
                <a:solidFill>
                  <a:schemeClr val="dk1"/>
                </a:solidFill>
              </a:rPr>
            </a:b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[REQ] PositionSurveyResult</a:t>
            </a:r>
            <a:r>
              <a:rPr lang="en" sz="1100">
                <a:solidFill>
                  <a:schemeClr val="dk1"/>
                </a:solidFill>
              </a:rPr>
              <a:t> (per column)</a:t>
            </a:r>
            <a:br>
              <a:rPr lang="en" sz="1100">
                <a:solidFill>
                  <a:schemeClr val="dk1"/>
                </a:solidFill>
              </a:rPr>
            </a:b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[REC] HeadCondition</a:t>
            </a:r>
            <a:r>
              <a:rPr lang="en" sz="1100">
                <a:solidFill>
                  <a:schemeClr val="dk1"/>
                </a:solidFill>
              </a:rPr>
              <a:t> (good / damaged / repaired)</a:t>
            </a:r>
            <a:br>
              <a:rPr lang="en" sz="1100">
                <a:solidFill>
                  <a:schemeClr val="dk1"/>
                </a:solidFill>
              </a:rPr>
            </a:b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[OPT] HeadProtectionDetails</a:t>
            </a:r>
            <a:r>
              <a:rPr lang="en" sz="1100">
                <a:solidFill>
                  <a:schemeClr val="dk1"/>
                </a:solidFill>
              </a:rPr>
              <a:t> (cap, lean concrete, etc.)</a:t>
            </a:r>
            <a:endParaRPr sz="1100">
              <a:solidFill>
                <a:schemeClr val="dk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48"/>
          <p:cNvSpPr txBox="1">
            <a:spLocks noGrp="1"/>
          </p:cNvSpPr>
          <p:nvPr>
            <p:ph type="title" idx="4294967295"/>
          </p:nvPr>
        </p:nvSpPr>
        <p:spPr>
          <a:xfrm>
            <a:off x="255350" y="2085150"/>
            <a:ext cx="2310000" cy="1039200"/>
          </a:xfrm>
          <a:prstGeom prst="rect">
            <a:avLst/>
          </a:prstGeom>
          <a:solidFill>
            <a:srgbClr val="C9DAF8"/>
          </a:solidFill>
        </p:spPr>
        <p:txBody>
          <a:bodyPr spcFirstLastPara="1" wrap="square" lIns="91425" tIns="91425" rIns="91425" bIns="91425" anchor="t" anchorCtr="0">
            <a:noAutofit/>
          </a:bodyPr>
          <a:lstStyle/>
          <a:p>
            <a:pPr marL="0" lvl="0" indent="0" algn="ctr" rtl="0">
              <a:spcBef>
                <a:spcPts val="0"/>
              </a:spcBef>
              <a:spcAft>
                <a:spcPts val="0"/>
              </a:spcAft>
              <a:buSzPts val="990"/>
              <a:buNone/>
            </a:pPr>
            <a:br>
              <a:rPr lang="en" sz="1720">
                <a:latin typeface="Manrope"/>
                <a:ea typeface="Manrope"/>
                <a:cs typeface="Manrope"/>
                <a:sym typeface="Manrope"/>
              </a:rPr>
            </a:br>
            <a:r>
              <a:rPr lang="en" sz="1720">
                <a:latin typeface="Manrope"/>
                <a:ea typeface="Manrope"/>
                <a:cs typeface="Manrope"/>
                <a:sym typeface="Manrope"/>
              </a:rPr>
              <a:t>Post-Installation</a:t>
            </a:r>
            <a:endParaRPr sz="1720">
              <a:latin typeface="Manrope"/>
              <a:ea typeface="Manrope"/>
              <a:cs typeface="Manrope"/>
              <a:sym typeface="Manrope"/>
            </a:endParaRPr>
          </a:p>
        </p:txBody>
      </p:sp>
      <p:sp>
        <p:nvSpPr>
          <p:cNvPr id="353" name="Google Shape;353;p48"/>
          <p:cNvSpPr txBox="1"/>
          <p:nvPr/>
        </p:nvSpPr>
        <p:spPr>
          <a:xfrm>
            <a:off x="2962500" y="984725"/>
            <a:ext cx="6181500" cy="2910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300" b="1">
                <a:solidFill>
                  <a:schemeClr val="dk1"/>
                </a:solidFill>
              </a:rPr>
              <a:t>C. LTP construction (as‑built + QC)</a:t>
            </a:r>
            <a:endParaRPr sz="13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b="1">
                <a:solidFill>
                  <a:schemeClr val="dk1"/>
                </a:solidFill>
              </a:rPr>
              <a:t>[REQ] LTP_AsBuiltThicknessMap</a:t>
            </a:r>
            <a:r>
              <a:rPr lang="en" sz="1100">
                <a:solidFill>
                  <a:schemeClr val="dk1"/>
                </a:solidFill>
              </a:rPr>
              <a:t> (spot checks with coordinates)</a:t>
            </a:r>
            <a:br>
              <a:rPr lang="en" sz="1100">
                <a:solidFill>
                  <a:schemeClr val="dk1"/>
                </a:solidFill>
              </a:rPr>
            </a:b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[REQ] MaterialSourceID</a:t>
            </a:r>
            <a:br>
              <a:rPr lang="en" sz="1100" b="1">
                <a:solidFill>
                  <a:schemeClr val="dk1"/>
                </a:solidFill>
              </a:rPr>
            </a:br>
            <a:endParaRPr sz="1100" b="1">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[REQ] GradationTestResults</a:t>
            </a:r>
            <a:r>
              <a:rPr lang="en" sz="1100">
                <a:solidFill>
                  <a:schemeClr val="dk1"/>
                </a:solidFill>
              </a:rPr>
              <a:t> (IDs; location/date)</a:t>
            </a:r>
            <a:br>
              <a:rPr lang="en" sz="1100">
                <a:solidFill>
                  <a:schemeClr val="dk1"/>
                </a:solidFill>
              </a:rPr>
            </a:b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[REQ] CompactionTestResults</a:t>
            </a:r>
            <a:r>
              <a:rPr lang="en" sz="1100">
                <a:solidFill>
                  <a:schemeClr val="dk1"/>
                </a:solidFill>
              </a:rPr>
              <a:t> (density/moisture; location/date)</a:t>
            </a:r>
            <a:br>
              <a:rPr lang="en" sz="1100">
                <a:solidFill>
                  <a:schemeClr val="dk1"/>
                </a:solidFill>
              </a:rPr>
            </a:b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[REC] GeosyntheticAsBuilt</a:t>
            </a:r>
            <a:r>
              <a:rPr lang="en" sz="1100">
                <a:solidFill>
                  <a:schemeClr val="dk1"/>
                </a:solidFill>
              </a:rPr>
              <a:t> (type, roll IDs, overlaps, photos reference)</a:t>
            </a:r>
            <a:br>
              <a:rPr lang="en" sz="1100">
                <a:solidFill>
                  <a:schemeClr val="dk1"/>
                </a:solidFill>
              </a:rPr>
            </a:b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[OPT] PlateLoad / ModulusTestResults</a:t>
            </a:r>
            <a:r>
              <a:rPr lang="en" sz="1100">
                <a:solidFill>
                  <a:schemeClr val="dk1"/>
                </a:solidFill>
              </a:rPr>
              <a:t> (Ev2 or equivalent)</a:t>
            </a:r>
            <a:endParaRPr sz="1100">
              <a:solidFill>
                <a:schemeClr val="dk1"/>
              </a:solidFill>
            </a:endParaRPr>
          </a:p>
          <a:p>
            <a:pPr marL="457200" lvl="0" indent="-311150" algn="l" rtl="0">
              <a:lnSpc>
                <a:spcPct val="115000"/>
              </a:lnSpc>
              <a:spcBef>
                <a:spcPts val="0"/>
              </a:spcBef>
              <a:spcAft>
                <a:spcPts val="0"/>
              </a:spcAft>
              <a:buClr>
                <a:schemeClr val="dk1"/>
              </a:buClr>
              <a:buSzPts val="1300"/>
              <a:buChar char="●"/>
            </a:pPr>
            <a:endParaRPr sz="1300" b="1">
              <a:solidFill>
                <a:schemeClr val="dk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49"/>
          <p:cNvSpPr txBox="1">
            <a:spLocks noGrp="1"/>
          </p:cNvSpPr>
          <p:nvPr>
            <p:ph type="title" idx="4294967295"/>
          </p:nvPr>
        </p:nvSpPr>
        <p:spPr>
          <a:xfrm>
            <a:off x="255350" y="2085150"/>
            <a:ext cx="2310000" cy="1039200"/>
          </a:xfrm>
          <a:prstGeom prst="rect">
            <a:avLst/>
          </a:prstGeom>
          <a:solidFill>
            <a:srgbClr val="C9DAF8"/>
          </a:solidFill>
        </p:spPr>
        <p:txBody>
          <a:bodyPr spcFirstLastPara="1" wrap="square" lIns="91425" tIns="91425" rIns="91425" bIns="91425" anchor="t" anchorCtr="0">
            <a:noAutofit/>
          </a:bodyPr>
          <a:lstStyle/>
          <a:p>
            <a:pPr marL="0" lvl="0" indent="0" algn="ctr" rtl="0">
              <a:spcBef>
                <a:spcPts val="0"/>
              </a:spcBef>
              <a:spcAft>
                <a:spcPts val="0"/>
              </a:spcAft>
              <a:buSzPts val="990"/>
              <a:buNone/>
            </a:pPr>
            <a:br>
              <a:rPr lang="en" sz="1720">
                <a:latin typeface="Manrope"/>
                <a:ea typeface="Manrope"/>
                <a:cs typeface="Manrope"/>
                <a:sym typeface="Manrope"/>
              </a:rPr>
            </a:br>
            <a:r>
              <a:rPr lang="en" sz="1720">
                <a:latin typeface="Manrope"/>
                <a:ea typeface="Manrope"/>
                <a:cs typeface="Manrope"/>
                <a:sym typeface="Manrope"/>
              </a:rPr>
              <a:t>Post-Installation</a:t>
            </a:r>
            <a:endParaRPr sz="1720">
              <a:latin typeface="Manrope"/>
              <a:ea typeface="Manrope"/>
              <a:cs typeface="Manrope"/>
              <a:sym typeface="Manrope"/>
            </a:endParaRPr>
          </a:p>
        </p:txBody>
      </p:sp>
      <p:sp>
        <p:nvSpPr>
          <p:cNvPr id="359" name="Google Shape;359;p49"/>
          <p:cNvSpPr txBox="1"/>
          <p:nvPr/>
        </p:nvSpPr>
        <p:spPr>
          <a:xfrm>
            <a:off x="2962500" y="977850"/>
            <a:ext cx="6181500" cy="3187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300" b="1">
                <a:solidFill>
                  <a:schemeClr val="dk1"/>
                </a:solidFill>
              </a:rPr>
              <a:t>D. Verification testing (columns and/or system)</a:t>
            </a:r>
            <a:endParaRPr sz="1300" b="1">
              <a:solidFill>
                <a:schemeClr val="dk1"/>
              </a:solidFill>
            </a:endParaRPr>
          </a:p>
          <a:p>
            <a:pPr marL="0" lvl="0" indent="0" algn="l" rtl="0">
              <a:lnSpc>
                <a:spcPct val="115000"/>
              </a:lnSpc>
              <a:spcBef>
                <a:spcPts val="1200"/>
              </a:spcBef>
              <a:spcAft>
                <a:spcPts val="0"/>
              </a:spcAft>
              <a:buNone/>
            </a:pPr>
            <a:r>
              <a:rPr lang="en" sz="1100">
                <a:solidFill>
                  <a:schemeClr val="dk1"/>
                </a:solidFill>
              </a:rPr>
              <a:t>You may not do all of these on every project, but the schema should support them.</a:t>
            </a:r>
            <a:endParaRPr sz="1100">
              <a:solidFill>
                <a:schemeClr val="dk1"/>
              </a:solidFill>
            </a:endParaRPr>
          </a:p>
          <a:p>
            <a:pPr marL="0" lvl="0" indent="0" algn="l" rtl="0">
              <a:lnSpc>
                <a:spcPct val="115000"/>
              </a:lnSpc>
              <a:spcBef>
                <a:spcPts val="1200"/>
              </a:spcBef>
              <a:spcAft>
                <a:spcPts val="0"/>
              </a:spcAft>
              <a:buNone/>
            </a:pPr>
            <a:r>
              <a:rPr lang="en" sz="1100" b="1">
                <a:solidFill>
                  <a:schemeClr val="dk1"/>
                </a:solidFill>
              </a:rPr>
              <a:t>Column verification</a:t>
            </a:r>
            <a:endParaRPr sz="11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b="1">
                <a:solidFill>
                  <a:schemeClr val="dk1"/>
                </a:solidFill>
              </a:rPr>
              <a:t>[REQ] VerificationTestID</a:t>
            </a:r>
            <a:br>
              <a:rPr lang="en" sz="1100" b="1">
                <a:solidFill>
                  <a:schemeClr val="dk1"/>
                </a:solidFill>
              </a:rPr>
            </a:br>
            <a:r>
              <a:rPr lang="en" sz="1100" b="1">
                <a:solidFill>
                  <a:schemeClr val="dk1"/>
                </a:solidFill>
              </a:rPr>
              <a:t>[REQ] TestType</a:t>
            </a:r>
            <a:r>
              <a:rPr lang="en" sz="1100">
                <a:solidFill>
                  <a:schemeClr val="dk1"/>
                </a:solidFill>
              </a:rPr>
              <a:t> (coring / UCS / integrity / excavation exposure / etc.)</a:t>
            </a:r>
            <a:br>
              <a:rPr lang="en" sz="1100">
                <a:solidFill>
                  <a:schemeClr val="dk1"/>
                </a:solidFill>
              </a:rPr>
            </a:br>
            <a:r>
              <a:rPr lang="en" sz="1100" b="1">
                <a:solidFill>
                  <a:schemeClr val="dk1"/>
                </a:solidFill>
              </a:rPr>
              <a:t>[REQ] AssociatedInclusionID(s)</a:t>
            </a:r>
            <a:br>
              <a:rPr lang="en" sz="1100" b="1">
                <a:solidFill>
                  <a:schemeClr val="dk1"/>
                </a:solidFill>
              </a:rPr>
            </a:br>
            <a:r>
              <a:rPr lang="en" sz="1100" b="1">
                <a:solidFill>
                  <a:schemeClr val="dk1"/>
                </a:solidFill>
              </a:rPr>
              <a:t>[REQ] TestDateTime</a:t>
            </a:r>
            <a:br>
              <a:rPr lang="en" sz="1100" b="1">
                <a:solidFill>
                  <a:schemeClr val="dk1"/>
                </a:solidFill>
              </a:rPr>
            </a:br>
            <a:r>
              <a:rPr lang="en" sz="1100" b="1">
                <a:solidFill>
                  <a:schemeClr val="dk1"/>
                </a:solidFill>
              </a:rPr>
              <a:t>[REQ] ResultSummary + PassFail</a:t>
            </a:r>
            <a:br>
              <a:rPr lang="en" sz="1100" b="1">
                <a:solidFill>
                  <a:schemeClr val="dk1"/>
                </a:solidFill>
              </a:rPr>
            </a:br>
            <a:r>
              <a:rPr lang="en" sz="1100" b="1">
                <a:solidFill>
                  <a:schemeClr val="dk1"/>
                </a:solidFill>
              </a:rPr>
              <a:t>[REC] CoreDetails</a:t>
            </a:r>
            <a:r>
              <a:rPr lang="en" sz="1100">
                <a:solidFill>
                  <a:schemeClr val="dk1"/>
                </a:solidFill>
              </a:rPr>
              <a:t> (if coring):</a:t>
            </a:r>
            <a:br>
              <a:rPr lang="en" sz="1100">
                <a:solidFill>
                  <a:schemeClr val="dk1"/>
                </a:solidFill>
              </a:rPr>
            </a:br>
            <a:r>
              <a:rPr lang="en" sz="1100">
                <a:solidFill>
                  <a:schemeClr val="dk1"/>
                </a:solidFill>
              </a:rPr>
              <a:t>core length, recovery %, observed defects</a:t>
            </a:r>
            <a:br>
              <a:rPr lang="en" sz="1100">
                <a:solidFill>
                  <a:schemeClr val="dk1"/>
                </a:solidFill>
              </a:rPr>
            </a:br>
            <a:r>
              <a:rPr lang="en" sz="1100">
                <a:solidFill>
                  <a:schemeClr val="dk1"/>
                </a:solidFill>
              </a:rPr>
              <a:t>measured diameter</a:t>
            </a:r>
            <a:br>
              <a:rPr lang="en" sz="1100">
                <a:solidFill>
                  <a:schemeClr val="dk1"/>
                </a:solidFill>
              </a:rPr>
            </a:br>
            <a:r>
              <a:rPr lang="en" sz="1100">
                <a:solidFill>
                  <a:schemeClr val="dk1"/>
                </a:solidFill>
              </a:rPr>
              <a:t>UCS results (MPa) + specimen metadata</a:t>
            </a:r>
            <a:br>
              <a:rPr lang="en" sz="1100">
                <a:solidFill>
                  <a:schemeClr val="dk1"/>
                </a:solidFill>
              </a:rPr>
            </a:br>
            <a:r>
              <a:rPr lang="en" sz="1100" b="1">
                <a:solidFill>
                  <a:schemeClr val="dk1"/>
                </a:solidFill>
              </a:rPr>
              <a:t>[OPT] IntegrityMethodDetails</a:t>
            </a:r>
            <a:r>
              <a:rPr lang="en" sz="1100">
                <a:solidFill>
                  <a:schemeClr val="dk1"/>
                </a:solidFill>
              </a:rPr>
              <a:t> (if used; method‑specific fields)</a:t>
            </a:r>
            <a:endParaRPr sz="1300" b="1">
              <a:solidFill>
                <a:schemeClr val="dk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50"/>
          <p:cNvSpPr txBox="1">
            <a:spLocks noGrp="1"/>
          </p:cNvSpPr>
          <p:nvPr>
            <p:ph type="title" idx="4294967295"/>
          </p:nvPr>
        </p:nvSpPr>
        <p:spPr>
          <a:xfrm>
            <a:off x="255350" y="2085150"/>
            <a:ext cx="2310000" cy="1039200"/>
          </a:xfrm>
          <a:prstGeom prst="rect">
            <a:avLst/>
          </a:prstGeom>
          <a:solidFill>
            <a:srgbClr val="C9DAF8"/>
          </a:solidFill>
        </p:spPr>
        <p:txBody>
          <a:bodyPr spcFirstLastPara="1" wrap="square" lIns="91425" tIns="91425" rIns="91425" bIns="91425" anchor="t" anchorCtr="0">
            <a:noAutofit/>
          </a:bodyPr>
          <a:lstStyle/>
          <a:p>
            <a:pPr marL="0" lvl="0" indent="0" algn="ctr" rtl="0">
              <a:spcBef>
                <a:spcPts val="0"/>
              </a:spcBef>
              <a:spcAft>
                <a:spcPts val="0"/>
              </a:spcAft>
              <a:buSzPts val="990"/>
              <a:buNone/>
            </a:pPr>
            <a:br>
              <a:rPr lang="en" sz="1720">
                <a:latin typeface="Manrope"/>
                <a:ea typeface="Manrope"/>
                <a:cs typeface="Manrope"/>
                <a:sym typeface="Manrope"/>
              </a:rPr>
            </a:br>
            <a:r>
              <a:rPr lang="en" sz="1720">
                <a:latin typeface="Manrope"/>
                <a:ea typeface="Manrope"/>
                <a:cs typeface="Manrope"/>
                <a:sym typeface="Manrope"/>
              </a:rPr>
              <a:t>Post-Installation</a:t>
            </a:r>
            <a:endParaRPr sz="1720">
              <a:latin typeface="Manrope"/>
              <a:ea typeface="Manrope"/>
              <a:cs typeface="Manrope"/>
              <a:sym typeface="Manrope"/>
            </a:endParaRPr>
          </a:p>
        </p:txBody>
      </p:sp>
      <p:sp>
        <p:nvSpPr>
          <p:cNvPr id="365" name="Google Shape;365;p50"/>
          <p:cNvSpPr txBox="1"/>
          <p:nvPr/>
        </p:nvSpPr>
        <p:spPr>
          <a:xfrm>
            <a:off x="2962500" y="977850"/>
            <a:ext cx="6181500" cy="3033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300" b="1">
                <a:solidFill>
                  <a:schemeClr val="dk1"/>
                </a:solidFill>
              </a:rPr>
              <a:t>D. Verification testing (columns and/or system)</a:t>
            </a:r>
            <a:endParaRPr sz="1300" b="1">
              <a:solidFill>
                <a:schemeClr val="dk1"/>
              </a:solidFill>
            </a:endParaRPr>
          </a:p>
          <a:p>
            <a:pPr marL="0" lvl="0" indent="0" algn="l" rtl="0">
              <a:lnSpc>
                <a:spcPct val="115000"/>
              </a:lnSpc>
              <a:spcBef>
                <a:spcPts val="1200"/>
              </a:spcBef>
              <a:spcAft>
                <a:spcPts val="0"/>
              </a:spcAft>
              <a:buNone/>
            </a:pPr>
            <a:r>
              <a:rPr lang="en" sz="1100" b="1">
                <a:solidFill>
                  <a:schemeClr val="dk1"/>
                </a:solidFill>
              </a:rPr>
              <a:t>Load testing (if required)</a:t>
            </a:r>
            <a:endParaRPr sz="11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b="1">
                <a:solidFill>
                  <a:schemeClr val="dk1"/>
                </a:solidFill>
              </a:rPr>
              <a:t>[REQ] LoadTestID</a:t>
            </a:r>
            <a:br>
              <a:rPr lang="en" sz="1100" b="1">
                <a:solidFill>
                  <a:schemeClr val="dk1"/>
                </a:solidFill>
              </a:rPr>
            </a:br>
            <a:endParaRPr sz="1100" b="1">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[REQ] TestType</a:t>
            </a:r>
            <a:r>
              <a:rPr lang="en" sz="1100">
                <a:solidFill>
                  <a:schemeClr val="dk1"/>
                </a:solidFill>
              </a:rPr>
              <a:t> (single inclusion / group / zone / plate)</a:t>
            </a:r>
            <a:br>
              <a:rPr lang="en" sz="1100">
                <a:solidFill>
                  <a:schemeClr val="dk1"/>
                </a:solidFill>
              </a:rPr>
            </a:b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[REQ] LoadSteps</a:t>
            </a:r>
            <a:r>
              <a:rPr lang="en" sz="1100">
                <a:solidFill>
                  <a:schemeClr val="dk1"/>
                </a:solidFill>
              </a:rPr>
              <a:t> (kN) + hold times</a:t>
            </a:r>
            <a:br>
              <a:rPr lang="en" sz="1100">
                <a:solidFill>
                  <a:schemeClr val="dk1"/>
                </a:solidFill>
              </a:rPr>
            </a:b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[REQ] SettlementMeasurements</a:t>
            </a:r>
            <a:r>
              <a:rPr lang="en" sz="1100">
                <a:solidFill>
                  <a:schemeClr val="dk1"/>
                </a:solidFill>
              </a:rPr>
              <a:t> (mm vs time/load)</a:t>
            </a:r>
            <a:br>
              <a:rPr lang="en" sz="1100">
                <a:solidFill>
                  <a:schemeClr val="dk1"/>
                </a:solidFill>
              </a:rPr>
            </a:b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[REQ] AcceptanceCriteriaReference</a:t>
            </a:r>
            <a:br>
              <a:rPr lang="en" sz="1100" b="1">
                <a:solidFill>
                  <a:schemeClr val="dk1"/>
                </a:solidFill>
              </a:rPr>
            </a:br>
            <a:endParaRPr sz="1100" b="1">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[REC] InterpretedStiffness/Capacity</a:t>
            </a:r>
            <a:r>
              <a:rPr lang="en" sz="1100">
                <a:solidFill>
                  <a:schemeClr val="dk1"/>
                </a:solidFill>
              </a:rPr>
              <a:t> (project-defined)</a:t>
            </a:r>
            <a:endParaRPr sz="1100">
              <a:solidFill>
                <a:schemeClr val="dk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51"/>
          <p:cNvSpPr txBox="1">
            <a:spLocks noGrp="1"/>
          </p:cNvSpPr>
          <p:nvPr>
            <p:ph type="title" idx="4294967295"/>
          </p:nvPr>
        </p:nvSpPr>
        <p:spPr>
          <a:xfrm>
            <a:off x="255350" y="2085150"/>
            <a:ext cx="2310000" cy="1039200"/>
          </a:xfrm>
          <a:prstGeom prst="rect">
            <a:avLst/>
          </a:prstGeom>
          <a:solidFill>
            <a:srgbClr val="C9DAF8"/>
          </a:solidFill>
        </p:spPr>
        <p:txBody>
          <a:bodyPr spcFirstLastPara="1" wrap="square" lIns="91425" tIns="91425" rIns="91425" bIns="91425" anchor="t" anchorCtr="0">
            <a:noAutofit/>
          </a:bodyPr>
          <a:lstStyle/>
          <a:p>
            <a:pPr marL="0" lvl="0" indent="0" algn="ctr" rtl="0">
              <a:spcBef>
                <a:spcPts val="0"/>
              </a:spcBef>
              <a:spcAft>
                <a:spcPts val="0"/>
              </a:spcAft>
              <a:buSzPts val="990"/>
              <a:buNone/>
            </a:pPr>
            <a:br>
              <a:rPr lang="en" sz="1720">
                <a:latin typeface="Manrope"/>
                <a:ea typeface="Manrope"/>
                <a:cs typeface="Manrope"/>
                <a:sym typeface="Manrope"/>
              </a:rPr>
            </a:br>
            <a:r>
              <a:rPr lang="en" sz="1720">
                <a:latin typeface="Manrope"/>
                <a:ea typeface="Manrope"/>
                <a:cs typeface="Manrope"/>
                <a:sym typeface="Manrope"/>
              </a:rPr>
              <a:t>Post-Installation</a:t>
            </a:r>
            <a:endParaRPr sz="1720">
              <a:latin typeface="Manrope"/>
              <a:ea typeface="Manrope"/>
              <a:cs typeface="Manrope"/>
              <a:sym typeface="Manrope"/>
            </a:endParaRPr>
          </a:p>
        </p:txBody>
      </p:sp>
      <p:sp>
        <p:nvSpPr>
          <p:cNvPr id="371" name="Google Shape;371;p51"/>
          <p:cNvSpPr txBox="1"/>
          <p:nvPr/>
        </p:nvSpPr>
        <p:spPr>
          <a:xfrm>
            <a:off x="2962500" y="574875"/>
            <a:ext cx="6181500" cy="3689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300" b="1">
                <a:solidFill>
                  <a:schemeClr val="dk1"/>
                </a:solidFill>
              </a:rPr>
              <a:t>E. Performance monitoring time‑series (if instrumentation exists)</a:t>
            </a:r>
            <a:endParaRPr sz="13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b="1">
                <a:solidFill>
                  <a:schemeClr val="dk1"/>
                </a:solidFill>
              </a:rPr>
              <a:t>[REQ] InstrumentID</a:t>
            </a:r>
            <a:r>
              <a:rPr lang="en" sz="1100">
                <a:solidFill>
                  <a:schemeClr val="dk1"/>
                </a:solidFill>
              </a:rPr>
              <a:t> (settlement plate, extensometer, piezometer, inclinometer)</a:t>
            </a:r>
            <a:br>
              <a:rPr lang="en" sz="1100">
                <a:solidFill>
                  <a:schemeClr val="dk1"/>
                </a:solidFill>
              </a:rPr>
            </a:b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[REQ] InstrumentType</a:t>
            </a:r>
            <a:br>
              <a:rPr lang="en" sz="1100" b="1">
                <a:solidFill>
                  <a:schemeClr val="dk1"/>
                </a:solidFill>
              </a:rPr>
            </a:br>
            <a:endParaRPr sz="1100" b="1">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[REQ] Location (X,Y,Z)</a:t>
            </a:r>
            <a:br>
              <a:rPr lang="en" sz="1100" b="1">
                <a:solidFill>
                  <a:schemeClr val="dk1"/>
                </a:solidFill>
              </a:rPr>
            </a:br>
            <a:endParaRPr sz="1100" b="1">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[REQ] ReadingDateTime</a:t>
            </a:r>
            <a:br>
              <a:rPr lang="en" sz="1100" b="1">
                <a:solidFill>
                  <a:schemeClr val="dk1"/>
                </a:solidFill>
              </a:rPr>
            </a:br>
            <a:endParaRPr sz="1100" b="1">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[REQ] ReadingValue + Units</a:t>
            </a:r>
            <a:br>
              <a:rPr lang="en" sz="1100" b="1">
                <a:solidFill>
                  <a:schemeClr val="dk1"/>
                </a:solidFill>
              </a:rPr>
            </a:br>
            <a:endParaRPr sz="1100" b="1">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[REC] TriggerLevels</a:t>
            </a:r>
            <a:r>
              <a:rPr lang="en" sz="1100">
                <a:solidFill>
                  <a:schemeClr val="dk1"/>
                </a:solidFill>
              </a:rPr>
              <a:t> (alert/action thresholds)</a:t>
            </a:r>
            <a:br>
              <a:rPr lang="en" sz="1100">
                <a:solidFill>
                  <a:schemeClr val="dk1"/>
                </a:solidFill>
              </a:rPr>
            </a:b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[REC] EventsLog</a:t>
            </a:r>
            <a:r>
              <a:rPr lang="en" sz="1100">
                <a:solidFill>
                  <a:schemeClr val="dk1"/>
                </a:solidFill>
              </a:rPr>
              <a:t> (construction stage, embankment lift height, loading milestones)</a:t>
            </a:r>
            <a:br>
              <a:rPr lang="en" sz="1100">
                <a:solidFill>
                  <a:schemeClr val="dk1"/>
                </a:solidFill>
              </a:rPr>
            </a:b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[OPT] AutomatedDataFeedMetadata</a:t>
            </a:r>
            <a:r>
              <a:rPr lang="en" sz="1100">
                <a:solidFill>
                  <a:schemeClr val="dk1"/>
                </a:solidFill>
              </a:rPr>
              <a:t> (if IoT)</a:t>
            </a:r>
            <a:endParaRPr sz="1100">
              <a:solidFill>
                <a:schemeClr val="dk1"/>
              </a:solidFill>
            </a:endParaRPr>
          </a:p>
          <a:p>
            <a:pPr marL="457200" lvl="0" indent="-311150" algn="l" rtl="0">
              <a:lnSpc>
                <a:spcPct val="115000"/>
              </a:lnSpc>
              <a:spcBef>
                <a:spcPts val="0"/>
              </a:spcBef>
              <a:spcAft>
                <a:spcPts val="0"/>
              </a:spcAft>
              <a:buClr>
                <a:schemeClr val="dk1"/>
              </a:buClr>
              <a:buSzPts val="1300"/>
              <a:buChar char="●"/>
            </a:pPr>
            <a:endParaRPr sz="1300" b="1">
              <a:solidFill>
                <a:schemeClr val="dk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52"/>
          <p:cNvSpPr txBox="1">
            <a:spLocks noGrp="1"/>
          </p:cNvSpPr>
          <p:nvPr>
            <p:ph type="title" idx="4294967295"/>
          </p:nvPr>
        </p:nvSpPr>
        <p:spPr>
          <a:xfrm>
            <a:off x="255350" y="2085150"/>
            <a:ext cx="2310000" cy="1039200"/>
          </a:xfrm>
          <a:prstGeom prst="rect">
            <a:avLst/>
          </a:prstGeom>
          <a:solidFill>
            <a:srgbClr val="C9DAF8"/>
          </a:solidFill>
        </p:spPr>
        <p:txBody>
          <a:bodyPr spcFirstLastPara="1" wrap="square" lIns="91425" tIns="91425" rIns="91425" bIns="91425" anchor="t" anchorCtr="0">
            <a:noAutofit/>
          </a:bodyPr>
          <a:lstStyle/>
          <a:p>
            <a:pPr marL="0" lvl="0" indent="0" algn="ctr" rtl="0">
              <a:spcBef>
                <a:spcPts val="0"/>
              </a:spcBef>
              <a:spcAft>
                <a:spcPts val="0"/>
              </a:spcAft>
              <a:buSzPts val="990"/>
              <a:buNone/>
            </a:pPr>
            <a:br>
              <a:rPr lang="en" sz="1720">
                <a:latin typeface="Manrope"/>
                <a:ea typeface="Manrope"/>
                <a:cs typeface="Manrope"/>
                <a:sym typeface="Manrope"/>
              </a:rPr>
            </a:br>
            <a:r>
              <a:rPr lang="en" sz="1720">
                <a:latin typeface="Manrope"/>
                <a:ea typeface="Manrope"/>
                <a:cs typeface="Manrope"/>
                <a:sym typeface="Manrope"/>
              </a:rPr>
              <a:t>Post-Installation</a:t>
            </a:r>
            <a:endParaRPr sz="1720">
              <a:latin typeface="Manrope"/>
              <a:ea typeface="Manrope"/>
              <a:cs typeface="Manrope"/>
              <a:sym typeface="Manrope"/>
            </a:endParaRPr>
          </a:p>
        </p:txBody>
      </p:sp>
      <p:sp>
        <p:nvSpPr>
          <p:cNvPr id="377" name="Google Shape;377;p52"/>
          <p:cNvSpPr txBox="1"/>
          <p:nvPr/>
        </p:nvSpPr>
        <p:spPr>
          <a:xfrm>
            <a:off x="3054075" y="1106075"/>
            <a:ext cx="6181500" cy="2521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300" b="1">
                <a:solidFill>
                  <a:schemeClr val="dk1"/>
                </a:solidFill>
              </a:rPr>
              <a:t>F. Remediation / rework records</a:t>
            </a:r>
            <a:endParaRPr sz="13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b="1">
                <a:solidFill>
                  <a:schemeClr val="dk1"/>
                </a:solidFill>
              </a:rPr>
              <a:t>[REQ] RemediationActionID</a:t>
            </a:r>
            <a:br>
              <a:rPr lang="en" sz="1100" b="1">
                <a:solidFill>
                  <a:schemeClr val="dk1"/>
                </a:solidFill>
              </a:rPr>
            </a:br>
            <a:endParaRPr sz="1100" b="1">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[REQ] Trigger</a:t>
            </a:r>
            <a:r>
              <a:rPr lang="en" sz="1100">
                <a:solidFill>
                  <a:schemeClr val="dk1"/>
                </a:solidFill>
              </a:rPr>
              <a:t> (why remediation was required)</a:t>
            </a:r>
            <a:br>
              <a:rPr lang="en" sz="1100">
                <a:solidFill>
                  <a:schemeClr val="dk1"/>
                </a:solidFill>
              </a:rPr>
            </a:b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[REQ] ActionType</a:t>
            </a:r>
            <a:r>
              <a:rPr lang="en" sz="1100">
                <a:solidFill>
                  <a:schemeClr val="dk1"/>
                </a:solidFill>
              </a:rPr>
              <a:t> (additional column / replacement / local redesign / etc.)</a:t>
            </a:r>
            <a:br>
              <a:rPr lang="en" sz="1100">
                <a:solidFill>
                  <a:schemeClr val="dk1"/>
                </a:solidFill>
              </a:rPr>
            </a:b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[REQ] LinkedInclusionIDs</a:t>
            </a:r>
            <a:br>
              <a:rPr lang="en" sz="1100" b="1">
                <a:solidFill>
                  <a:schemeClr val="dk1"/>
                </a:solidFill>
              </a:rPr>
            </a:br>
            <a:endParaRPr sz="1100" b="1">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[REQ] VerificationAfterRemediation</a:t>
            </a:r>
            <a:r>
              <a:rPr lang="en" sz="1100">
                <a:solidFill>
                  <a:schemeClr val="dk1"/>
                </a:solidFill>
              </a:rPr>
              <a:t> (test ID + pass/fail)</a:t>
            </a:r>
            <a:endParaRPr sz="1100">
              <a:solidFill>
                <a:schemeClr val="dk1"/>
              </a:solidFill>
            </a:endParaRPr>
          </a:p>
          <a:p>
            <a:pPr marL="457200" lvl="0" indent="-311150" algn="l" rtl="0">
              <a:lnSpc>
                <a:spcPct val="115000"/>
              </a:lnSpc>
              <a:spcBef>
                <a:spcPts val="0"/>
              </a:spcBef>
              <a:spcAft>
                <a:spcPts val="0"/>
              </a:spcAft>
              <a:buClr>
                <a:schemeClr val="dk1"/>
              </a:buClr>
              <a:buSzPts val="1300"/>
              <a:buChar char="●"/>
            </a:pPr>
            <a:endParaRPr sz="1300" b="1">
              <a:solidFill>
                <a:schemeClr val="dk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53"/>
          <p:cNvSpPr txBox="1">
            <a:spLocks noGrp="1"/>
          </p:cNvSpPr>
          <p:nvPr>
            <p:ph type="title" idx="4294967295"/>
          </p:nvPr>
        </p:nvSpPr>
        <p:spPr>
          <a:xfrm>
            <a:off x="255350" y="2085150"/>
            <a:ext cx="2310000" cy="1039200"/>
          </a:xfrm>
          <a:prstGeom prst="rect">
            <a:avLst/>
          </a:prstGeom>
          <a:solidFill>
            <a:srgbClr val="C9DAF8"/>
          </a:solidFill>
        </p:spPr>
        <p:txBody>
          <a:bodyPr spcFirstLastPara="1" wrap="square" lIns="91425" tIns="91425" rIns="91425" bIns="91425" anchor="t" anchorCtr="0">
            <a:noAutofit/>
          </a:bodyPr>
          <a:lstStyle/>
          <a:p>
            <a:pPr marL="0" lvl="0" indent="0" algn="ctr" rtl="0">
              <a:spcBef>
                <a:spcPts val="0"/>
              </a:spcBef>
              <a:spcAft>
                <a:spcPts val="0"/>
              </a:spcAft>
              <a:buSzPts val="990"/>
              <a:buNone/>
            </a:pPr>
            <a:br>
              <a:rPr lang="en" sz="1720">
                <a:latin typeface="Manrope"/>
                <a:ea typeface="Manrope"/>
                <a:cs typeface="Manrope"/>
                <a:sym typeface="Manrope"/>
              </a:rPr>
            </a:br>
            <a:r>
              <a:rPr lang="en" sz="1720">
                <a:latin typeface="Manrope"/>
                <a:ea typeface="Manrope"/>
                <a:cs typeface="Manrope"/>
                <a:sym typeface="Manrope"/>
              </a:rPr>
              <a:t>Post-Installation</a:t>
            </a:r>
            <a:endParaRPr sz="1720">
              <a:latin typeface="Manrope"/>
              <a:ea typeface="Manrope"/>
              <a:cs typeface="Manrope"/>
              <a:sym typeface="Manrope"/>
            </a:endParaRPr>
          </a:p>
        </p:txBody>
      </p:sp>
      <p:sp>
        <p:nvSpPr>
          <p:cNvPr id="383" name="Google Shape;383;p53"/>
          <p:cNvSpPr txBox="1"/>
          <p:nvPr/>
        </p:nvSpPr>
        <p:spPr>
          <a:xfrm>
            <a:off x="3054075" y="1106075"/>
            <a:ext cx="6181500" cy="2131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300" b="1">
                <a:solidFill>
                  <a:schemeClr val="dk1"/>
                </a:solidFill>
              </a:rPr>
              <a:t>G. Final acceptance package fields</a:t>
            </a:r>
            <a:endParaRPr sz="13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b="1">
                <a:solidFill>
                  <a:schemeClr val="dk1"/>
                </a:solidFill>
              </a:rPr>
              <a:t>[REQ] AcceptanceDate</a:t>
            </a:r>
            <a:br>
              <a:rPr lang="en" sz="1100" b="1">
                <a:solidFill>
                  <a:schemeClr val="dk1"/>
                </a:solidFill>
              </a:rPr>
            </a:br>
            <a:endParaRPr sz="1100" b="1">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[REQ] AcceptanceAuthority</a:t>
            </a:r>
            <a:r>
              <a:rPr lang="en" sz="1100">
                <a:solidFill>
                  <a:schemeClr val="dk1"/>
                </a:solidFill>
              </a:rPr>
              <a:t> (name/role)</a:t>
            </a:r>
            <a:br>
              <a:rPr lang="en" sz="1100">
                <a:solidFill>
                  <a:schemeClr val="dk1"/>
                </a:solidFill>
              </a:rPr>
            </a:b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[REQ] ComplianceStatement</a:t>
            </a:r>
            <a:r>
              <a:rPr lang="en" sz="1100">
                <a:solidFill>
                  <a:schemeClr val="dk1"/>
                </a:solidFill>
              </a:rPr>
              <a:t> (met all criteria / exceptions accepted)</a:t>
            </a:r>
            <a:br>
              <a:rPr lang="en" sz="1100">
                <a:solidFill>
                  <a:schemeClr val="dk1"/>
                </a:solidFill>
              </a:rPr>
            </a:b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[REQ] FinalAsBuiltDatasetReference</a:t>
            </a:r>
            <a:r>
              <a:rPr lang="en" sz="1100">
                <a:solidFill>
                  <a:schemeClr val="dk1"/>
                </a:solidFill>
              </a:rPr>
              <a:t> (file set ID / repository tag)</a:t>
            </a:r>
            <a:endParaRPr sz="1100">
              <a:solidFill>
                <a:schemeClr val="dk1"/>
              </a:solidFill>
            </a:endParaRPr>
          </a:p>
          <a:p>
            <a:pPr marL="457200" lvl="0" indent="-311150" algn="l" rtl="0">
              <a:lnSpc>
                <a:spcPct val="115000"/>
              </a:lnSpc>
              <a:spcBef>
                <a:spcPts val="0"/>
              </a:spcBef>
              <a:spcAft>
                <a:spcPts val="0"/>
              </a:spcAft>
              <a:buClr>
                <a:schemeClr val="dk1"/>
              </a:buClr>
              <a:buSzPts val="1300"/>
              <a:buChar char="●"/>
            </a:pPr>
            <a:endParaRPr sz="1300" b="1">
              <a:solidFill>
                <a:schemeClr val="dk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pic>
        <p:nvPicPr>
          <p:cNvPr id="266" name="Google Shape;266;p34"/>
          <p:cNvPicPr preferRelativeResize="0"/>
          <p:nvPr/>
        </p:nvPicPr>
        <p:blipFill>
          <a:blip r:embed="rId3">
            <a:alphaModFix/>
          </a:blip>
          <a:stretch>
            <a:fillRect/>
          </a:stretch>
        </p:blipFill>
        <p:spPr>
          <a:xfrm>
            <a:off x="795735" y="0"/>
            <a:ext cx="7337515" cy="51435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54"/>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t>Thank You</a:t>
            </a:r>
            <a:endParaRPr/>
          </a:p>
        </p:txBody>
      </p:sp>
      <p:sp>
        <p:nvSpPr>
          <p:cNvPr id="389" name="Google Shape;389;p54"/>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t>Mohamed Ezzat</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42</Slides>
  <Notes>42</Notes>
  <HiddenSlides>0</HiddenSlides>
  <ScaleCrop>false</ScaleCrop>
  <HeadingPairs>
    <vt:vector size="4" baseType="variant">
      <vt:variant>
        <vt:lpstr>Theme</vt:lpstr>
      </vt:variant>
      <vt:variant>
        <vt:i4>1</vt:i4>
      </vt:variant>
      <vt:variant>
        <vt:lpstr>Slide Titles</vt:lpstr>
      </vt:variant>
      <vt:variant>
        <vt:i4>42</vt:i4>
      </vt:variant>
    </vt:vector>
  </HeadingPairs>
  <TitlesOfParts>
    <vt:vector size="43" baseType="lpstr">
      <vt:lpstr>Simple Light</vt:lpstr>
      <vt:lpstr>Standardizing Rigid Inclusion Soil Improvement Data  with DIGGS</vt:lpstr>
      <vt:lpstr>Pre-Installation Phase   </vt:lpstr>
      <vt:lpstr>Stage 1: Site Investigation Planning</vt:lpstr>
      <vt:lpstr>Stage 2: Field Site Investigation Execution</vt:lpstr>
      <vt:lpstr>Stage 3: Laboratory Testing and Soil Characterization</vt:lpstr>
      <vt:lpstr>Stage 5: Feasibility and Selection of CMC/RI as the Ground Improvement Solution</vt:lpstr>
      <vt:lpstr>Stage 6: Define Design Basis and Acceptance Criteria</vt:lpstr>
      <vt:lpstr>Stage 7: Detailed CMC/RI System Design (Owner/Engineer Design or Design-Assist) </vt:lpstr>
      <vt:lpstr>Stage 8: Contractor Procurement and Method Statement Approval </vt:lpstr>
      <vt:lpstr>B. Installation Phase   </vt:lpstr>
      <vt:lpstr>Stage 9: Pre-Construction Site Preparation and Controls</vt:lpstr>
      <vt:lpstr>Stage 10: Trial Section / Test Columns (Optional)</vt:lpstr>
      <vt:lpstr>Stage 11: Production CMC Installation (Main Construction)</vt:lpstr>
      <vt:lpstr>Stage 11: Production CMC Installation (Main Construction)</vt:lpstr>
      <vt:lpstr>Stage 12: Column Head Treatment (Caps) and Platform Interface Works</vt:lpstr>
      <vt:lpstr>Stage 13: Load Transfer Platform (LTP) Construction</vt:lpstr>
      <vt:lpstr>C. Post-Installation </vt:lpstr>
      <vt:lpstr>Stage 14: Verification Testing Program</vt:lpstr>
      <vt:lpstr>Stage 15: Performance Monitoring and Final Acceptance </vt:lpstr>
      <vt:lpstr>Stage 16: Closeout and Handover </vt:lpstr>
      <vt:lpstr>Summary of the Parameters for DIGGS  </vt:lpstr>
      <vt:lpstr>PowerPoint Presentation</vt:lpstr>
      <vt:lpstr>  Pre-Installation</vt:lpstr>
      <vt:lpstr>  Pre-Installation</vt:lpstr>
      <vt:lpstr>  Pre-Installation</vt:lpstr>
      <vt:lpstr>  Pre-Installation</vt:lpstr>
      <vt:lpstr>  Pre-Installation</vt:lpstr>
      <vt:lpstr>  Pre-Installation</vt:lpstr>
      <vt:lpstr>  Installation</vt:lpstr>
      <vt:lpstr>  Installation</vt:lpstr>
      <vt:lpstr>  Installation</vt:lpstr>
      <vt:lpstr>  Installation</vt:lpstr>
      <vt:lpstr>  Installation</vt:lpstr>
      <vt:lpstr> Post-Installation</vt:lpstr>
      <vt:lpstr> Post-Installation</vt:lpstr>
      <vt:lpstr> Post-Installation</vt:lpstr>
      <vt:lpstr> Post-Installation</vt:lpstr>
      <vt:lpstr> Post-Installation</vt:lpstr>
      <vt:lpstr> Post-Installation</vt:lpstr>
      <vt:lpstr> Post-Installation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2</cp:revision>
  <dcterms:modified xsi:type="dcterms:W3CDTF">2026-03-27T09:35:47Z</dcterms:modified>
</cp:coreProperties>
</file>