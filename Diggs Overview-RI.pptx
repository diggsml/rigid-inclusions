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2" r:id="rId1"/>
  </p:sldMasterIdLst>
  <p:notesMasterIdLst>
    <p:notesMasterId r:id="rId47"/>
  </p:notesMasterIdLst>
  <p:sldIdLst>
    <p:sldId id="256" r:id="rId2"/>
    <p:sldId id="285" r:id="rId3"/>
    <p:sldId id="278" r:id="rId4"/>
    <p:sldId id="349" r:id="rId5"/>
    <p:sldId id="279" r:id="rId6"/>
    <p:sldId id="280" r:id="rId7"/>
    <p:sldId id="319" r:id="rId8"/>
    <p:sldId id="363" r:id="rId9"/>
    <p:sldId id="364" r:id="rId10"/>
    <p:sldId id="362" r:id="rId11"/>
    <p:sldId id="365" r:id="rId12"/>
    <p:sldId id="366" r:id="rId13"/>
    <p:sldId id="390" r:id="rId14"/>
    <p:sldId id="392" r:id="rId15"/>
    <p:sldId id="393" r:id="rId16"/>
    <p:sldId id="374" r:id="rId17"/>
    <p:sldId id="375" r:id="rId18"/>
    <p:sldId id="376" r:id="rId19"/>
    <p:sldId id="377" r:id="rId20"/>
    <p:sldId id="356" r:id="rId21"/>
    <p:sldId id="357" r:id="rId22"/>
    <p:sldId id="415" r:id="rId23"/>
    <p:sldId id="417" r:id="rId24"/>
    <p:sldId id="418" r:id="rId25"/>
    <p:sldId id="419" r:id="rId26"/>
    <p:sldId id="414" r:id="rId27"/>
    <p:sldId id="396" r:id="rId28"/>
    <p:sldId id="407" r:id="rId29"/>
    <p:sldId id="408" r:id="rId30"/>
    <p:sldId id="410" r:id="rId31"/>
    <p:sldId id="380" r:id="rId32"/>
    <p:sldId id="409" r:id="rId33"/>
    <p:sldId id="329" r:id="rId34"/>
    <p:sldId id="411" r:id="rId35"/>
    <p:sldId id="384" r:id="rId36"/>
    <p:sldId id="421" r:id="rId37"/>
    <p:sldId id="412" r:id="rId38"/>
    <p:sldId id="420" r:id="rId39"/>
    <p:sldId id="423" r:id="rId40"/>
    <p:sldId id="413" r:id="rId41"/>
    <p:sldId id="422" r:id="rId42"/>
    <p:sldId id="424" r:id="rId43"/>
    <p:sldId id="387" r:id="rId44"/>
    <p:sldId id="394" r:id="rId45"/>
    <p:sldId id="395" r:id="rId46"/>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49"/>
    <p:restoredTop sz="85004"/>
  </p:normalViewPr>
  <p:slideViewPr>
    <p:cSldViewPr snapToGrid="0">
      <p:cViewPr>
        <p:scale>
          <a:sx n="170" d="100"/>
          <a:sy n="170" d="100"/>
        </p:scale>
        <p:origin x="1424" y="464"/>
      </p:cViewPr>
      <p:guideLst>
        <p:guide orient="horz" pos="2160"/>
        <p:guide pos="2880"/>
      </p:guideLst>
    </p:cSldViewPr>
  </p:slideViewPr>
  <p:notesTextViewPr>
    <p:cViewPr>
      <p:scale>
        <a:sx n="100" d="100"/>
        <a:sy n="100" d="100"/>
      </p:scale>
      <p:origin x="0" y="0"/>
    </p:cViewPr>
  </p:notesTextViewPr>
  <p:sorterViewPr>
    <p:cViewPr>
      <p:scale>
        <a:sx n="71" d="100"/>
        <a:sy n="7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a:defRPr sz="1300">
                <a:ea typeface="+mn-ea"/>
                <a:cs typeface="+mn-cs"/>
              </a:defRPr>
            </a:lvl1pPr>
          </a:lstStyle>
          <a:p>
            <a:pPr>
              <a:defRPr/>
            </a:pPr>
            <a:endParaRPr lang="en-US"/>
          </a:p>
        </p:txBody>
      </p:sp>
      <p:sp>
        <p:nvSpPr>
          <p:cNvPr id="3" name="Date Placeholder 2"/>
          <p:cNvSpPr>
            <a:spLocks noGrp="1"/>
          </p:cNvSpPr>
          <p:nvPr>
            <p:ph type="dt" idx="1"/>
          </p:nvPr>
        </p:nvSpPr>
        <p:spPr>
          <a:xfrm>
            <a:off x="4143375" y="0"/>
            <a:ext cx="3170238" cy="479425"/>
          </a:xfrm>
          <a:prstGeom prst="rect">
            <a:avLst/>
          </a:prstGeom>
        </p:spPr>
        <p:txBody>
          <a:bodyPr vert="horz" wrap="square" lIns="96661" tIns="48331" rIns="96661" bIns="48331" numCol="1" anchor="t" anchorCtr="0" compatLnSpc="1">
            <a:prstTxWarp prst="textNoShape">
              <a:avLst/>
            </a:prstTxWarp>
          </a:bodyPr>
          <a:lstStyle>
            <a:lvl1pPr algn="r">
              <a:defRPr sz="1300">
                <a:cs typeface="+mn-cs"/>
              </a:defRPr>
            </a:lvl1pPr>
          </a:lstStyle>
          <a:p>
            <a:pPr>
              <a:defRPr/>
            </a:pPr>
            <a:fld id="{08B8D104-CA93-D843-AB7B-68C08F9CB178}" type="datetimeFigureOut">
              <a:rPr lang="en-US"/>
              <a:pPr>
                <a:defRPr/>
              </a:pPr>
              <a:t>1/14/26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a:defRPr sz="1300">
                <a:ea typeface="+mn-ea"/>
                <a:cs typeface="+mn-cs"/>
              </a:defRPr>
            </a:lvl1pPr>
          </a:lstStyle>
          <a:p>
            <a:pPr>
              <a:defRPr/>
            </a:pPr>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a:defRPr sz="1300">
                <a:cs typeface="+mn-cs"/>
              </a:defRPr>
            </a:lvl1pPr>
          </a:lstStyle>
          <a:p>
            <a:pPr>
              <a:defRPr/>
            </a:pPr>
            <a:fld id="{056B3191-58A9-5244-BB50-584CEBFA53C0}" type="slidenum">
              <a:rPr lang="en-US"/>
              <a:pPr>
                <a:defRPr/>
              </a:pPr>
              <a:t>‹#›</a:t>
            </a:fld>
            <a:endParaRPr lang="en-US"/>
          </a:p>
        </p:txBody>
      </p:sp>
    </p:spTree>
    <p:extLst>
      <p:ext uri="{BB962C8B-B14F-4D97-AF65-F5344CB8AC3E}">
        <p14:creationId xmlns:p14="http://schemas.microsoft.com/office/powerpoint/2010/main" val="38568938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1</a:t>
            </a:fld>
            <a:endParaRPr lang="en-US"/>
          </a:p>
        </p:txBody>
      </p:sp>
    </p:spTree>
    <p:extLst>
      <p:ext uri="{BB962C8B-B14F-4D97-AF65-F5344CB8AC3E}">
        <p14:creationId xmlns:p14="http://schemas.microsoft.com/office/powerpoint/2010/main" val="1573074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40EA1B5-9CCD-2A4B-8400-C447F48AC4FE}" type="slidenum">
              <a:rPr lang="en-US" sz="1300"/>
              <a:pPr eaLnBrk="1" hangingPunct="1"/>
              <a:t>3</a:t>
            </a:fld>
            <a:endParaRPr lang="en-US" sz="1300"/>
          </a:p>
        </p:txBody>
      </p:sp>
      <p:sp>
        <p:nvSpPr>
          <p:cNvPr id="30722"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30723"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40EA1B5-9CCD-2A4B-8400-C447F48AC4FE}" type="slidenum">
              <a:rPr lang="en-US" sz="1300"/>
              <a:pPr eaLnBrk="1" hangingPunct="1"/>
              <a:t>4</a:t>
            </a:fld>
            <a:endParaRPr lang="en-US" sz="1300"/>
          </a:p>
        </p:txBody>
      </p:sp>
      <p:sp>
        <p:nvSpPr>
          <p:cNvPr id="30722"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30723"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latin typeface="Calibri" charset="0"/>
              </a:rPr>
              <a:t>Especially well suited for standards (like DIGGS) that require strict data validation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51397FD-55D6-EC4F-8861-25FB8FEA300D}" type="slidenum">
              <a:rPr lang="en-US" sz="1300"/>
              <a:pPr eaLnBrk="1" hangingPunct="1"/>
              <a:t>5</a:t>
            </a:fld>
            <a:endParaRPr lang="en-US" sz="1300"/>
          </a:p>
        </p:txBody>
      </p:sp>
      <p:sp>
        <p:nvSpPr>
          <p:cNvPr id="34818"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34819"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dirty="0">
                <a:latin typeface="Calibri" charset="0"/>
              </a:rPr>
              <a:t>(GML) is the XML grammar defined by the Open Geospatial Consortium (OGC) to express geographical features. GML serves as a modeling language for geographic systems as well as an open interchange format for geographic transactions on the Internet. Key to GML's utility is its ability to integrate all forms of geographic information, including not only conventional "vector" or discrete objects, but </a:t>
            </a:r>
            <a:r>
              <a:rPr lang="en-US" dirty="0" err="1">
                <a:latin typeface="Calibri" charset="0"/>
              </a:rPr>
              <a:t>coverages</a:t>
            </a:r>
            <a:r>
              <a:rPr lang="en-US" dirty="0">
                <a:latin typeface="Calibri" charset="0"/>
              </a:rPr>
              <a:t> (see also GMLJP2) and sensor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F1EB70D-1CDB-AD49-BC1F-17A4C5E0F7DF}" type="slidenum">
              <a:rPr lang="en-US" sz="1300"/>
              <a:pPr eaLnBrk="1" hangingPunct="1"/>
              <a:t>6</a:t>
            </a:fld>
            <a:endParaRPr lang="en-US" sz="1300"/>
          </a:p>
        </p:txBody>
      </p:sp>
      <p:sp>
        <p:nvSpPr>
          <p:cNvPr id="36866"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36867"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56B3191-58A9-5244-BB50-584CEBFA53C0}" type="slidenum">
              <a:rPr lang="en-US" smtClean="0"/>
              <a:pPr>
                <a:defRPr/>
              </a:pPr>
              <a:t>10</a:t>
            </a:fld>
            <a:endParaRPr lang="en-US"/>
          </a:p>
        </p:txBody>
      </p:sp>
    </p:spTree>
    <p:extLst>
      <p:ext uri="{BB962C8B-B14F-4D97-AF65-F5344CB8AC3E}">
        <p14:creationId xmlns:p14="http://schemas.microsoft.com/office/powerpoint/2010/main" val="25807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gml:id</a:t>
            </a:r>
            <a:r>
              <a:rPr lang="en-US" dirty="0"/>
              <a:t> is used for referencing objects to each other. For example, a borehole that was created as part of a project will reference the id of the project in the borehole’s </a:t>
            </a:r>
            <a:r>
              <a:rPr lang="en-US" dirty="0" err="1"/>
              <a:t>projectRef</a:t>
            </a:r>
            <a:r>
              <a:rPr lang="en-US" dirty="0"/>
              <a:t> property. This is how major associations are made, rather than nesting a borehole within the project object in a hierarchical form.</a:t>
            </a:r>
          </a:p>
        </p:txBody>
      </p:sp>
      <p:sp>
        <p:nvSpPr>
          <p:cNvPr id="4" name="Slide Number Placeholder 3"/>
          <p:cNvSpPr>
            <a:spLocks noGrp="1"/>
          </p:cNvSpPr>
          <p:nvPr>
            <p:ph type="sldNum" sz="quarter" idx="10"/>
          </p:nvPr>
        </p:nvSpPr>
        <p:spPr/>
        <p:txBody>
          <a:bodyPr/>
          <a:lstStyle/>
          <a:p>
            <a:pPr>
              <a:defRPr/>
            </a:pPr>
            <a:fld id="{056B3191-58A9-5244-BB50-584CEBFA53C0}" type="slidenum">
              <a:rPr lang="en-US" smtClean="0"/>
              <a:pPr>
                <a:defRPr/>
              </a:pPr>
              <a:t>11</a:t>
            </a:fld>
            <a:endParaRPr lang="en-US"/>
          </a:p>
        </p:txBody>
      </p:sp>
    </p:spTree>
    <p:extLst>
      <p:ext uri="{BB962C8B-B14F-4D97-AF65-F5344CB8AC3E}">
        <p14:creationId xmlns:p14="http://schemas.microsoft.com/office/powerpoint/2010/main" val="1482841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56B3191-58A9-5244-BB50-584CEBFA53C0}" type="slidenum">
              <a:rPr lang="en-US" smtClean="0"/>
              <a:pPr>
                <a:defRPr/>
              </a:pPr>
              <a:t>12</a:t>
            </a:fld>
            <a:endParaRPr lang="en-US"/>
          </a:p>
        </p:txBody>
      </p:sp>
    </p:spTree>
    <p:extLst>
      <p:ext uri="{BB962C8B-B14F-4D97-AF65-F5344CB8AC3E}">
        <p14:creationId xmlns:p14="http://schemas.microsoft.com/office/powerpoint/2010/main" val="1477520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13</a:t>
            </a:fld>
            <a:endParaRPr lang="en-US"/>
          </a:p>
        </p:txBody>
      </p:sp>
    </p:spTree>
    <p:extLst>
      <p:ext uri="{BB962C8B-B14F-4D97-AF65-F5344CB8AC3E}">
        <p14:creationId xmlns:p14="http://schemas.microsoft.com/office/powerpoint/2010/main" val="2571084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E9CEE-AFD4-B495-A8D5-7E0BBE192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569C0-FF16-3597-3B94-EE90F6B4A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D802D-D135-F1A6-348A-EB0C40A99227}"/>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72E2D542-B4CC-94AB-EBFE-82B26671EFC4}"/>
              </a:ext>
            </a:extLst>
          </p:cNvPr>
          <p:cNvSpPr>
            <a:spLocks noGrp="1"/>
          </p:cNvSpPr>
          <p:nvPr>
            <p:ph type="sldNum" sz="quarter" idx="5"/>
          </p:nvPr>
        </p:nvSpPr>
        <p:spPr/>
        <p:txBody>
          <a:bodyPr/>
          <a:lstStyle/>
          <a:p>
            <a:pPr>
              <a:defRPr/>
            </a:pPr>
            <a:fld id="{056B3191-58A9-5244-BB50-584CEBFA53C0}" type="slidenum">
              <a:rPr lang="en-US" smtClean="0"/>
              <a:pPr>
                <a:defRPr/>
              </a:pPr>
              <a:t>14</a:t>
            </a:fld>
            <a:endParaRPr lang="en-US"/>
          </a:p>
        </p:txBody>
      </p:sp>
    </p:spTree>
    <p:extLst>
      <p:ext uri="{BB962C8B-B14F-4D97-AF65-F5344CB8AC3E}">
        <p14:creationId xmlns:p14="http://schemas.microsoft.com/office/powerpoint/2010/main" val="793444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88FB6-94E6-8035-AC42-27F094B46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2E6B1-E152-4335-843E-80EA763DD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4760E-6451-0B14-44D8-C2883A9783CC}"/>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3406FC61-37D8-1402-220E-ADD095429B47}"/>
              </a:ext>
            </a:extLst>
          </p:cNvPr>
          <p:cNvSpPr>
            <a:spLocks noGrp="1"/>
          </p:cNvSpPr>
          <p:nvPr>
            <p:ph type="sldNum" sz="quarter" idx="5"/>
          </p:nvPr>
        </p:nvSpPr>
        <p:spPr/>
        <p:txBody>
          <a:bodyPr/>
          <a:lstStyle/>
          <a:p>
            <a:pPr>
              <a:defRPr/>
            </a:pPr>
            <a:fld id="{056B3191-58A9-5244-BB50-584CEBFA53C0}" type="slidenum">
              <a:rPr lang="en-US" smtClean="0"/>
              <a:pPr>
                <a:defRPr/>
              </a:pPr>
              <a:t>15</a:t>
            </a:fld>
            <a:endParaRPr lang="en-US"/>
          </a:p>
        </p:txBody>
      </p:sp>
    </p:spTree>
    <p:extLst>
      <p:ext uri="{BB962C8B-B14F-4D97-AF65-F5344CB8AC3E}">
        <p14:creationId xmlns:p14="http://schemas.microsoft.com/office/powerpoint/2010/main" val="1595621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18</a:t>
            </a:fld>
            <a:endParaRPr lang="en-US"/>
          </a:p>
        </p:txBody>
      </p:sp>
    </p:spTree>
    <p:extLst>
      <p:ext uri="{BB962C8B-B14F-4D97-AF65-F5344CB8AC3E}">
        <p14:creationId xmlns:p14="http://schemas.microsoft.com/office/powerpoint/2010/main" val="2862346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19</a:t>
            </a:fld>
            <a:endParaRPr lang="en-US"/>
          </a:p>
        </p:txBody>
      </p:sp>
    </p:spTree>
    <p:extLst>
      <p:ext uri="{BB962C8B-B14F-4D97-AF65-F5344CB8AC3E}">
        <p14:creationId xmlns:p14="http://schemas.microsoft.com/office/powerpoint/2010/main" val="359187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21</a:t>
            </a:fld>
            <a:endParaRPr lang="en-US"/>
          </a:p>
        </p:txBody>
      </p:sp>
    </p:spTree>
    <p:extLst>
      <p:ext uri="{BB962C8B-B14F-4D97-AF65-F5344CB8AC3E}">
        <p14:creationId xmlns:p14="http://schemas.microsoft.com/office/powerpoint/2010/main" val="3464642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24</a:t>
            </a:fld>
            <a:endParaRPr lang="en-US"/>
          </a:p>
        </p:txBody>
      </p:sp>
    </p:spTree>
    <p:extLst>
      <p:ext uri="{BB962C8B-B14F-4D97-AF65-F5344CB8AC3E}">
        <p14:creationId xmlns:p14="http://schemas.microsoft.com/office/powerpoint/2010/main" val="1569263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AB9B-96FF-CFEA-1291-6360C6B70F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DD447-D3C4-6F74-F3C3-7B1CFC45BD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B78A9-B0FB-C643-479D-6B255F7732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5F2A3A-B4FC-C816-E702-1C2A13E91683}"/>
              </a:ext>
            </a:extLst>
          </p:cNvPr>
          <p:cNvSpPr>
            <a:spLocks noGrp="1"/>
          </p:cNvSpPr>
          <p:nvPr>
            <p:ph type="sldNum" sz="quarter" idx="5"/>
          </p:nvPr>
        </p:nvSpPr>
        <p:spPr/>
        <p:txBody>
          <a:bodyPr/>
          <a:lstStyle/>
          <a:p>
            <a:pPr>
              <a:defRPr/>
            </a:pPr>
            <a:fld id="{056B3191-58A9-5244-BB50-584CEBFA53C0}" type="slidenum">
              <a:rPr lang="en-US" smtClean="0"/>
              <a:pPr>
                <a:defRPr/>
              </a:pPr>
              <a:t>25</a:t>
            </a:fld>
            <a:endParaRPr lang="en-US"/>
          </a:p>
        </p:txBody>
      </p:sp>
    </p:spTree>
    <p:extLst>
      <p:ext uri="{BB962C8B-B14F-4D97-AF65-F5344CB8AC3E}">
        <p14:creationId xmlns:p14="http://schemas.microsoft.com/office/powerpoint/2010/main" val="26748246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26</a:t>
            </a:fld>
            <a:endParaRPr lang="en-US"/>
          </a:p>
        </p:txBody>
      </p:sp>
    </p:spTree>
    <p:extLst>
      <p:ext uri="{BB962C8B-B14F-4D97-AF65-F5344CB8AC3E}">
        <p14:creationId xmlns:p14="http://schemas.microsoft.com/office/powerpoint/2010/main" val="1818714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3B2B3-C3B7-8066-674F-84743A9A4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CD3FD-3943-E773-C4DE-24FA5825F6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D3B9D-D637-E45F-9A6E-A3AF9C0F824B}"/>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369A3739-711D-AFE7-EE39-7BDFDFB2E88B}"/>
              </a:ext>
            </a:extLst>
          </p:cNvPr>
          <p:cNvSpPr>
            <a:spLocks noGrp="1"/>
          </p:cNvSpPr>
          <p:nvPr>
            <p:ph type="sldNum" sz="quarter" idx="5"/>
          </p:nvPr>
        </p:nvSpPr>
        <p:spPr/>
        <p:txBody>
          <a:bodyPr/>
          <a:lstStyle/>
          <a:p>
            <a:pPr>
              <a:defRPr/>
            </a:pPr>
            <a:fld id="{056B3191-58A9-5244-BB50-584CEBFA53C0}" type="slidenum">
              <a:rPr lang="en-US" smtClean="0"/>
              <a:pPr>
                <a:defRPr/>
              </a:pPr>
              <a:t>27</a:t>
            </a:fld>
            <a:endParaRPr lang="en-US"/>
          </a:p>
        </p:txBody>
      </p:sp>
    </p:spTree>
    <p:extLst>
      <p:ext uri="{BB962C8B-B14F-4D97-AF65-F5344CB8AC3E}">
        <p14:creationId xmlns:p14="http://schemas.microsoft.com/office/powerpoint/2010/main" val="11892541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28</a:t>
            </a:fld>
            <a:endParaRPr lang="en-US"/>
          </a:p>
        </p:txBody>
      </p:sp>
    </p:spTree>
    <p:extLst>
      <p:ext uri="{BB962C8B-B14F-4D97-AF65-F5344CB8AC3E}">
        <p14:creationId xmlns:p14="http://schemas.microsoft.com/office/powerpoint/2010/main" val="15194517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29</a:t>
            </a:fld>
            <a:endParaRPr lang="en-US"/>
          </a:p>
        </p:txBody>
      </p:sp>
    </p:spTree>
    <p:extLst>
      <p:ext uri="{BB962C8B-B14F-4D97-AF65-F5344CB8AC3E}">
        <p14:creationId xmlns:p14="http://schemas.microsoft.com/office/powerpoint/2010/main" val="25815142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30</a:t>
            </a:fld>
            <a:endParaRPr lang="en-US"/>
          </a:p>
        </p:txBody>
      </p:sp>
    </p:spTree>
    <p:extLst>
      <p:ext uri="{BB962C8B-B14F-4D97-AF65-F5344CB8AC3E}">
        <p14:creationId xmlns:p14="http://schemas.microsoft.com/office/powerpoint/2010/main" val="17159302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32</a:t>
            </a:fld>
            <a:endParaRPr lang="en-US"/>
          </a:p>
        </p:txBody>
      </p:sp>
    </p:spTree>
    <p:extLst>
      <p:ext uri="{BB962C8B-B14F-4D97-AF65-F5344CB8AC3E}">
        <p14:creationId xmlns:p14="http://schemas.microsoft.com/office/powerpoint/2010/main" val="2202874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34</a:t>
            </a:fld>
            <a:endParaRPr lang="en-US"/>
          </a:p>
        </p:txBody>
      </p:sp>
    </p:spTree>
    <p:extLst>
      <p:ext uri="{BB962C8B-B14F-4D97-AF65-F5344CB8AC3E}">
        <p14:creationId xmlns:p14="http://schemas.microsoft.com/office/powerpoint/2010/main" val="31871332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35</a:t>
            </a:fld>
            <a:endParaRPr lang="en-US"/>
          </a:p>
        </p:txBody>
      </p:sp>
    </p:spTree>
    <p:extLst>
      <p:ext uri="{BB962C8B-B14F-4D97-AF65-F5344CB8AC3E}">
        <p14:creationId xmlns:p14="http://schemas.microsoft.com/office/powerpoint/2010/main" val="29151225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4730B-D57F-67ED-27D5-188B8D483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37C63-96FF-55EF-E170-4266C9311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D548A3-B483-5B47-62E7-2D369AE535AA}"/>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4CC6B7B1-8409-A681-AFC1-40EA9D226868}"/>
              </a:ext>
            </a:extLst>
          </p:cNvPr>
          <p:cNvSpPr>
            <a:spLocks noGrp="1"/>
          </p:cNvSpPr>
          <p:nvPr>
            <p:ph type="sldNum" sz="quarter" idx="5"/>
          </p:nvPr>
        </p:nvSpPr>
        <p:spPr/>
        <p:txBody>
          <a:bodyPr/>
          <a:lstStyle/>
          <a:p>
            <a:pPr>
              <a:defRPr/>
            </a:pPr>
            <a:fld id="{056B3191-58A9-5244-BB50-584CEBFA53C0}" type="slidenum">
              <a:rPr lang="en-US" smtClean="0"/>
              <a:pPr>
                <a:defRPr/>
              </a:pPr>
              <a:t>37</a:t>
            </a:fld>
            <a:endParaRPr lang="en-US"/>
          </a:p>
        </p:txBody>
      </p:sp>
    </p:spTree>
    <p:extLst>
      <p:ext uri="{BB962C8B-B14F-4D97-AF65-F5344CB8AC3E}">
        <p14:creationId xmlns:p14="http://schemas.microsoft.com/office/powerpoint/2010/main" val="768069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864F5-BC8D-F2ED-2EAE-B960AF18D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67CC2-CBCE-F27F-9DD2-6F4451562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49640-5E2D-7A2C-A502-04B4194E0955}"/>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CD03F889-7043-7C64-247E-EDCE1A2C4032}"/>
              </a:ext>
            </a:extLst>
          </p:cNvPr>
          <p:cNvSpPr>
            <a:spLocks noGrp="1"/>
          </p:cNvSpPr>
          <p:nvPr>
            <p:ph type="sldNum" sz="quarter" idx="5"/>
          </p:nvPr>
        </p:nvSpPr>
        <p:spPr/>
        <p:txBody>
          <a:bodyPr/>
          <a:lstStyle/>
          <a:p>
            <a:pPr>
              <a:defRPr/>
            </a:pPr>
            <a:fld id="{056B3191-58A9-5244-BB50-584CEBFA53C0}" type="slidenum">
              <a:rPr lang="en-US" smtClean="0"/>
              <a:pPr>
                <a:defRPr/>
              </a:pPr>
              <a:t>40</a:t>
            </a:fld>
            <a:endParaRPr lang="en-US"/>
          </a:p>
        </p:txBody>
      </p:sp>
    </p:spTree>
    <p:extLst>
      <p:ext uri="{BB962C8B-B14F-4D97-AF65-F5344CB8AC3E}">
        <p14:creationId xmlns:p14="http://schemas.microsoft.com/office/powerpoint/2010/main" val="16431378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0C00-D7D5-E8B2-41D6-F9FDFDFF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842B8-32DD-4B7D-6AA3-8B358460B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5F9B5-6225-F043-45F0-24EC4AA6BF15}"/>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23E176DE-ECBB-1D96-FE6C-915317C18E8A}"/>
              </a:ext>
            </a:extLst>
          </p:cNvPr>
          <p:cNvSpPr>
            <a:spLocks noGrp="1"/>
          </p:cNvSpPr>
          <p:nvPr>
            <p:ph type="sldNum" sz="quarter" idx="5"/>
          </p:nvPr>
        </p:nvSpPr>
        <p:spPr/>
        <p:txBody>
          <a:bodyPr/>
          <a:lstStyle/>
          <a:p>
            <a:pPr>
              <a:defRPr/>
            </a:pPr>
            <a:fld id="{056B3191-58A9-5244-BB50-584CEBFA53C0}" type="slidenum">
              <a:rPr lang="en-US" smtClean="0"/>
              <a:pPr>
                <a:defRPr/>
              </a:pPr>
              <a:t>44</a:t>
            </a:fld>
            <a:endParaRPr lang="en-US"/>
          </a:p>
        </p:txBody>
      </p:sp>
    </p:spTree>
    <p:extLst>
      <p:ext uri="{BB962C8B-B14F-4D97-AF65-F5344CB8AC3E}">
        <p14:creationId xmlns:p14="http://schemas.microsoft.com/office/powerpoint/2010/main" val="32364091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FCB47D-6AC4-A04D-A215-4634D001149E}" type="slidenum">
              <a:rPr lang="en-US" smtClean="0"/>
              <a:t>45</a:t>
            </a:fld>
            <a:endParaRPr lang="en-US"/>
          </a:p>
        </p:txBody>
      </p:sp>
    </p:spTree>
    <p:extLst>
      <p:ext uri="{BB962C8B-B14F-4D97-AF65-F5344CB8AC3E}">
        <p14:creationId xmlns:p14="http://schemas.microsoft.com/office/powerpoint/2010/main" val="27237318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tangle 9"/>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11" name="Rounded Rectangle 10"/>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12" name="Rounded Rectangle 11"/>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3" name="Rectangle 12"/>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6" name="Rectangle 15"/>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pic>
        <p:nvPicPr>
          <p:cNvPr id="17" name="Picture 4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378997" y="6051550"/>
            <a:ext cx="2482005"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8" name="Date Placeholder 27"/>
          <p:cNvSpPr>
            <a:spLocks noGrp="1"/>
          </p:cNvSpPr>
          <p:nvPr>
            <p:ph type="dt" sz="half" idx="10"/>
          </p:nvPr>
        </p:nvSpPr>
        <p:spPr>
          <a:xfrm>
            <a:off x="6705600" y="4206875"/>
            <a:ext cx="960438" cy="457200"/>
          </a:xfrm>
        </p:spPr>
        <p:txBody>
          <a:bodyPr/>
          <a:lstStyle>
            <a:lvl1pPr>
              <a:defRPr/>
            </a:lvl1pPr>
          </a:lstStyle>
          <a:p>
            <a:pPr>
              <a:defRPr/>
            </a:pPr>
            <a:fld id="{7D00B8E8-29EF-C049-A76A-9E365A4832F5}" type="datetimeFigureOut">
              <a:rPr lang="en-US"/>
              <a:pPr>
                <a:defRPr/>
              </a:pPr>
              <a:t>1/14/26</a:t>
            </a:fld>
            <a:endParaRPr lang="en-US"/>
          </a:p>
        </p:txBody>
      </p:sp>
      <p:sp>
        <p:nvSpPr>
          <p:cNvPr id="19" name="Footer Placeholder 16"/>
          <p:cNvSpPr>
            <a:spLocks noGrp="1"/>
          </p:cNvSpPr>
          <p:nvPr>
            <p:ph type="ftr" sz="quarter" idx="11"/>
          </p:nvPr>
        </p:nvSpPr>
        <p:spPr>
          <a:xfrm>
            <a:off x="5410200" y="4205288"/>
            <a:ext cx="1295400" cy="457200"/>
          </a:xfrm>
        </p:spPr>
        <p:txBody>
          <a:bodyPr/>
          <a:lstStyle>
            <a:lvl1pPr>
              <a:defRPr/>
            </a:lvl1pPr>
          </a:lstStyle>
          <a:p>
            <a:pPr>
              <a:defRPr/>
            </a:pPr>
            <a:endParaRPr lang="en-US"/>
          </a:p>
        </p:txBody>
      </p:sp>
      <p:sp>
        <p:nvSpPr>
          <p:cNvPr id="20" name="Slide Number Placeholder 28"/>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5450928B-1CE5-FB4C-9E10-784A0D39993F}" type="slidenum">
              <a:rPr lang="en-US"/>
              <a:pPr>
                <a:defRPr/>
              </a:pPr>
              <a:t>‹#›</a:t>
            </a:fld>
            <a:endParaRPr lang="en-US"/>
          </a:p>
        </p:txBody>
      </p:sp>
      <p:pic>
        <p:nvPicPr>
          <p:cNvPr id="21" name="Picture 19">
            <a:extLst>
              <a:ext uri="{FF2B5EF4-FFF2-40B4-BE49-F238E27FC236}">
                <a16:creationId xmlns:a16="http://schemas.microsoft.com/office/drawing/2014/main" id="{10D63899-E82C-604B-BB8B-B1AEC92F673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106115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24600" y="6051550"/>
            <a:ext cx="2590800"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443BF7DE-CB84-B44C-8F43-EFD25E24EDA0}"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AF0B13C-5506-5043-A074-E8ACE74B47E1}" type="slidenum">
              <a:rPr lang="en-US"/>
              <a:pPr>
                <a:defRPr/>
              </a:pPr>
              <a:t>‹#›</a:t>
            </a:fld>
            <a:endParaRPr lang="en-US"/>
          </a:p>
        </p:txBody>
      </p:sp>
      <p:pic>
        <p:nvPicPr>
          <p:cNvPr id="8" name="Picture 1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44740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684508AF-7151-774C-B184-4EB6B57868D1}" type="datetimeFigureOut">
              <a:rPr lang="en-US"/>
              <a:pPr>
                <a:defRPr/>
              </a:pPr>
              <a:t>1/20/26</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CBE95AE6-5715-3544-A793-888452242643}" type="slidenum">
              <a:rPr lang="en-US"/>
              <a:pPr>
                <a:defRPr/>
              </a:pPr>
              <a:t>‹#›</a:t>
            </a:fld>
            <a:endParaRPr lang="en-US"/>
          </a:p>
        </p:txBody>
      </p:sp>
      <p:pic>
        <p:nvPicPr>
          <p:cNvPr id="9" name="Picture 19">
            <a:extLst>
              <a:ext uri="{FF2B5EF4-FFF2-40B4-BE49-F238E27FC236}">
                <a16:creationId xmlns:a16="http://schemas.microsoft.com/office/drawing/2014/main" id="{72EBBBF9-0BE1-394B-82E2-C5148BB8BF6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392104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C48A636C-46D4-504C-A266-53220153C81B}" type="datetimeFigureOut">
              <a:rPr lang="en-US"/>
              <a:pPr>
                <a:defRPr/>
              </a:pPr>
              <a:t>1/20/26</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4DB67AA0-EF90-B647-B199-4379533B9080}" type="slidenum">
              <a:rPr lang="en-US"/>
              <a:pPr>
                <a:defRPr/>
              </a:pPr>
              <a:t>‹#›</a:t>
            </a:fld>
            <a:endParaRPr lang="en-US"/>
          </a:p>
        </p:txBody>
      </p:sp>
      <p:pic>
        <p:nvPicPr>
          <p:cNvPr id="10" name="Picture 19">
            <a:extLst>
              <a:ext uri="{FF2B5EF4-FFF2-40B4-BE49-F238E27FC236}">
                <a16:creationId xmlns:a16="http://schemas.microsoft.com/office/drawing/2014/main" id="{6667E5E5-DD79-F55B-3A0E-6A0D71B222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965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lstStyle>
            <a:lvl1pPr>
              <a:defRPr sz="4000" b="0" i="0" cap="none" baseline="0"/>
            </a:lvl1pPr>
          </a:lstStyle>
          <a:p>
            <a:r>
              <a:rPr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25"/>
          <p:cNvSpPr>
            <a:spLocks noGrp="1"/>
          </p:cNvSpPr>
          <p:nvPr>
            <p:ph type="dt" sz="half" idx="10"/>
          </p:nvPr>
        </p:nvSpPr>
        <p:spPr/>
        <p:txBody>
          <a:bodyPr/>
          <a:lstStyle>
            <a:lvl1pPr>
              <a:defRPr/>
            </a:lvl1pPr>
          </a:lstStyle>
          <a:p>
            <a:pPr>
              <a:defRPr/>
            </a:pPr>
            <a:fld id="{B4BB7742-2E9B-0A4B-A074-0B5E712CFF8E}" type="datetimeFigureOut">
              <a:rPr lang="en-US"/>
              <a:pPr>
                <a:defRPr/>
              </a:pPr>
              <a:t>1/20/26</a:t>
            </a:fld>
            <a:endParaRPr lang="en-US"/>
          </a:p>
        </p:txBody>
      </p:sp>
      <p:sp>
        <p:nvSpPr>
          <p:cNvPr id="10" name="Slide Number Placeholder 26"/>
          <p:cNvSpPr>
            <a:spLocks noGrp="1"/>
          </p:cNvSpPr>
          <p:nvPr>
            <p:ph type="sldNum" sz="quarter" idx="11"/>
          </p:nvPr>
        </p:nvSpPr>
        <p:spPr/>
        <p:txBody>
          <a:bodyPr/>
          <a:lstStyle>
            <a:lvl1pPr>
              <a:defRPr/>
            </a:lvl1pPr>
          </a:lstStyle>
          <a:p>
            <a:pPr>
              <a:defRPr/>
            </a:pPr>
            <a:fld id="{D1E03808-47C2-A241-9DC3-4EB4AF6CC449}" type="slidenum">
              <a:rPr lang="en-US"/>
              <a:pPr>
                <a:defRPr/>
              </a:pPr>
              <a:t>‹#›</a:t>
            </a:fld>
            <a:endParaRPr lang="en-US"/>
          </a:p>
        </p:txBody>
      </p:sp>
      <p:sp>
        <p:nvSpPr>
          <p:cNvPr id="11" name="Footer Placeholder 27"/>
          <p:cNvSpPr>
            <a:spLocks noGrp="1"/>
          </p:cNvSpPr>
          <p:nvPr>
            <p:ph type="ftr" sz="quarter" idx="12"/>
          </p:nvPr>
        </p:nvSpPr>
        <p:spPr/>
        <p:txBody>
          <a:bodyPr rtlCol="0"/>
          <a:lstStyle>
            <a:lvl1pPr>
              <a:defRPr/>
            </a:lvl1pPr>
          </a:lstStyle>
          <a:p>
            <a:pPr>
              <a:defRPr/>
            </a:pPr>
            <a:endParaRPr lang="en-US"/>
          </a:p>
        </p:txBody>
      </p:sp>
      <p:pic>
        <p:nvPicPr>
          <p:cNvPr id="12" name="Picture 19">
            <a:extLst>
              <a:ext uri="{FF2B5EF4-FFF2-40B4-BE49-F238E27FC236}">
                <a16:creationId xmlns:a16="http://schemas.microsoft.com/office/drawing/2014/main" id="{794CE982-D54E-A0B6-BCED-E0F604711D6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1056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lstStyle>
            <a:lvl1pPr>
              <a:defRPr sz="4000">
                <a:solidFill>
                  <a:schemeClr val="tx2"/>
                </a:solidFill>
              </a:defRPr>
            </a:lvl1pPr>
          </a:lstStyle>
          <a:p>
            <a:r>
              <a:rPr lang="en-US"/>
              <a:t>Click to edit Master title style</a:t>
            </a:r>
          </a:p>
        </p:txBody>
      </p:sp>
      <p:sp>
        <p:nvSpPr>
          <p:cNvPr id="5" name="Date Placeholder 2"/>
          <p:cNvSpPr>
            <a:spLocks noGrp="1"/>
          </p:cNvSpPr>
          <p:nvPr>
            <p:ph type="dt" sz="half" idx="10"/>
          </p:nvPr>
        </p:nvSpPr>
        <p:spPr>
          <a:xfrm>
            <a:off x="6583363" y="612775"/>
            <a:ext cx="957262" cy="457200"/>
          </a:xfrm>
        </p:spPr>
        <p:txBody>
          <a:bodyPr/>
          <a:lstStyle>
            <a:lvl1pPr>
              <a:defRPr/>
            </a:lvl1pPr>
          </a:lstStyle>
          <a:p>
            <a:pPr>
              <a:defRPr/>
            </a:pPr>
            <a:fld id="{E1AC82BD-CB1F-BC41-9B01-571E1FEFCBE4}" type="datetimeFigureOut">
              <a:rPr lang="en-US"/>
              <a:pPr>
                <a:defRPr/>
              </a:pPr>
              <a:t>1/20/26</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33074054-4BD5-D64B-BBC3-383F2D5250DF}" type="slidenum">
              <a:rPr lang="en-US"/>
              <a:pPr>
                <a:defRPr/>
              </a:pPr>
              <a:t>‹#›</a:t>
            </a:fld>
            <a:endParaRPr lang="en-US"/>
          </a:p>
        </p:txBody>
      </p:sp>
      <p:pic>
        <p:nvPicPr>
          <p:cNvPr id="8" name="Picture 19">
            <a:extLst>
              <a:ext uri="{FF2B5EF4-FFF2-40B4-BE49-F238E27FC236}">
                <a16:creationId xmlns:a16="http://schemas.microsoft.com/office/drawing/2014/main" id="{59412FF1-7C53-CE46-211B-CD193440B28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267618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7" descr="garland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91400" y="6096000"/>
            <a:ext cx="1595438"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 name="Picture 2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24600" y="6051550"/>
            <a:ext cx="2590800"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Date Placeholder 1"/>
          <p:cNvSpPr>
            <a:spLocks noGrp="1"/>
          </p:cNvSpPr>
          <p:nvPr>
            <p:ph type="dt" sz="half" idx="10"/>
          </p:nvPr>
        </p:nvSpPr>
        <p:spPr/>
        <p:txBody>
          <a:bodyPr/>
          <a:lstStyle>
            <a:lvl1pPr>
              <a:defRPr/>
            </a:lvl1pPr>
          </a:lstStyle>
          <a:p>
            <a:pPr>
              <a:defRPr/>
            </a:pPr>
            <a:fld id="{9B70B43F-2727-B844-8FDC-6A382FC0E023}" type="datetimeFigureOut">
              <a:rPr lang="en-US"/>
              <a:pPr>
                <a:defRPr/>
              </a:pPr>
              <a:t>1/14/26</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pPr>
              <a:defRPr/>
            </a:pPr>
            <a:fld id="{6F5A6C12-16C7-0A40-8E0C-83543284CE07}" type="slidenum">
              <a:rPr lang="en-US"/>
              <a:pPr>
                <a:defRPr/>
              </a:pPr>
              <a:t>‹#›</a:t>
            </a:fld>
            <a:endParaRPr lang="en-US"/>
          </a:p>
        </p:txBody>
      </p:sp>
      <p:pic>
        <p:nvPicPr>
          <p:cNvPr id="7" name="Picture 19">
            <a:extLst>
              <a:ext uri="{FF2B5EF4-FFF2-40B4-BE49-F238E27FC236}">
                <a16:creationId xmlns:a16="http://schemas.microsoft.com/office/drawing/2014/main" id="{61A79D07-CAD4-3540-B8C1-B36B993AC67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02767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fld id="{7C6F82EE-6A3E-0A4B-A3B9-86A041D58406}" type="datetimeFigureOut">
              <a:rPr lang="en-US"/>
              <a:pPr>
                <a:defRPr/>
              </a:pPr>
              <a:t>1/20/26</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03FE3DBA-BD2D-7349-ACF0-AD49A962F238}" type="slidenum">
              <a:rPr lang="en-US"/>
              <a:pPr>
                <a:defRPr/>
              </a:pPr>
              <a:t>‹#›</a:t>
            </a:fld>
            <a:endParaRPr lang="en-US"/>
          </a:p>
        </p:txBody>
      </p:sp>
      <p:pic>
        <p:nvPicPr>
          <p:cNvPr id="9" name="Picture 19">
            <a:extLst>
              <a:ext uri="{FF2B5EF4-FFF2-40B4-BE49-F238E27FC236}">
                <a16:creationId xmlns:a16="http://schemas.microsoft.com/office/drawing/2014/main" id="{7DA9BE09-AE8E-1520-A3C1-A80054C31F2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21578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13"/>
          <p:cNvSpPr>
            <a:spLocks noGrp="1"/>
          </p:cNvSpPr>
          <p:nvPr>
            <p:ph type="dt" sz="half" idx="10"/>
          </p:nvPr>
        </p:nvSpPr>
        <p:spPr/>
        <p:txBody>
          <a:bodyPr/>
          <a:lstStyle>
            <a:lvl1pPr>
              <a:defRPr/>
            </a:lvl1pPr>
          </a:lstStyle>
          <a:p>
            <a:pPr>
              <a:defRPr/>
            </a:pPr>
            <a:fld id="{3F7063AA-3D69-4E4B-9E2C-002C1AFE2A18}" type="datetimeFigureOut">
              <a:rPr lang="en-US"/>
              <a:pPr>
                <a:defRPr/>
              </a:pPr>
              <a:t>1/20/26</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658E4B1B-DAA8-1D49-864B-E1B358C63D2B}" type="slidenum">
              <a:rPr lang="en-US"/>
              <a:pPr>
                <a:defRPr/>
              </a:pPr>
              <a:t>‹#›</a:t>
            </a:fld>
            <a:endParaRPr lang="en-US"/>
          </a:p>
        </p:txBody>
      </p:sp>
      <p:pic>
        <p:nvPicPr>
          <p:cNvPr id="8" name="Picture 19">
            <a:extLst>
              <a:ext uri="{FF2B5EF4-FFF2-40B4-BE49-F238E27FC236}">
                <a16:creationId xmlns:a16="http://schemas.microsoft.com/office/drawing/2014/main" id="{41076961-3D36-CF51-F2C1-2A8F4CCAE39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51128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92F4CBFF-FB9B-9749-8319-65C1D0CA9BB2}" type="datetimeFigureOut">
              <a:rPr lang="en-US"/>
              <a:pPr>
                <a:defRPr/>
              </a:pPr>
              <a:t>1/20/26</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A12B2748-9FC4-0B42-A0D8-244DA1150666}" type="slidenum">
              <a:rPr lang="en-US"/>
              <a:pPr>
                <a:defRPr/>
              </a:pPr>
              <a:t>‹#›</a:t>
            </a:fld>
            <a:endParaRPr lang="en-US"/>
          </a:p>
        </p:txBody>
      </p:sp>
    </p:spTree>
    <p:extLst>
      <p:ext uri="{BB962C8B-B14F-4D97-AF65-F5344CB8AC3E}">
        <p14:creationId xmlns:p14="http://schemas.microsoft.com/office/powerpoint/2010/main" val="1830501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D9DBDFD5-57A6-0D43-B3D4-EF0E87851156}" type="datetimeFigureOut">
              <a:rPr lang="en-US"/>
              <a:pPr>
                <a:defRPr/>
              </a:pPr>
              <a:t>1/14/26</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A268E2DC-BB8A-F142-92CA-418BF4EC495E}" type="slidenum">
              <a:rPr lang="en-US"/>
              <a:pPr>
                <a:defRPr/>
              </a:pPr>
              <a:t>‹#›</a:t>
            </a:fld>
            <a:endParaRPr lang="en-US"/>
          </a:p>
        </p:txBody>
      </p:sp>
    </p:spTree>
    <p:extLst>
      <p:ext uri="{BB962C8B-B14F-4D97-AF65-F5344CB8AC3E}">
        <p14:creationId xmlns:p14="http://schemas.microsoft.com/office/powerpoint/2010/main" val="2456384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SmartArt Placeholder 2"/>
          <p:cNvSpPr>
            <a:spLocks noGrp="1"/>
          </p:cNvSpPr>
          <p:nvPr>
            <p:ph type="dgm" idx="1"/>
          </p:nvPr>
        </p:nvSpPr>
        <p:spPr>
          <a:xfrm>
            <a:off x="457200" y="1600200"/>
            <a:ext cx="8229600" cy="4530725"/>
          </a:xfrm>
        </p:spPr>
        <p:txBody>
          <a:bodyPr>
            <a:normAutofit/>
          </a:bodyPr>
          <a:lstStyle/>
          <a:p>
            <a:pPr lvl="0"/>
            <a:endParaRPr lang="en-US" noProof="0"/>
          </a:p>
        </p:txBody>
      </p:sp>
      <p:sp>
        <p:nvSpPr>
          <p:cNvPr id="4" name="Date Placeholder 3"/>
          <p:cNvSpPr>
            <a:spLocks noGrp="1"/>
          </p:cNvSpPr>
          <p:nvPr>
            <p:ph type="dt" sz="half" idx="10"/>
          </p:nvPr>
        </p:nvSpPr>
        <p:spPr>
          <a:xfrm>
            <a:off x="457200" y="6243638"/>
            <a:ext cx="2133600" cy="457200"/>
          </a:xfrm>
        </p:spPr>
        <p:txBody>
          <a:bodyPr/>
          <a:lstStyle>
            <a:lvl1pPr>
              <a:defRPr>
                <a:ea typeface="+mn-ea"/>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243638"/>
            <a:ext cx="2133600" cy="457200"/>
          </a:xfrm>
        </p:spPr>
        <p:txBody>
          <a:bodyPr/>
          <a:lstStyle>
            <a:lvl1pPr>
              <a:defRPr/>
            </a:lvl1pPr>
          </a:lstStyle>
          <a:p>
            <a:pPr>
              <a:defRPr/>
            </a:pPr>
            <a:fld id="{EF028D18-69FE-7445-8A8B-01718B1C19F3}" type="slidenum">
              <a:rPr lang="en-US"/>
              <a:pPr>
                <a:defRPr/>
              </a:pPr>
              <a:t>‹#›</a:t>
            </a:fld>
            <a:endParaRPr lang="en-US"/>
          </a:p>
        </p:txBody>
      </p:sp>
      <p:pic>
        <p:nvPicPr>
          <p:cNvPr id="7" name="Picture 19">
            <a:extLst>
              <a:ext uri="{FF2B5EF4-FFF2-40B4-BE49-F238E27FC236}">
                <a16:creationId xmlns:a16="http://schemas.microsoft.com/office/drawing/2014/main" id="{5B39BE37-2176-04FC-8D20-07DB5A29FC2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946405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9" name="Rectangle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0" name="Rectangle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1" name="Rectangle 30"/>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2" name="Rectangle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33" name="Rounded Rectangle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34" name="Rounded Rectangle 33"/>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5" name="Rectangle 34"/>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36" name="Rectangle 35"/>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37" name="Rectangle 36"/>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8" name="Rectangle 37"/>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9" name="Rectangle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0" name="Rectangle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039" name="Title Placeholder 21"/>
          <p:cNvSpPr>
            <a:spLocks noGrp="1"/>
          </p:cNvSpPr>
          <p:nvPr>
            <p:ph type="title"/>
          </p:nvPr>
        </p:nvSpPr>
        <p:spPr bwMode="auto">
          <a:xfrm>
            <a:off x="457200" y="1143000"/>
            <a:ext cx="8229600" cy="10668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40" name="Text Placeholder 12"/>
          <p:cNvSpPr>
            <a:spLocks noGrp="1"/>
          </p:cNvSpPr>
          <p:nvPr>
            <p:ph type="body" idx="1"/>
          </p:nvPr>
        </p:nvSpPr>
        <p:spPr bwMode="auto">
          <a:xfrm>
            <a:off x="457200" y="2249488"/>
            <a:ext cx="8229600" cy="432435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586538" y="612775"/>
            <a:ext cx="957262" cy="457200"/>
          </a:xfrm>
          <a:prstGeom prst="rect">
            <a:avLst/>
          </a:prstGeom>
        </p:spPr>
        <p:txBody>
          <a:bodyPr vert="horz" wrap="square" lIns="91440" tIns="45720" rIns="91440" bIns="45720" numCol="1" anchor="t" anchorCtr="0" compatLnSpc="1">
            <a:prstTxWarp prst="textNoShape">
              <a:avLst/>
            </a:prstTxWarp>
          </a:bodyPr>
          <a:lstStyle>
            <a:lvl1pPr>
              <a:defRPr sz="800">
                <a:solidFill>
                  <a:schemeClr val="accent2"/>
                </a:solidFill>
                <a:cs typeface="+mn-cs"/>
              </a:defRPr>
            </a:lvl1pPr>
          </a:lstStyle>
          <a:p>
            <a:pPr>
              <a:defRPr/>
            </a:pPr>
            <a:fld id="{E9F27634-3EAE-B341-B566-B943601C9202}" type="datetimeFigureOut">
              <a:rPr lang="en-US"/>
              <a:pPr>
                <a:defRPr/>
              </a:pPr>
              <a:t>1/14/26</a:t>
            </a:fld>
            <a:endParaRPr lang="en-US"/>
          </a:p>
        </p:txBody>
      </p:sp>
      <p:sp>
        <p:nvSpPr>
          <p:cNvPr id="3" name="Footer Placeholder 2"/>
          <p:cNvSpPr>
            <a:spLocks noGrp="1"/>
          </p:cNvSpPr>
          <p:nvPr>
            <p:ph type="ftr" sz="quarter" idx="3"/>
          </p:nvPr>
        </p:nvSpPr>
        <p:spPr>
          <a:xfrm>
            <a:off x="5257800" y="612775"/>
            <a:ext cx="1325563" cy="457200"/>
          </a:xfrm>
          <a:prstGeom prst="rect">
            <a:avLst/>
          </a:prstGeom>
        </p:spPr>
        <p:txBody>
          <a:bodyPr vert="horz"/>
          <a:lstStyle>
            <a:lvl1pPr algn="r" eaLnBrk="1" latinLnBrk="0" hangingPunct="1">
              <a:defRPr kumimoji="0" sz="800">
                <a:solidFill>
                  <a:schemeClr val="accent2"/>
                </a:solidFill>
                <a:ea typeface="+mn-ea"/>
                <a:cs typeface="+mn-cs"/>
              </a:defRPr>
            </a:lvl1pPr>
          </a:lstStyle>
          <a:p>
            <a:pPr>
              <a:defRPr/>
            </a:pPr>
            <a:endParaRPr lang="en-US"/>
          </a:p>
        </p:txBody>
      </p:sp>
      <p:sp>
        <p:nvSpPr>
          <p:cNvPr id="23" name="Slide Number Placeholder 22"/>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a:defRPr>
                <a:solidFill>
                  <a:srgbClr val="FFFFFF"/>
                </a:solidFill>
                <a:cs typeface="+mn-cs"/>
              </a:defRPr>
            </a:lvl1pPr>
          </a:lstStyle>
          <a:p>
            <a:pPr>
              <a:defRPr/>
            </a:pPr>
            <a:fld id="{673950BA-ACE9-B644-B457-CE2EDD6A8EC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210" r:id="rId1"/>
    <p:sldLayoutId id="2147484211" r:id="rId2"/>
    <p:sldLayoutId id="2147484212" r:id="rId3"/>
    <p:sldLayoutId id="2147484213" r:id="rId4"/>
    <p:sldLayoutId id="2147484214" r:id="rId5"/>
    <p:sldLayoutId id="2147484215" r:id="rId6"/>
    <p:sldLayoutId id="2147484216" r:id="rId7"/>
    <p:sldLayoutId id="2147484217" r:id="rId8"/>
    <p:sldLayoutId id="2147484207" r:id="rId9"/>
    <p:sldLayoutId id="2147484208" r:id="rId10"/>
    <p:sldLayoutId id="2147484209" r:id="rId11"/>
    <p:sldLayoutId id="2147484218" r:id="rId12"/>
  </p:sldLayoutIdLst>
  <p:txStyles>
    <p:titleStyle>
      <a:lvl1pPr algn="l" rtl="0" eaLnBrk="0" fontAlgn="base" hangingPunct="0">
        <a:spcBef>
          <a:spcPct val="0"/>
        </a:spcBef>
        <a:spcAft>
          <a:spcPct val="0"/>
        </a:spcAft>
        <a:defRPr sz="4000" kern="12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Calibri" charset="0"/>
          <a:ea typeface="ＭＳ Ｐゴシック" charset="0"/>
        </a:defRPr>
      </a:lvl6pPr>
      <a:lvl7pPr marL="914400" algn="l" rtl="0" fontAlgn="base">
        <a:spcBef>
          <a:spcPct val="0"/>
        </a:spcBef>
        <a:spcAft>
          <a:spcPct val="0"/>
        </a:spcAft>
        <a:defRPr sz="4000">
          <a:solidFill>
            <a:schemeClr val="tx2"/>
          </a:solidFill>
          <a:latin typeface="Calibri" charset="0"/>
          <a:ea typeface="ＭＳ Ｐゴシック" charset="0"/>
        </a:defRPr>
      </a:lvl7pPr>
      <a:lvl8pPr marL="1371600" algn="l" rtl="0" fontAlgn="base">
        <a:spcBef>
          <a:spcPct val="0"/>
        </a:spcBef>
        <a:spcAft>
          <a:spcPct val="0"/>
        </a:spcAft>
        <a:defRPr sz="4000">
          <a:solidFill>
            <a:schemeClr val="tx2"/>
          </a:solidFill>
          <a:latin typeface="Calibri" charset="0"/>
          <a:ea typeface="ＭＳ Ｐゴシック" charset="0"/>
        </a:defRPr>
      </a:lvl8pPr>
      <a:lvl9pPr marL="1828800" algn="l" rtl="0" fontAlgn="base">
        <a:spcBef>
          <a:spcPct val="0"/>
        </a:spcBef>
        <a:spcAft>
          <a:spcPct val="0"/>
        </a:spcAft>
        <a:defRPr sz="4000">
          <a:solidFill>
            <a:schemeClr val="tx2"/>
          </a:solidFill>
          <a:latin typeface="Calibri" charset="0"/>
          <a:ea typeface="ＭＳ Ｐゴシック" charset="0"/>
        </a:defRPr>
      </a:lvl9pPr>
    </p:titleStyle>
    <p:bodyStyle>
      <a:lvl1pPr marL="365125" indent="-255588" algn="l" rtl="0" eaLnBrk="0" fontAlgn="base" hangingPunct="0">
        <a:spcBef>
          <a:spcPts val="300"/>
        </a:spcBef>
        <a:spcAft>
          <a:spcPct val="0"/>
        </a:spcAft>
        <a:buClr>
          <a:srgbClr val="A04DA3"/>
        </a:buClr>
        <a:buFont typeface="Georgia" charset="0"/>
        <a:buChar char="•"/>
        <a:defRPr sz="2800" kern="1200">
          <a:solidFill>
            <a:schemeClr val="tx1"/>
          </a:solidFill>
          <a:latin typeface="+mn-lt"/>
          <a:ea typeface="ＭＳ Ｐゴシック" charset="0"/>
          <a:cs typeface="ＭＳ Ｐゴシック" charset="0"/>
        </a:defRPr>
      </a:lvl1pPr>
      <a:lvl2pPr marL="657225" indent="-246063" algn="l" rtl="0" eaLnBrk="0" fontAlgn="base" hangingPunct="0">
        <a:spcBef>
          <a:spcPts val="300"/>
        </a:spcBef>
        <a:spcAft>
          <a:spcPct val="0"/>
        </a:spcAft>
        <a:buClr>
          <a:schemeClr val="accent2"/>
        </a:buClr>
        <a:buFont typeface="Georgia" charset="0"/>
        <a:buChar char="▫"/>
        <a:defRPr sz="2600" kern="1200">
          <a:solidFill>
            <a:schemeClr val="accent2"/>
          </a:solidFill>
          <a:latin typeface="+mn-lt"/>
          <a:ea typeface="ＭＳ Ｐゴシック" charset="0"/>
          <a:cs typeface="+mn-cs"/>
        </a:defRPr>
      </a:lvl2pPr>
      <a:lvl3pPr marL="922338" indent="-219075" algn="l" rtl="0" eaLnBrk="0" fontAlgn="base" hangingPunct="0">
        <a:spcBef>
          <a:spcPts val="300"/>
        </a:spcBef>
        <a:spcAft>
          <a:spcPct val="0"/>
        </a:spcAft>
        <a:buClr>
          <a:schemeClr val="accent1"/>
        </a:buClr>
        <a:buFont typeface="Wingdings 2" charset="0"/>
        <a:buChar char=""/>
        <a:defRPr sz="2400" kern="1200">
          <a:solidFill>
            <a:schemeClr val="accent1"/>
          </a:solidFill>
          <a:latin typeface="+mn-lt"/>
          <a:ea typeface="ＭＳ Ｐゴシック" charset="0"/>
          <a:cs typeface="+mn-cs"/>
        </a:defRPr>
      </a:lvl3pPr>
      <a:lvl4pPr marL="1179513" indent="-200025" algn="l" rtl="0" eaLnBrk="0" fontAlgn="base" hangingPunct="0">
        <a:spcBef>
          <a:spcPts val="300"/>
        </a:spcBef>
        <a:spcAft>
          <a:spcPct val="0"/>
        </a:spcAft>
        <a:buClr>
          <a:schemeClr val="accent1"/>
        </a:buClr>
        <a:buFont typeface="Wingdings 2" charset="0"/>
        <a:buChar char=""/>
        <a:defRPr sz="2200" kern="1200">
          <a:solidFill>
            <a:schemeClr val="accent1"/>
          </a:solidFill>
          <a:latin typeface="+mn-lt"/>
          <a:ea typeface="ＭＳ Ｐゴシック" charset="0"/>
          <a:cs typeface="+mn-cs"/>
        </a:defRPr>
      </a:lvl4pPr>
      <a:lvl5pPr marL="1389063" indent="-182563" algn="l" rtl="0" eaLnBrk="0" fontAlgn="base" hangingPunct="0">
        <a:spcBef>
          <a:spcPts val="300"/>
        </a:spcBef>
        <a:spcAft>
          <a:spcPct val="0"/>
        </a:spcAft>
        <a:buClr>
          <a:srgbClr val="A04DA3"/>
        </a:buClr>
        <a:buFont typeface="Georgia" charset="0"/>
        <a:buChar char="▫"/>
        <a:defRPr sz="2000" kern="1200">
          <a:solidFill>
            <a:srgbClr val="A04DA3"/>
          </a:solidFill>
          <a:latin typeface="+mn-lt"/>
          <a:ea typeface="ＭＳ Ｐゴシック" charset="0"/>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7/06/relationships/model3d" Target="../media/model3d1.glb"/><Relationship Id="rId1" Type="http://schemas.openxmlformats.org/officeDocument/2006/relationships/slideLayout" Target="../slideLayouts/slideLayout2.xml"/><Relationship Id="rId5" Type="http://schemas.openxmlformats.org/officeDocument/2006/relationships/image" Target="../media/image7.png"/><Relationship Id="rId4" Type="http://schemas.microsoft.com/office/2017/06/relationships/model3d" Target="../media/model3d2.glb"/></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7/06/relationships/model3d" Target="../media/model3d1.glb"/><Relationship Id="rId1" Type="http://schemas.openxmlformats.org/officeDocument/2006/relationships/slideLayout" Target="../slideLayouts/slideLayout2.xml"/><Relationship Id="rId5" Type="http://schemas.openxmlformats.org/officeDocument/2006/relationships/image" Target="../media/image9.png"/><Relationship Id="rId4" Type="http://schemas.microsoft.com/office/2017/06/relationships/model3d" Target="../media/model3d2.glb"/></Relationships>
</file>

<file path=ppt/slides/_rels/slide24.xml.rels><?xml version="1.0" encoding="UTF-8" standalone="yes"?>
<Relationships xmlns="http://schemas.openxmlformats.org/package/2006/relationships"><Relationship Id="rId3" Type="http://schemas.microsoft.com/office/2017/06/relationships/model3d" Target="../media/model3d3.glb"/><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microsoft.com/office/2017/06/relationships/model3d" Target="../media/model3d3.glb"/><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diggsml.org/def/codes/DIGGS/0.1/properties.xml#liquid_limit" TargetMode="External"/><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hyperlink" Target="https://diggsml.org/def/codes/DIGGS/0.1/properties.xml#plasticity_index&quot;>Plasticity"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457200" y="762000"/>
            <a:ext cx="8458200" cy="1356167"/>
          </a:xfrm>
        </p:spPr>
        <p:txBody>
          <a:bodyPr>
            <a:normAutofit fontScale="90000"/>
          </a:bodyPr>
          <a:lstStyle/>
          <a:p>
            <a:pPr eaLnBrk="1" fontAlgn="auto" hangingPunct="1">
              <a:spcAft>
                <a:spcPts val="0"/>
              </a:spcAft>
              <a:defRPr/>
            </a:pPr>
            <a:r>
              <a:rPr lang="en-US" cap="small" dirty="0">
                <a:ea typeface="+mj-ea"/>
                <a:cs typeface="+mj-cs"/>
              </a:rPr>
              <a:t>DIGGS Data Schema Overview</a:t>
            </a:r>
            <a:br>
              <a:rPr lang="en-US" cap="small" dirty="0">
                <a:ea typeface="+mj-ea"/>
                <a:cs typeface="+mj-cs"/>
              </a:rPr>
            </a:br>
            <a:r>
              <a:rPr lang="en-US" cap="small" dirty="0">
                <a:ea typeface="+mj-ea"/>
                <a:cs typeface="+mj-cs"/>
              </a:rPr>
              <a:t>Incorporating Rigid Inclusions</a:t>
            </a:r>
            <a:endParaRPr lang="en-US" dirty="0">
              <a:ea typeface="+mj-ea"/>
              <a:cs typeface="+mj-cs"/>
            </a:endParaRPr>
          </a:p>
        </p:txBody>
      </p:sp>
      <p:sp>
        <p:nvSpPr>
          <p:cNvPr id="15362" name="Subtitle 2"/>
          <p:cNvSpPr>
            <a:spLocks noGrp="1"/>
          </p:cNvSpPr>
          <p:nvPr>
            <p:ph type="subTitle" idx="1"/>
          </p:nvPr>
        </p:nvSpPr>
        <p:spPr>
          <a:xfrm>
            <a:off x="533400" y="4343400"/>
            <a:ext cx="6705600" cy="685800"/>
          </a:xfrm>
        </p:spPr>
        <p:txBody>
          <a:bodyPr/>
          <a:lstStyle/>
          <a:p>
            <a:pPr marL="63500" eaLnBrk="1" hangingPunct="1">
              <a:buFont typeface="Arial" charset="0"/>
              <a:buNone/>
            </a:pPr>
            <a:r>
              <a:rPr lang="en-US" dirty="0">
                <a:latin typeface="Calibri" charset="0"/>
              </a:rPr>
              <a:t>DIGGS Rigid Inclusions Kickoff</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pPr eaLnBrk="1" hangingPunct="1"/>
            <a:r>
              <a:rPr lang="en-US" sz="3600" dirty="0">
                <a:latin typeface="Calibri" charset="0"/>
              </a:rPr>
              <a:t>Overview</a:t>
            </a:r>
          </a:p>
        </p:txBody>
      </p:sp>
      <p:sp>
        <p:nvSpPr>
          <p:cNvPr id="16386" name="Content Placeholder 2"/>
          <p:cNvSpPr>
            <a:spLocks noGrp="1"/>
          </p:cNvSpPr>
          <p:nvPr>
            <p:ph idx="1"/>
          </p:nvPr>
        </p:nvSpPr>
        <p:spPr/>
        <p:txBody>
          <a:bodyPr/>
          <a:lstStyle/>
          <a:p>
            <a:pPr eaLnBrk="1" hangingPunct="1"/>
            <a:r>
              <a:rPr lang="en-US" dirty="0">
                <a:latin typeface="Calibri" charset="0"/>
              </a:rPr>
              <a:t>XML and DIGGS (DIGGS 101)</a:t>
            </a:r>
          </a:p>
          <a:p>
            <a:pPr eaLnBrk="1" hangingPunct="1"/>
            <a:r>
              <a:rPr lang="en-US" dirty="0">
                <a:latin typeface="Calibri" charset="0"/>
              </a:rPr>
              <a:t>DIGGS Data Model Overview</a:t>
            </a:r>
          </a:p>
          <a:p>
            <a:pPr lvl="1" eaLnBrk="1" hangingPunct="1"/>
            <a:r>
              <a:rPr lang="en-US" dirty="0">
                <a:latin typeface="Calibri" charset="0"/>
              </a:rPr>
              <a:t>Focused on elements relevant to rigid inclusions</a:t>
            </a:r>
          </a:p>
          <a:p>
            <a:pPr eaLnBrk="1" hangingPunct="1"/>
            <a:endParaRPr lang="en-US" dirty="0">
              <a:latin typeface="Calibri" charset="0"/>
            </a:endParaRPr>
          </a:p>
          <a:p>
            <a:pPr eaLnBrk="1" hangingPunct="1"/>
            <a:endParaRPr lang="en-US" dirty="0">
              <a:latin typeface="Calibri" charset="0"/>
            </a:endParaRPr>
          </a:p>
          <a:p>
            <a:pPr lvl="1" eaLnBrk="1" hangingPunct="1"/>
            <a:endParaRPr lang="en-US" dirty="0">
              <a:latin typeface="Calibri" charset="0"/>
            </a:endParaRPr>
          </a:p>
          <a:p>
            <a:pPr eaLnBrk="1" hangingPunct="1"/>
            <a:endParaRPr lang="en-US" dirty="0">
              <a:latin typeface="Calibri"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457200" y="685800"/>
            <a:ext cx="8229600" cy="762000"/>
          </a:xfrm>
          <a:noFill/>
        </p:spPr>
        <p:txBody>
          <a:bodyPr/>
          <a:lstStyle/>
          <a:p>
            <a:pPr eaLnBrk="1" hangingPunct="1"/>
            <a:r>
              <a:rPr lang="en-US" dirty="0">
                <a:latin typeface="Calibri" charset="0"/>
              </a:rPr>
              <a:t>What is DIGGS?</a:t>
            </a:r>
          </a:p>
        </p:txBody>
      </p:sp>
      <p:sp>
        <p:nvSpPr>
          <p:cNvPr id="29698" name="Rectangle 3"/>
          <p:cNvSpPr>
            <a:spLocks noGrp="1" noChangeArrowheads="1"/>
          </p:cNvSpPr>
          <p:nvPr>
            <p:ph idx="1"/>
          </p:nvPr>
        </p:nvSpPr>
        <p:spPr>
          <a:xfrm>
            <a:off x="457200" y="1371600"/>
            <a:ext cx="8229600" cy="4324350"/>
          </a:xfrm>
        </p:spPr>
        <p:txBody>
          <a:bodyPr/>
          <a:lstStyle/>
          <a:p>
            <a:pPr eaLnBrk="1" hangingPunct="1"/>
            <a:r>
              <a:rPr lang="en-US" dirty="0">
                <a:latin typeface="Calibri" charset="0"/>
              </a:rPr>
              <a:t>XML Schema documents (XSD), dictionaries defining controlled terms and coordinate systems, and business rules</a:t>
            </a:r>
          </a:p>
          <a:p>
            <a:pPr lvl="1" eaLnBrk="1" hangingPunct="1"/>
            <a:r>
              <a:rPr lang="en-US" sz="2400" dirty="0">
                <a:latin typeface="Calibri" charset="0"/>
              </a:rPr>
              <a:t>The schema is the normative document</a:t>
            </a:r>
          </a:p>
          <a:p>
            <a:pPr lvl="2" eaLnBrk="1" hangingPunct="1"/>
            <a:r>
              <a:rPr lang="en-US" sz="2200" dirty="0">
                <a:latin typeface="Calibri" charset="0"/>
              </a:rPr>
              <a:t>Defines data structure, objects, and properties for transferring geotechnical, geologic, geoenvironmental and hydrologic data</a:t>
            </a:r>
          </a:p>
          <a:p>
            <a:pPr lvl="1" eaLnBrk="1" hangingPunct="1"/>
            <a:r>
              <a:rPr lang="en-US" sz="2400" dirty="0">
                <a:latin typeface="Calibri" charset="0"/>
              </a:rPr>
              <a:t>Enforces rules for data organization</a:t>
            </a:r>
          </a:p>
          <a:p>
            <a:pPr eaLnBrk="1" hangingPunct="1"/>
            <a:r>
              <a:rPr lang="en-US" dirty="0">
                <a:latin typeface="Calibri" charset="0"/>
              </a:rPr>
              <a:t>Data is stored/transferred as XML (structured text) instances (files or streaming) that follow DIGGS schema structure</a:t>
            </a:r>
          </a:p>
          <a:p>
            <a:pPr eaLnBrk="1" hangingPunct="1">
              <a:buFont typeface="Wingdings" charset="0"/>
              <a:buNone/>
            </a:pPr>
            <a:endParaRPr lang="en-US" dirty="0">
              <a:latin typeface="Calibri"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415894" y="4414602"/>
            <a:ext cx="2166589" cy="2166589"/>
          </a:xfrm>
          <a:prstGeom prst="rect">
            <a:avLst/>
          </a:prstGeom>
        </p:spPr>
      </p:pic>
      <p:sp>
        <p:nvSpPr>
          <p:cNvPr id="29697" name="Rectangle 2"/>
          <p:cNvSpPr>
            <a:spLocks noGrp="1" noChangeArrowheads="1"/>
          </p:cNvSpPr>
          <p:nvPr>
            <p:ph type="title"/>
          </p:nvPr>
        </p:nvSpPr>
        <p:spPr>
          <a:xfrm>
            <a:off x="419100" y="492369"/>
            <a:ext cx="8229600" cy="762000"/>
          </a:xfrm>
          <a:noFill/>
        </p:spPr>
        <p:txBody>
          <a:bodyPr/>
          <a:lstStyle/>
          <a:p>
            <a:pPr eaLnBrk="1" hangingPunct="1"/>
            <a:r>
              <a:rPr lang="en-US" dirty="0">
                <a:latin typeface="Calibri" charset="0"/>
              </a:rPr>
              <a:t>What is XML?</a:t>
            </a:r>
          </a:p>
        </p:txBody>
      </p:sp>
      <p:sp>
        <p:nvSpPr>
          <p:cNvPr id="29698" name="Rectangle 3"/>
          <p:cNvSpPr>
            <a:spLocks noGrp="1" noChangeArrowheads="1"/>
          </p:cNvSpPr>
          <p:nvPr>
            <p:ph idx="1"/>
          </p:nvPr>
        </p:nvSpPr>
        <p:spPr>
          <a:xfrm>
            <a:off x="90854" y="1110094"/>
            <a:ext cx="8763000" cy="4324350"/>
          </a:xfrm>
        </p:spPr>
        <p:txBody>
          <a:bodyPr/>
          <a:lstStyle/>
          <a:p>
            <a:pPr eaLnBrk="1" hangingPunct="1"/>
            <a:r>
              <a:rPr lang="en-US" i="1" dirty="0" err="1">
                <a:latin typeface="Calibri" charset="0"/>
              </a:rPr>
              <a:t>eXtensible</a:t>
            </a:r>
            <a:r>
              <a:rPr lang="en-US" i="1" dirty="0">
                <a:latin typeface="Calibri" charset="0"/>
              </a:rPr>
              <a:t> Markup Language </a:t>
            </a:r>
            <a:r>
              <a:rPr lang="en-US" dirty="0">
                <a:latin typeface="Calibri" charset="0"/>
              </a:rPr>
              <a:t>- a data serialization format used to represent and exchange structured data.</a:t>
            </a:r>
          </a:p>
          <a:p>
            <a:pPr lvl="1" eaLnBrk="1" hangingPunct="1"/>
            <a:r>
              <a:rPr lang="en-US" sz="2400" dirty="0">
                <a:latin typeface="Calibri" charset="0"/>
              </a:rPr>
              <a:t>Human readable, text-based,</a:t>
            </a:r>
            <a:r>
              <a:rPr lang="en-US" dirty="0"/>
              <a:t> tree-like structure with user-defined tags - </a:t>
            </a:r>
            <a:r>
              <a:rPr lang="en-US" sz="2400" dirty="0">
                <a:latin typeface="Calibri" charset="0"/>
              </a:rPr>
              <a:t>platform independent</a:t>
            </a:r>
          </a:p>
          <a:p>
            <a:pPr lvl="1" eaLnBrk="1" hangingPunct="1"/>
            <a:r>
              <a:rPr lang="en-US" sz="2400" dirty="0">
                <a:latin typeface="Calibri" charset="0"/>
              </a:rPr>
              <a:t>Can accommodate complex data relationships and structures unlike other text-based formats (</a:t>
            </a:r>
            <a:r>
              <a:rPr lang="en-US" sz="2400" dirty="0" err="1">
                <a:latin typeface="Calibri" charset="0"/>
              </a:rPr>
              <a:t>eg.</a:t>
            </a:r>
            <a:r>
              <a:rPr lang="en-US" sz="2400" dirty="0">
                <a:latin typeface="Calibri" charset="0"/>
              </a:rPr>
              <a:t> CSV, JSON)</a:t>
            </a:r>
          </a:p>
          <a:p>
            <a:pPr lvl="1" eaLnBrk="1" hangingPunct="1"/>
            <a:r>
              <a:rPr lang="en-US" sz="2400" dirty="0">
                <a:latin typeface="Calibri" charset="0"/>
              </a:rPr>
              <a:t>Mature, open-source and commercial tools exist for validating, querying, processing, displaying, and transforming XML data.</a:t>
            </a:r>
          </a:p>
          <a:p>
            <a:pPr eaLnBrk="1" hangingPunct="1">
              <a:buFont typeface="Wingdings" charset="0"/>
              <a:buNone/>
            </a:pPr>
            <a:endParaRPr lang="en-US" dirty="0">
              <a:latin typeface="Calibri" charset="0"/>
            </a:endParaRPr>
          </a:p>
        </p:txBody>
      </p:sp>
    </p:spTree>
    <p:extLst>
      <p:ext uri="{BB962C8B-B14F-4D97-AF65-F5344CB8AC3E}">
        <p14:creationId xmlns:p14="http://schemas.microsoft.com/office/powerpoint/2010/main" val="2927863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457200" y="660400"/>
            <a:ext cx="8229600" cy="622300"/>
          </a:xfrm>
          <a:noFill/>
        </p:spPr>
        <p:txBody>
          <a:bodyPr/>
          <a:lstStyle/>
          <a:p>
            <a:pPr eaLnBrk="1" hangingPunct="1"/>
            <a:r>
              <a:rPr lang="en-US" dirty="0">
                <a:latin typeface="Calibri" charset="0"/>
              </a:rPr>
              <a:t>What is DIGGS?</a:t>
            </a:r>
          </a:p>
        </p:txBody>
      </p:sp>
      <p:sp>
        <p:nvSpPr>
          <p:cNvPr id="25603" name="Rectangle 3"/>
          <p:cNvSpPr>
            <a:spLocks noGrp="1" noChangeArrowheads="1"/>
          </p:cNvSpPr>
          <p:nvPr>
            <p:ph idx="1"/>
          </p:nvPr>
        </p:nvSpPr>
        <p:spPr>
          <a:xfrm>
            <a:off x="419100" y="1320800"/>
            <a:ext cx="8229600" cy="4324350"/>
          </a:xfrm>
        </p:spPr>
        <p:txBody>
          <a:bodyPr/>
          <a:lstStyle/>
          <a:p>
            <a:pPr eaLnBrk="1" hangingPunct="1">
              <a:defRPr/>
            </a:pPr>
            <a:r>
              <a:rPr lang="en-US" dirty="0">
                <a:latin typeface="Calibri" charset="0"/>
                <a:cs typeface="+mn-cs"/>
              </a:rPr>
              <a:t>DIGGS is based on Geography Markup Language (GML), a specialized XML vocabulary for storing and transferring spatial data</a:t>
            </a:r>
          </a:p>
          <a:p>
            <a:pPr lvl="1" eaLnBrk="1" hangingPunct="1">
              <a:defRPr/>
            </a:pPr>
            <a:r>
              <a:rPr lang="en-US" dirty="0">
                <a:latin typeface="Calibri" charset="0"/>
              </a:rPr>
              <a:t>Geologic/geotechnical data is inherently spatial</a:t>
            </a:r>
          </a:p>
          <a:p>
            <a:pPr lvl="1" eaLnBrk="1" hangingPunct="1">
              <a:defRPr/>
            </a:pPr>
            <a:r>
              <a:rPr lang="en-US" dirty="0"/>
              <a:t>GML is an international standard (ISO/OGC)</a:t>
            </a:r>
          </a:p>
          <a:p>
            <a:pPr marL="658368" lvl="1" indent="-246888" eaLnBrk="1" fontAlgn="auto" hangingPunct="1">
              <a:spcAft>
                <a:spcPts val="0"/>
              </a:spcAft>
              <a:buFont typeface="Georgia"/>
              <a:buChar char="▫"/>
              <a:defRPr/>
            </a:pPr>
            <a:r>
              <a:rPr lang="en-US" dirty="0"/>
              <a:t>GML has standardized Feature and data types for geometries, coordinate reference systems, coverages, etc.</a:t>
            </a:r>
          </a:p>
          <a:p>
            <a:pPr lvl="1" eaLnBrk="1" hangingPunct="1">
              <a:defRPr/>
            </a:pPr>
            <a:r>
              <a:rPr lang="en-US" sz="2400" dirty="0">
                <a:latin typeface="Calibri" charset="0"/>
              </a:rPr>
              <a:t>Readily adopted for display </a:t>
            </a:r>
            <a:r>
              <a:rPr lang="en-US" sz="2400" dirty="0" err="1">
                <a:latin typeface="Calibri" charset="0"/>
              </a:rPr>
              <a:t>andmanipulation</a:t>
            </a:r>
            <a:r>
              <a:rPr lang="en-US" sz="2400" dirty="0">
                <a:latin typeface="Calibri" charset="0"/>
              </a:rPr>
              <a:t> of data over the Internet using web map services</a:t>
            </a:r>
          </a:p>
          <a:p>
            <a:pPr marL="658368" lvl="1" indent="-246888" eaLnBrk="1" fontAlgn="auto" hangingPunct="1">
              <a:spcAft>
                <a:spcPts val="0"/>
              </a:spcAft>
              <a:buFont typeface="Wingdings 2" pitchFamily="18" charset="2"/>
              <a:buNone/>
              <a:defRPr/>
            </a:pPr>
            <a:endParaRPr lang="en-US" dirty="0"/>
          </a:p>
          <a:p>
            <a:pPr lvl="1" eaLnBrk="1" hangingPunct="1">
              <a:defRPr/>
            </a:pPr>
            <a:endParaRPr lang="en-US" sz="2400" dirty="0">
              <a:latin typeface="Calibri" charset="0"/>
            </a:endParaRPr>
          </a:p>
          <a:p>
            <a:pPr eaLnBrk="1" hangingPunct="1">
              <a:defRPr/>
            </a:pPr>
            <a:endParaRPr lang="en-US" dirty="0">
              <a:latin typeface="Calibri" charset="0"/>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457200" y="457200"/>
            <a:ext cx="8229600" cy="838200"/>
          </a:xfrm>
          <a:noFill/>
        </p:spPr>
        <p:txBody>
          <a:bodyPr/>
          <a:lstStyle/>
          <a:p>
            <a:pPr eaLnBrk="1" hangingPunct="1"/>
            <a:r>
              <a:rPr lang="en-US" sz="3600" dirty="0">
                <a:latin typeface="Calibri" charset="0"/>
              </a:rPr>
              <a:t>What is DIGGS?</a:t>
            </a:r>
          </a:p>
        </p:txBody>
      </p:sp>
      <p:sp>
        <p:nvSpPr>
          <p:cNvPr id="35842" name="Rectangle 3"/>
          <p:cNvSpPr>
            <a:spLocks noGrp="1" noChangeArrowheads="1"/>
          </p:cNvSpPr>
          <p:nvPr>
            <p:ph idx="1"/>
          </p:nvPr>
        </p:nvSpPr>
        <p:spPr>
          <a:xfrm>
            <a:off x="457200" y="1295400"/>
            <a:ext cx="8229600" cy="4324350"/>
          </a:xfrm>
        </p:spPr>
        <p:txBody>
          <a:bodyPr/>
          <a:lstStyle/>
          <a:p>
            <a:pPr eaLnBrk="1" hangingPunct="1">
              <a:lnSpc>
                <a:spcPct val="90000"/>
              </a:lnSpc>
            </a:pPr>
            <a:r>
              <a:rPr lang="en-US" sz="2400" dirty="0">
                <a:latin typeface="Calibri" charset="0"/>
              </a:rPr>
              <a:t>DIGGS defines a structure for describing real-world objects and activities common to geotechnical and geoenvironmental practice, and how they inter-relate</a:t>
            </a:r>
          </a:p>
          <a:p>
            <a:pPr eaLnBrk="1" hangingPunct="1">
              <a:lnSpc>
                <a:spcPct val="90000"/>
              </a:lnSpc>
            </a:pPr>
            <a:r>
              <a:rPr lang="en-US" sz="2400" dirty="0">
                <a:latin typeface="Calibri" charset="0"/>
              </a:rPr>
              <a:t>DIGGS is extensible</a:t>
            </a:r>
          </a:p>
          <a:p>
            <a:pPr lvl="1" eaLnBrk="1" hangingPunct="1">
              <a:lnSpc>
                <a:spcPct val="90000"/>
              </a:lnSpc>
            </a:pPr>
            <a:r>
              <a:rPr lang="en-US" altLang="ja-JP" sz="2000" dirty="0">
                <a:latin typeface="Calibri" charset="0"/>
              </a:rPr>
              <a:t>Flexible framework </a:t>
            </a:r>
            <a:r>
              <a:rPr lang="en-US" sz="2000" dirty="0">
                <a:latin typeface="Calibri" charset="0"/>
              </a:rPr>
              <a:t>for adding objects not already included in the standard</a:t>
            </a:r>
          </a:p>
          <a:p>
            <a:pPr lvl="1" eaLnBrk="1" hangingPunct="1">
              <a:lnSpc>
                <a:spcPct val="90000"/>
              </a:lnSpc>
            </a:pPr>
            <a:r>
              <a:rPr lang="en-US" sz="2000" dirty="0">
                <a:latin typeface="Calibri" charset="0"/>
              </a:rPr>
              <a:t>Able to reference non-text data (photos, docs, etc.) as part of the transfer standard</a:t>
            </a:r>
          </a:p>
          <a:p>
            <a:pPr eaLnBrk="1" hangingPunct="1">
              <a:lnSpc>
                <a:spcPct val="90000"/>
              </a:lnSpc>
            </a:pPr>
            <a:r>
              <a:rPr lang="en-US" sz="2400" dirty="0">
                <a:latin typeface="Calibri" charset="0"/>
              </a:rPr>
              <a:t>DIGGS does not dictate practice</a:t>
            </a:r>
          </a:p>
          <a:p>
            <a:pPr lvl="1" eaLnBrk="1" hangingPunct="1">
              <a:lnSpc>
                <a:spcPct val="90000"/>
              </a:lnSpc>
            </a:pPr>
            <a:r>
              <a:rPr lang="en-US" sz="2200" dirty="0">
                <a:latin typeface="Calibri" charset="0"/>
              </a:rPr>
              <a:t>Rather, it is a framework that allows test specifications, procedures, etc. to be documented as part of the data transfer/storage protocol.</a:t>
            </a:r>
          </a:p>
          <a:p>
            <a:pPr eaLnBrk="1" hangingPunct="1">
              <a:lnSpc>
                <a:spcPct val="90000"/>
              </a:lnSpc>
            </a:pPr>
            <a:r>
              <a:rPr lang="en-US" sz="2400" dirty="0">
                <a:latin typeface="Calibri" charset="0"/>
              </a:rPr>
              <a:t>DIGGS is </a:t>
            </a:r>
            <a:r>
              <a:rPr lang="en-US" sz="2400" dirty="0" err="1">
                <a:latin typeface="Calibri" charset="0"/>
              </a:rPr>
              <a:t>profilable</a:t>
            </a:r>
            <a:endParaRPr lang="en-US" sz="2400" dirty="0">
              <a:latin typeface="Calibri" charset="0"/>
            </a:endParaRPr>
          </a:p>
          <a:p>
            <a:pPr lvl="1" eaLnBrk="1" hangingPunct="1">
              <a:lnSpc>
                <a:spcPct val="90000"/>
              </a:lnSpc>
            </a:pPr>
            <a:r>
              <a:rPr lang="en-US" sz="2000" dirty="0">
                <a:latin typeface="Calibri" charset="0"/>
              </a:rPr>
              <a:t>Can restrict the schema to enforce business rules for specific use cases</a:t>
            </a:r>
          </a:p>
          <a:p>
            <a:pPr eaLnBrk="1" hangingPunct="1">
              <a:lnSpc>
                <a:spcPct val="90000"/>
              </a:lnSpc>
            </a:pPr>
            <a:endParaRPr lang="en-US" sz="2400" dirty="0">
              <a:latin typeface="Calibri" charset="0"/>
            </a:endParaRPr>
          </a:p>
          <a:p>
            <a:pPr eaLnBrk="1" hangingPunct="1">
              <a:lnSpc>
                <a:spcPct val="90000"/>
              </a:lnSpc>
            </a:pPr>
            <a:endParaRPr lang="en-US" sz="2400" dirty="0">
              <a:latin typeface="Calibri"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Arrow Connector 22"/>
          <p:cNvCxnSpPr/>
          <p:nvPr/>
        </p:nvCxnSpPr>
        <p:spPr>
          <a:xfrm>
            <a:off x="4355264" y="3425603"/>
            <a:ext cx="972309" cy="487744"/>
          </a:xfrm>
          <a:prstGeom prst="straightConnector1">
            <a:avLst/>
          </a:prstGeom>
          <a:ln w="15875">
            <a:tailEnd type="triangle" w="med" len="lg"/>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2412158" y="2457335"/>
            <a:ext cx="972309" cy="487744"/>
          </a:xfrm>
          <a:prstGeom prst="straightConnector1">
            <a:avLst/>
          </a:prstGeom>
          <a:ln w="15875">
            <a:tailEnd type="triangle" w="med" len="lg"/>
          </a:ln>
        </p:spPr>
        <p:style>
          <a:lnRef idx="1">
            <a:schemeClr val="accent1"/>
          </a:lnRef>
          <a:fillRef idx="0">
            <a:schemeClr val="accent1"/>
          </a:fillRef>
          <a:effectRef idx="0">
            <a:schemeClr val="accent1"/>
          </a:effectRef>
          <a:fontRef idx="minor">
            <a:schemeClr val="tx1"/>
          </a:fontRef>
        </p:style>
      </p:cxnSp>
      <p:sp>
        <p:nvSpPr>
          <p:cNvPr id="37889" name="Title 1"/>
          <p:cNvSpPr>
            <a:spLocks noGrp="1"/>
          </p:cNvSpPr>
          <p:nvPr>
            <p:ph type="title"/>
          </p:nvPr>
        </p:nvSpPr>
        <p:spPr>
          <a:xfrm>
            <a:off x="457200" y="609600"/>
            <a:ext cx="8229600" cy="482600"/>
          </a:xfrm>
        </p:spPr>
        <p:txBody>
          <a:bodyPr/>
          <a:lstStyle/>
          <a:p>
            <a:r>
              <a:rPr lang="en-US" dirty="0">
                <a:latin typeface="Calibri" charset="0"/>
              </a:rPr>
              <a:t>DIGGS 101</a:t>
            </a:r>
          </a:p>
        </p:txBody>
      </p:sp>
      <p:sp>
        <p:nvSpPr>
          <p:cNvPr id="37890" name="Content Placeholder 2"/>
          <p:cNvSpPr>
            <a:spLocks noGrp="1"/>
          </p:cNvSpPr>
          <p:nvPr>
            <p:ph idx="1"/>
          </p:nvPr>
        </p:nvSpPr>
        <p:spPr>
          <a:xfrm>
            <a:off x="457200" y="1219200"/>
            <a:ext cx="8229600" cy="4876800"/>
          </a:xfrm>
        </p:spPr>
        <p:txBody>
          <a:bodyPr/>
          <a:lstStyle/>
          <a:p>
            <a:r>
              <a:rPr lang="en-US" sz="2400" dirty="0">
                <a:latin typeface="Calibri" charset="0"/>
              </a:rPr>
              <a:t>Diggs inherits its overall structure from its parent types</a:t>
            </a:r>
          </a:p>
        </p:txBody>
      </p:sp>
      <p:sp>
        <p:nvSpPr>
          <p:cNvPr id="2" name="Oval 1"/>
          <p:cNvSpPr/>
          <p:nvPr/>
        </p:nvSpPr>
        <p:spPr>
          <a:xfrm>
            <a:off x="1365662" y="1805049"/>
            <a:ext cx="1258785" cy="973777"/>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289464" y="2683823"/>
            <a:ext cx="1258785" cy="973777"/>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239989" y="3657600"/>
            <a:ext cx="1258785" cy="973777"/>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665476" y="2107271"/>
            <a:ext cx="659155" cy="369332"/>
          </a:xfrm>
          <a:prstGeom prst="rect">
            <a:avLst/>
          </a:prstGeom>
          <a:noFill/>
        </p:spPr>
        <p:txBody>
          <a:bodyPr wrap="none" rtlCol="0">
            <a:spAutoFit/>
          </a:bodyPr>
          <a:lstStyle/>
          <a:p>
            <a:r>
              <a:rPr lang="en-US" dirty="0"/>
              <a:t>XML</a:t>
            </a:r>
          </a:p>
        </p:txBody>
      </p:sp>
      <p:sp>
        <p:nvSpPr>
          <p:cNvPr id="15" name="TextBox 14"/>
          <p:cNvSpPr txBox="1"/>
          <p:nvPr/>
        </p:nvSpPr>
        <p:spPr>
          <a:xfrm>
            <a:off x="5482095" y="3959822"/>
            <a:ext cx="774571" cy="369332"/>
          </a:xfrm>
          <a:prstGeom prst="rect">
            <a:avLst/>
          </a:prstGeom>
          <a:noFill/>
        </p:spPr>
        <p:txBody>
          <a:bodyPr wrap="none" rtlCol="0">
            <a:spAutoFit/>
          </a:bodyPr>
          <a:lstStyle/>
          <a:p>
            <a:r>
              <a:rPr lang="en-US" dirty="0"/>
              <a:t>Diggs</a:t>
            </a:r>
          </a:p>
        </p:txBody>
      </p:sp>
      <p:sp>
        <p:nvSpPr>
          <p:cNvPr id="17" name="TextBox 16"/>
          <p:cNvSpPr txBox="1"/>
          <p:nvPr/>
        </p:nvSpPr>
        <p:spPr>
          <a:xfrm>
            <a:off x="3589278" y="2986045"/>
            <a:ext cx="684803" cy="369332"/>
          </a:xfrm>
          <a:prstGeom prst="rect">
            <a:avLst/>
          </a:prstGeom>
          <a:noFill/>
        </p:spPr>
        <p:txBody>
          <a:bodyPr wrap="none" rtlCol="0">
            <a:spAutoFit/>
          </a:bodyPr>
          <a:lstStyle/>
          <a:p>
            <a:r>
              <a:rPr lang="en-US" dirty="0"/>
              <a:t>GML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457200" y="609600"/>
            <a:ext cx="8229600" cy="482600"/>
          </a:xfrm>
        </p:spPr>
        <p:txBody>
          <a:bodyPr/>
          <a:lstStyle/>
          <a:p>
            <a:r>
              <a:rPr lang="en-US" dirty="0">
                <a:latin typeface="Calibri" charset="0"/>
              </a:rPr>
              <a:t>DIGGS 101</a:t>
            </a:r>
          </a:p>
        </p:txBody>
      </p:sp>
      <p:sp>
        <p:nvSpPr>
          <p:cNvPr id="37890" name="Content Placeholder 2"/>
          <p:cNvSpPr>
            <a:spLocks noGrp="1"/>
          </p:cNvSpPr>
          <p:nvPr>
            <p:ph idx="1"/>
          </p:nvPr>
        </p:nvSpPr>
        <p:spPr>
          <a:xfrm>
            <a:off x="457200" y="1092200"/>
            <a:ext cx="8229600" cy="4667332"/>
          </a:xfrm>
        </p:spPr>
        <p:txBody>
          <a:bodyPr/>
          <a:lstStyle/>
          <a:p>
            <a:r>
              <a:rPr lang="en-US" sz="2400" dirty="0">
                <a:latin typeface="Calibri" charset="0"/>
              </a:rPr>
              <a:t>What does a DIGGS instance look like?</a:t>
            </a:r>
          </a:p>
          <a:p>
            <a:pPr lvl="1"/>
            <a:r>
              <a:rPr lang="en-US" sz="2200" dirty="0">
                <a:latin typeface="Calibri" charset="0"/>
              </a:rPr>
              <a:t>A collection of </a:t>
            </a:r>
            <a:r>
              <a:rPr lang="en-US" sz="2200" b="1" dirty="0">
                <a:latin typeface="Calibri" charset="0"/>
              </a:rPr>
              <a:t>ELEMENTS (tagged text) </a:t>
            </a:r>
            <a:r>
              <a:rPr lang="en-US" sz="2200" dirty="0">
                <a:latin typeface="Calibri" charset="0"/>
              </a:rPr>
              <a:t>enclosed within a root element</a:t>
            </a:r>
          </a:p>
          <a:p>
            <a:pPr marL="411162" lvl="1" indent="0">
              <a:buNone/>
            </a:pPr>
            <a:endParaRPr lang="en-US" sz="2200" dirty="0">
              <a:latin typeface="Calibri" charset="0"/>
            </a:endParaRPr>
          </a:p>
          <a:p>
            <a:pPr marL="411162" lvl="1" indent="0">
              <a:buNone/>
            </a:pPr>
            <a:r>
              <a:rPr lang="en-US" sz="2200" dirty="0">
                <a:latin typeface="Calibri" charset="0"/>
              </a:rPr>
              <a:t>An element can have zero or multiple attributes</a:t>
            </a:r>
          </a:p>
          <a:p>
            <a:pPr lvl="1"/>
            <a:r>
              <a:rPr lang="en-US" sz="2200" dirty="0">
                <a:latin typeface="Calibri" charset="0"/>
              </a:rPr>
              <a:t>The value of an element can be text, or other elements</a:t>
            </a:r>
          </a:p>
          <a:p>
            <a:endParaRPr lang="en-US" sz="2400" dirty="0">
              <a:latin typeface="Calibri" charset="0"/>
            </a:endParaRPr>
          </a:p>
          <a:p>
            <a:endParaRPr lang="en-US" sz="2400" dirty="0">
              <a:latin typeface="Calibri" charset="0"/>
            </a:endParaRPr>
          </a:p>
          <a:p>
            <a:endParaRPr lang="en-US" sz="2400" dirty="0">
              <a:latin typeface="Calibri" charset="0"/>
            </a:endParaRPr>
          </a:p>
          <a:p>
            <a:pPr lvl="1"/>
            <a:endParaRPr lang="en-US" sz="2200" dirty="0">
              <a:latin typeface="Calibri" charset="0"/>
            </a:endParaRPr>
          </a:p>
          <a:p>
            <a:pPr lvl="1"/>
            <a:endParaRPr lang="en-US" sz="2200" dirty="0">
              <a:latin typeface="Calibri" charset="0"/>
            </a:endParaRPr>
          </a:p>
          <a:p>
            <a:pPr lvl="1"/>
            <a:r>
              <a:rPr lang="en-US" sz="2200" dirty="0">
                <a:latin typeface="Calibri" charset="0"/>
              </a:rPr>
              <a:t>Elements with a text value are of </a:t>
            </a:r>
            <a:r>
              <a:rPr lang="en-US" sz="2200" dirty="0" err="1">
                <a:latin typeface="Calibri" charset="0"/>
              </a:rPr>
              <a:t>simpleType</a:t>
            </a:r>
            <a:endParaRPr lang="en-US" sz="2200" dirty="0">
              <a:latin typeface="Calibri" charset="0"/>
            </a:endParaRPr>
          </a:p>
          <a:p>
            <a:pPr lvl="1"/>
            <a:r>
              <a:rPr lang="en-US" sz="2200" dirty="0">
                <a:latin typeface="Calibri" charset="0"/>
              </a:rPr>
              <a:t>Elements that contain elements are of </a:t>
            </a:r>
            <a:r>
              <a:rPr lang="en-US" sz="2200" dirty="0" err="1">
                <a:latin typeface="Calibri" charset="0"/>
              </a:rPr>
              <a:t>complexType</a:t>
            </a:r>
            <a:endParaRPr lang="en-US" sz="2200" dirty="0">
              <a:latin typeface="Calibri" charset="0"/>
            </a:endParaRPr>
          </a:p>
          <a:p>
            <a:pPr lvl="1"/>
            <a:endParaRPr lang="en-US" sz="2200" dirty="0">
              <a:latin typeface="Calibri" charset="0"/>
            </a:endParaRPr>
          </a:p>
          <a:p>
            <a:endParaRPr lang="en-US" dirty="0">
              <a:latin typeface="Calibri" charset="0"/>
            </a:endParaRPr>
          </a:p>
        </p:txBody>
      </p:sp>
      <p:sp>
        <p:nvSpPr>
          <p:cNvPr id="6" name="TextBox 5"/>
          <p:cNvSpPr txBox="1"/>
          <p:nvPr/>
        </p:nvSpPr>
        <p:spPr>
          <a:xfrm>
            <a:off x="1797745" y="2184650"/>
            <a:ext cx="5128327" cy="369332"/>
          </a:xfrm>
          <a:prstGeom prst="rect">
            <a:avLst/>
          </a:prstGeom>
          <a:noFill/>
        </p:spPr>
        <p:txBody>
          <a:bodyPr wrap="none" rtlCol="0">
            <a:spAutoFit/>
          </a:bodyPr>
          <a:lstStyle/>
          <a:p>
            <a:r>
              <a:rPr lang="en-US" dirty="0"/>
              <a:t>&lt;name attribute=“attribute value”&gt;value&lt;/name&gt;</a:t>
            </a:r>
          </a:p>
        </p:txBody>
      </p:sp>
      <p:sp>
        <p:nvSpPr>
          <p:cNvPr id="16" name="TextBox 15"/>
          <p:cNvSpPr txBox="1"/>
          <p:nvPr/>
        </p:nvSpPr>
        <p:spPr>
          <a:xfrm>
            <a:off x="4054420" y="3354488"/>
            <a:ext cx="4852610" cy="2031325"/>
          </a:xfrm>
          <a:prstGeom prst="rect">
            <a:avLst/>
          </a:prstGeom>
          <a:noFill/>
        </p:spPr>
        <p:txBody>
          <a:bodyPr wrap="none" rtlCol="0">
            <a:spAutoFit/>
          </a:bodyPr>
          <a:lstStyle/>
          <a:p>
            <a:r>
              <a:rPr lang="en-US" dirty="0"/>
              <a:t>&lt;Diggs&gt;</a:t>
            </a:r>
          </a:p>
          <a:p>
            <a:r>
              <a:rPr lang="en-US" dirty="0"/>
              <a:t>     &lt;</a:t>
            </a:r>
            <a:r>
              <a:rPr lang="en-US" dirty="0" err="1"/>
              <a:t>samplingFeature</a:t>
            </a:r>
            <a:r>
              <a:rPr lang="en-US" dirty="0"/>
              <a:t>&gt;</a:t>
            </a:r>
          </a:p>
          <a:p>
            <a:r>
              <a:rPr lang="en-US" dirty="0"/>
              <a:t>           &lt;Borehole </a:t>
            </a:r>
            <a:r>
              <a:rPr lang="en-US" dirty="0" err="1"/>
              <a:t>gml:id</a:t>
            </a:r>
            <a:r>
              <a:rPr lang="en-US" dirty="0"/>
              <a:t>=“</a:t>
            </a:r>
            <a:r>
              <a:rPr lang="en-US" dirty="0" err="1"/>
              <a:t>abc</a:t>
            </a:r>
            <a:r>
              <a:rPr lang="en-US" dirty="0"/>
              <a:t>”&gt;</a:t>
            </a:r>
          </a:p>
          <a:p>
            <a:r>
              <a:rPr lang="en-US" dirty="0"/>
              <a:t>	&lt;</a:t>
            </a:r>
            <a:r>
              <a:rPr lang="en-US" dirty="0" err="1"/>
              <a:t>gml:name</a:t>
            </a:r>
            <a:r>
              <a:rPr lang="en-US" dirty="0"/>
              <a:t>&gt;Borehole 1&lt;/</a:t>
            </a:r>
            <a:r>
              <a:rPr lang="en-US" dirty="0" err="1"/>
              <a:t>gml:name</a:t>
            </a:r>
            <a:r>
              <a:rPr lang="en-US" dirty="0"/>
              <a:t>&gt;</a:t>
            </a:r>
          </a:p>
          <a:p>
            <a:r>
              <a:rPr lang="en-US" dirty="0"/>
              <a:t>           &lt;/Borehole&gt;</a:t>
            </a:r>
          </a:p>
          <a:p>
            <a:r>
              <a:rPr lang="en-US" dirty="0"/>
              <a:t>     &lt;/</a:t>
            </a:r>
            <a:r>
              <a:rPr lang="en-US" dirty="0" err="1"/>
              <a:t>samplingFeature</a:t>
            </a:r>
            <a:r>
              <a:rPr lang="en-US" dirty="0"/>
              <a:t>&gt;</a:t>
            </a:r>
          </a:p>
          <a:p>
            <a:r>
              <a:rPr lang="en-US" dirty="0"/>
              <a:t>&lt;/Diggs&gt;</a:t>
            </a:r>
          </a:p>
        </p:txBody>
      </p:sp>
    </p:spTree>
    <p:extLst>
      <p:ext uri="{BB962C8B-B14F-4D97-AF65-F5344CB8AC3E}">
        <p14:creationId xmlns:p14="http://schemas.microsoft.com/office/powerpoint/2010/main" val="1977640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457200" y="609600"/>
            <a:ext cx="8229600" cy="482600"/>
          </a:xfrm>
        </p:spPr>
        <p:txBody>
          <a:bodyPr/>
          <a:lstStyle/>
          <a:p>
            <a:r>
              <a:rPr lang="en-US" dirty="0">
                <a:latin typeface="Calibri" charset="0"/>
              </a:rPr>
              <a:t>DIGGS 101</a:t>
            </a:r>
          </a:p>
        </p:txBody>
      </p:sp>
      <p:sp>
        <p:nvSpPr>
          <p:cNvPr id="37890" name="Content Placeholder 2"/>
          <p:cNvSpPr>
            <a:spLocks noGrp="1"/>
          </p:cNvSpPr>
          <p:nvPr>
            <p:ph idx="1"/>
          </p:nvPr>
        </p:nvSpPr>
        <p:spPr>
          <a:xfrm>
            <a:off x="457200" y="1092200"/>
            <a:ext cx="8229600" cy="4667332"/>
          </a:xfrm>
        </p:spPr>
        <p:txBody>
          <a:bodyPr/>
          <a:lstStyle/>
          <a:p>
            <a:r>
              <a:rPr lang="en-US" sz="2400" dirty="0">
                <a:latin typeface="Calibri" charset="0"/>
              </a:rPr>
              <a:t>What is the DIGGS Schema?</a:t>
            </a:r>
          </a:p>
          <a:p>
            <a:pPr lvl="1"/>
            <a:r>
              <a:rPr lang="en-US" sz="2200" dirty="0">
                <a:latin typeface="Calibri" charset="0"/>
              </a:rPr>
              <a:t>XML file that describes how DIGGS “instances” (data files or streams) are structured</a:t>
            </a:r>
          </a:p>
          <a:p>
            <a:pPr lvl="1"/>
            <a:r>
              <a:rPr lang="en-US" sz="2200" dirty="0">
                <a:latin typeface="Calibri" charset="0"/>
              </a:rPr>
              <a:t>Defines elements that are allowed</a:t>
            </a:r>
          </a:p>
          <a:p>
            <a:pPr lvl="1"/>
            <a:r>
              <a:rPr lang="en-US" sz="2200" dirty="0">
                <a:latin typeface="Calibri" charset="0"/>
              </a:rPr>
              <a:t>Defines element types and value restrictions, defaults, fixed values, etc.</a:t>
            </a:r>
          </a:p>
          <a:p>
            <a:pPr lvl="1"/>
            <a:r>
              <a:rPr lang="en-US" sz="2200" dirty="0">
                <a:latin typeface="Calibri" charset="0"/>
              </a:rPr>
              <a:t>Defines how elements are composited</a:t>
            </a:r>
          </a:p>
          <a:p>
            <a:pPr lvl="2"/>
            <a:r>
              <a:rPr lang="en-US" sz="2000" dirty="0">
                <a:latin typeface="Calibri" charset="0"/>
              </a:rPr>
              <a:t>Sequence: (elements are required to occur in a specific order</a:t>
            </a:r>
          </a:p>
          <a:p>
            <a:pPr lvl="2"/>
            <a:r>
              <a:rPr lang="en-US" sz="2000" dirty="0">
                <a:latin typeface="Calibri" charset="0"/>
              </a:rPr>
              <a:t>Choice: (allows one of a group of elements to occur within a sequence</a:t>
            </a:r>
          </a:p>
          <a:p>
            <a:pPr lvl="1"/>
            <a:r>
              <a:rPr lang="en-US" sz="2200" dirty="0">
                <a:latin typeface="Calibri" charset="0"/>
              </a:rPr>
              <a:t>Defines element substitutions</a:t>
            </a:r>
          </a:p>
          <a:p>
            <a:pPr lvl="1"/>
            <a:r>
              <a:rPr lang="en-US" sz="2200" dirty="0">
                <a:latin typeface="Calibri" charset="0"/>
              </a:rPr>
              <a:t>Defines namespaces used (vocabularies allowed)</a:t>
            </a:r>
          </a:p>
          <a:p>
            <a:pPr lvl="1"/>
            <a:endParaRPr lang="en-US" sz="2200" dirty="0">
              <a:latin typeface="Calibri" charset="0"/>
            </a:endParaRPr>
          </a:p>
          <a:p>
            <a:pPr lvl="1"/>
            <a:endParaRPr lang="en-US" sz="2200" dirty="0">
              <a:latin typeface="Calibri" charset="0"/>
            </a:endParaRPr>
          </a:p>
          <a:p>
            <a:endParaRPr lang="en-US" dirty="0">
              <a:latin typeface="Calibri" charset="0"/>
            </a:endParaRPr>
          </a:p>
        </p:txBody>
      </p:sp>
    </p:spTree>
    <p:extLst>
      <p:ext uri="{BB962C8B-B14F-4D97-AF65-F5344CB8AC3E}">
        <p14:creationId xmlns:p14="http://schemas.microsoft.com/office/powerpoint/2010/main" val="620668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457200" y="609600"/>
            <a:ext cx="8229600" cy="482600"/>
          </a:xfrm>
        </p:spPr>
        <p:txBody>
          <a:bodyPr/>
          <a:lstStyle/>
          <a:p>
            <a:r>
              <a:rPr lang="en-US" dirty="0">
                <a:latin typeface="Calibri" charset="0"/>
              </a:rPr>
              <a:t>DIGGS 101</a:t>
            </a:r>
          </a:p>
        </p:txBody>
      </p:sp>
      <p:sp>
        <p:nvSpPr>
          <p:cNvPr id="37890" name="Content Placeholder 2"/>
          <p:cNvSpPr>
            <a:spLocks noGrp="1"/>
          </p:cNvSpPr>
          <p:nvPr>
            <p:ph idx="1"/>
          </p:nvPr>
        </p:nvSpPr>
        <p:spPr>
          <a:xfrm>
            <a:off x="457200" y="1219200"/>
            <a:ext cx="8229600" cy="4876800"/>
          </a:xfrm>
        </p:spPr>
        <p:txBody>
          <a:bodyPr/>
          <a:lstStyle/>
          <a:p>
            <a:r>
              <a:rPr lang="en-US" sz="2400" dirty="0">
                <a:latin typeface="Calibri" charset="0"/>
              </a:rPr>
              <a:t>As DIGGS relies on GML, it conforms to GML’s required nomenclature, definitions, conventions</a:t>
            </a:r>
          </a:p>
          <a:p>
            <a:r>
              <a:rPr lang="en-US" sz="2400" dirty="0">
                <a:latin typeface="Calibri" charset="0"/>
              </a:rPr>
              <a:t>GML defines two types of XML elements</a:t>
            </a:r>
          </a:p>
          <a:p>
            <a:pPr lvl="1"/>
            <a:r>
              <a:rPr lang="en-US" sz="2200" dirty="0">
                <a:latin typeface="Calibri" charset="0"/>
              </a:rPr>
              <a:t>Object</a:t>
            </a:r>
          </a:p>
          <a:p>
            <a:pPr lvl="2"/>
            <a:r>
              <a:rPr lang="en-US" sz="2000" dirty="0">
                <a:latin typeface="Calibri" charset="0"/>
              </a:rPr>
              <a:t>An element of </a:t>
            </a:r>
            <a:r>
              <a:rPr lang="en-US" sz="2000" dirty="0" err="1">
                <a:latin typeface="Calibri" charset="0"/>
              </a:rPr>
              <a:t>complexType</a:t>
            </a:r>
            <a:r>
              <a:rPr lang="en-US" sz="2000" dirty="0">
                <a:latin typeface="Calibri" charset="0"/>
              </a:rPr>
              <a:t> with optional “identity” that is derived (inherits) from a base “abstract” GML type (</a:t>
            </a:r>
            <a:r>
              <a:rPr lang="en-US" sz="2000" dirty="0" err="1">
                <a:latin typeface="Calibri" charset="0"/>
              </a:rPr>
              <a:t>UpperCamelCase</a:t>
            </a:r>
            <a:r>
              <a:rPr lang="en-US" sz="2000" dirty="0">
                <a:latin typeface="Calibri" charset="0"/>
              </a:rPr>
              <a:t>)</a:t>
            </a:r>
          </a:p>
          <a:p>
            <a:pPr lvl="1"/>
            <a:r>
              <a:rPr lang="en-US" sz="2200" dirty="0">
                <a:latin typeface="Calibri" charset="0"/>
              </a:rPr>
              <a:t>Property</a:t>
            </a:r>
          </a:p>
          <a:p>
            <a:pPr lvl="2"/>
            <a:r>
              <a:rPr lang="en-US" sz="2000" dirty="0">
                <a:latin typeface="Calibri" charset="0"/>
              </a:rPr>
              <a:t>An element of simple type or ”</a:t>
            </a:r>
            <a:r>
              <a:rPr lang="en-US" sz="2000" dirty="0" err="1">
                <a:latin typeface="Calibri" charset="0"/>
              </a:rPr>
              <a:t>propertyType</a:t>
            </a:r>
            <a:r>
              <a:rPr lang="en-US" sz="2000" dirty="0">
                <a:latin typeface="Calibri" charset="0"/>
              </a:rPr>
              <a:t>” that is contained within an object (</a:t>
            </a:r>
            <a:r>
              <a:rPr lang="en-US" sz="2000" dirty="0" err="1">
                <a:latin typeface="Calibri" charset="0"/>
              </a:rPr>
              <a:t>lowerCamelCase</a:t>
            </a:r>
            <a:r>
              <a:rPr lang="en-US" sz="2000" dirty="0">
                <a:latin typeface="Calibri" charset="0"/>
              </a:rPr>
              <a:t>)</a:t>
            </a:r>
          </a:p>
          <a:p>
            <a:r>
              <a:rPr lang="en-US" sz="2400" dirty="0">
                <a:latin typeface="Calibri" charset="0"/>
              </a:rPr>
              <a:t>Simple example: Road is an object; </a:t>
            </a:r>
            <a:r>
              <a:rPr lang="en-US" sz="2400" dirty="0" err="1">
                <a:latin typeface="Calibri" charset="0"/>
              </a:rPr>
              <a:t>gml:name</a:t>
            </a:r>
            <a:r>
              <a:rPr lang="en-US" sz="2400" dirty="0">
                <a:latin typeface="Calibri" charset="0"/>
              </a:rPr>
              <a:t>, </a:t>
            </a:r>
            <a:r>
              <a:rPr lang="en-US" sz="2400" dirty="0" err="1">
                <a:latin typeface="Calibri" charset="0"/>
              </a:rPr>
              <a:t>numLanes</a:t>
            </a:r>
            <a:r>
              <a:rPr lang="en-US" sz="2400" dirty="0">
                <a:latin typeface="Calibri" charset="0"/>
              </a:rPr>
              <a:t> and </a:t>
            </a:r>
            <a:r>
              <a:rPr lang="en-US" sz="2400" dirty="0" err="1">
                <a:latin typeface="Calibri" charset="0"/>
              </a:rPr>
              <a:t>pavementType</a:t>
            </a:r>
            <a:r>
              <a:rPr lang="en-US" sz="2400" dirty="0">
                <a:latin typeface="Calibri" charset="0"/>
              </a:rPr>
              <a:t> are properties of the road object</a:t>
            </a:r>
          </a:p>
          <a:p>
            <a:pPr lvl="1"/>
            <a:r>
              <a:rPr lang="en-US" sz="1800" dirty="0">
                <a:latin typeface="Calibri" charset="0"/>
              </a:rPr>
              <a:t>&lt;Road </a:t>
            </a:r>
            <a:r>
              <a:rPr lang="en-US" sz="1800" dirty="0" err="1">
                <a:latin typeface="Calibri" charset="0"/>
              </a:rPr>
              <a:t>gml:id</a:t>
            </a:r>
            <a:r>
              <a:rPr lang="en-US" sz="1800" dirty="0">
                <a:latin typeface="Calibri" charset="0"/>
              </a:rPr>
              <a:t>=“r1”&gt;</a:t>
            </a:r>
          </a:p>
          <a:p>
            <a:pPr lvl="2"/>
            <a:r>
              <a:rPr lang="en-US" sz="1800" dirty="0">
                <a:latin typeface="Calibri" charset="0"/>
              </a:rPr>
              <a:t>&lt;</a:t>
            </a:r>
            <a:r>
              <a:rPr lang="en-US" sz="1800" dirty="0" err="1">
                <a:latin typeface="Calibri" charset="0"/>
              </a:rPr>
              <a:t>gml:name</a:t>
            </a:r>
            <a:r>
              <a:rPr lang="en-US" sz="1800" dirty="0">
                <a:latin typeface="Calibri" charset="0"/>
              </a:rPr>
              <a:t>&gt;Main St.&lt;/</a:t>
            </a:r>
            <a:r>
              <a:rPr lang="en-US" sz="1800" dirty="0" err="1">
                <a:latin typeface="Calibri" charset="0"/>
              </a:rPr>
              <a:t>gml:name</a:t>
            </a:r>
            <a:r>
              <a:rPr lang="en-US" sz="1800" dirty="0">
                <a:latin typeface="Calibri" charset="0"/>
              </a:rPr>
              <a:t>&gt;</a:t>
            </a:r>
          </a:p>
          <a:p>
            <a:pPr lvl="2"/>
            <a:r>
              <a:rPr lang="en-US" sz="1800" dirty="0">
                <a:latin typeface="Calibri" charset="0"/>
              </a:rPr>
              <a:t>&lt;</a:t>
            </a:r>
            <a:r>
              <a:rPr lang="en-US" sz="1800" dirty="0" err="1">
                <a:latin typeface="Calibri" charset="0"/>
              </a:rPr>
              <a:t>numLanes</a:t>
            </a:r>
            <a:r>
              <a:rPr lang="en-US" sz="1800" dirty="0">
                <a:latin typeface="Calibri" charset="0"/>
              </a:rPr>
              <a:t>&gt;4&lt;/</a:t>
            </a:r>
            <a:r>
              <a:rPr lang="en-US" sz="1800" dirty="0" err="1">
                <a:latin typeface="Calibri" charset="0"/>
              </a:rPr>
              <a:t>numLanes</a:t>
            </a:r>
            <a:r>
              <a:rPr lang="en-US" sz="1800" dirty="0">
                <a:latin typeface="Calibri" charset="0"/>
              </a:rPr>
              <a:t>&gt;</a:t>
            </a:r>
          </a:p>
          <a:p>
            <a:pPr lvl="2"/>
            <a:r>
              <a:rPr lang="en-US" sz="1800" dirty="0">
                <a:latin typeface="Calibri" charset="0"/>
              </a:rPr>
              <a:t>&lt;</a:t>
            </a:r>
            <a:r>
              <a:rPr lang="en-US" sz="1800" dirty="0" err="1">
                <a:latin typeface="Calibri" charset="0"/>
              </a:rPr>
              <a:t>pavementType</a:t>
            </a:r>
            <a:r>
              <a:rPr lang="en-US" sz="1800" dirty="0">
                <a:latin typeface="Calibri" charset="0"/>
              </a:rPr>
              <a:t>&gt;concrete&lt;/</a:t>
            </a:r>
            <a:r>
              <a:rPr lang="en-US" sz="1800" dirty="0" err="1">
                <a:latin typeface="Calibri" charset="0"/>
              </a:rPr>
              <a:t>pavementType</a:t>
            </a:r>
            <a:r>
              <a:rPr lang="en-US" sz="1800" dirty="0">
                <a:latin typeface="Calibri" charset="0"/>
              </a:rPr>
              <a:t>&gt;</a:t>
            </a:r>
          </a:p>
          <a:p>
            <a:pPr lvl="1"/>
            <a:r>
              <a:rPr lang="en-US" sz="1800" dirty="0">
                <a:latin typeface="Calibri" charset="0"/>
              </a:rPr>
              <a:t>&lt;/Road&gt;</a:t>
            </a:r>
          </a:p>
        </p:txBody>
      </p:sp>
    </p:spTree>
    <p:extLst>
      <p:ext uri="{BB962C8B-B14F-4D97-AF65-F5344CB8AC3E}">
        <p14:creationId xmlns:p14="http://schemas.microsoft.com/office/powerpoint/2010/main" val="1216576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457200" y="517000"/>
            <a:ext cx="8229600" cy="1066800"/>
          </a:xfrm>
        </p:spPr>
        <p:txBody>
          <a:bodyPr/>
          <a:lstStyle/>
          <a:p>
            <a:r>
              <a:rPr lang="en-US" dirty="0">
                <a:latin typeface="Calibri" charset="0"/>
              </a:rPr>
              <a:t>DIGGS 101</a:t>
            </a:r>
          </a:p>
        </p:txBody>
      </p:sp>
      <p:sp>
        <p:nvSpPr>
          <p:cNvPr id="38914" name="Content Placeholder 2"/>
          <p:cNvSpPr>
            <a:spLocks noGrp="1"/>
          </p:cNvSpPr>
          <p:nvPr>
            <p:ph idx="1"/>
          </p:nvPr>
        </p:nvSpPr>
        <p:spPr>
          <a:xfrm>
            <a:off x="158750" y="1289746"/>
            <a:ext cx="8826500" cy="4876800"/>
          </a:xfrm>
        </p:spPr>
        <p:txBody>
          <a:bodyPr/>
          <a:lstStyle/>
          <a:p>
            <a:r>
              <a:rPr lang="en-US" sz="2400" dirty="0">
                <a:latin typeface="Calibri" charset="0"/>
              </a:rPr>
              <a:t>DIGGS base types</a:t>
            </a:r>
          </a:p>
          <a:p>
            <a:r>
              <a:rPr lang="en-US" sz="2400" dirty="0">
                <a:latin typeface="Calibri" charset="0"/>
              </a:rPr>
              <a:t>DIGGS Objects </a:t>
            </a:r>
          </a:p>
          <a:p>
            <a:pPr lvl="1"/>
            <a:r>
              <a:rPr lang="en-US" sz="2200" dirty="0">
                <a:latin typeface="Calibri" charset="0"/>
              </a:rPr>
              <a:t>Derive from </a:t>
            </a:r>
            <a:r>
              <a:rPr lang="en-US" sz="2200" dirty="0" err="1">
                <a:latin typeface="Calibri" charset="0"/>
              </a:rPr>
              <a:t>gml</a:t>
            </a:r>
            <a:r>
              <a:rPr lang="en-US" sz="2200" dirty="0">
                <a:latin typeface="Calibri" charset="0"/>
              </a:rPr>
              <a:t> objects but may contain geometry properties</a:t>
            </a:r>
          </a:p>
          <a:p>
            <a:pPr lvl="1"/>
            <a:r>
              <a:rPr lang="en-US" sz="2200" dirty="0">
                <a:latin typeface="Calibri" charset="0"/>
              </a:rPr>
              <a:t>Contain the following optional properties</a:t>
            </a:r>
          </a:p>
          <a:p>
            <a:pPr lvl="2"/>
            <a:r>
              <a:rPr lang="en-US" sz="2000" dirty="0" err="1">
                <a:latin typeface="Calibri" charset="0"/>
              </a:rPr>
              <a:t>gml:id</a:t>
            </a:r>
            <a:r>
              <a:rPr lang="en-US" sz="2000" dirty="0">
                <a:latin typeface="Calibri" charset="0"/>
              </a:rPr>
              <a:t> (attribute; mandatory in some cases)</a:t>
            </a:r>
          </a:p>
          <a:p>
            <a:pPr lvl="2"/>
            <a:r>
              <a:rPr lang="en-US" sz="2000" dirty="0" err="1">
                <a:latin typeface="Calibri" charset="0"/>
              </a:rPr>
              <a:t>gml:description</a:t>
            </a:r>
            <a:endParaRPr lang="en-US" sz="2000" dirty="0">
              <a:latin typeface="Calibri" charset="0"/>
            </a:endParaRPr>
          </a:p>
          <a:p>
            <a:pPr lvl="2"/>
            <a:r>
              <a:rPr lang="en-US" sz="2000" dirty="0" err="1">
                <a:latin typeface="Calibri" charset="0"/>
              </a:rPr>
              <a:t>gml:identifier</a:t>
            </a:r>
            <a:endParaRPr lang="en-US" sz="2000" dirty="0">
              <a:latin typeface="Calibri" charset="0"/>
            </a:endParaRPr>
          </a:p>
          <a:p>
            <a:pPr lvl="2"/>
            <a:r>
              <a:rPr lang="en-US" sz="2000" dirty="0" err="1">
                <a:latin typeface="Calibri" charset="0"/>
              </a:rPr>
              <a:t>gml:name</a:t>
            </a:r>
            <a:endParaRPr lang="en-US" sz="2000" dirty="0">
              <a:latin typeface="Calibri" charset="0"/>
            </a:endParaRPr>
          </a:p>
          <a:p>
            <a:pPr lvl="2"/>
            <a:r>
              <a:rPr lang="en-US" sz="2000" dirty="0">
                <a:latin typeface="Calibri" charset="0"/>
              </a:rPr>
              <a:t>status (release status and/or quality control info for the object)</a:t>
            </a:r>
          </a:p>
          <a:p>
            <a:pPr lvl="2"/>
            <a:r>
              <a:rPr lang="en-US" sz="2000" dirty="0">
                <a:latin typeface="Calibri" charset="0"/>
              </a:rPr>
              <a:t>remark</a:t>
            </a:r>
          </a:p>
          <a:p>
            <a:r>
              <a:rPr lang="en-US" sz="2400" dirty="0">
                <a:latin typeface="Calibri" charset="0"/>
              </a:rPr>
              <a:t>Some DIGGS object variants require </a:t>
            </a:r>
            <a:r>
              <a:rPr lang="en-US" sz="2400" dirty="0" err="1">
                <a:latin typeface="Calibri" charset="0"/>
              </a:rPr>
              <a:t>gml:name</a:t>
            </a:r>
            <a:r>
              <a:rPr lang="en-US" sz="2400" dirty="0">
                <a:latin typeface="Calibri" charset="0"/>
              </a:rPr>
              <a:t> or may remove all optional elements except for </a:t>
            </a:r>
            <a:r>
              <a:rPr lang="en-US" sz="2400" dirty="0" err="1">
                <a:latin typeface="Calibri" charset="0"/>
              </a:rPr>
              <a:t>gml:id</a:t>
            </a:r>
            <a:r>
              <a:rPr lang="en-US" sz="2400" dirty="0">
                <a:latin typeface="Calibri" charset="0"/>
              </a:rPr>
              <a:t>.</a:t>
            </a:r>
            <a:endParaRPr lang="en-US" sz="2000" dirty="0">
              <a:latin typeface="Calibri" charset="0"/>
            </a:endParaRPr>
          </a:p>
          <a:p>
            <a:pPr marL="703263" lvl="2" indent="0">
              <a:buNone/>
            </a:pPr>
            <a:endParaRPr lang="en-US" sz="2000" dirty="0">
              <a:latin typeface="Calibri" charset="0"/>
            </a:endParaRPr>
          </a:p>
        </p:txBody>
      </p:sp>
    </p:spTree>
    <p:extLst>
      <p:ext uri="{BB962C8B-B14F-4D97-AF65-F5344CB8AC3E}">
        <p14:creationId xmlns:p14="http://schemas.microsoft.com/office/powerpoint/2010/main" val="850863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457200" y="609600"/>
            <a:ext cx="8229600" cy="1066800"/>
          </a:xfrm>
        </p:spPr>
        <p:txBody>
          <a:bodyPr/>
          <a:lstStyle/>
          <a:p>
            <a:r>
              <a:rPr lang="en-US" dirty="0">
                <a:latin typeface="Calibri" charset="0"/>
              </a:rPr>
              <a:t>DIGGS 101</a:t>
            </a:r>
          </a:p>
        </p:txBody>
      </p:sp>
      <p:sp>
        <p:nvSpPr>
          <p:cNvPr id="38914" name="Content Placeholder 2"/>
          <p:cNvSpPr>
            <a:spLocks noGrp="1"/>
          </p:cNvSpPr>
          <p:nvPr>
            <p:ph idx="1"/>
          </p:nvPr>
        </p:nvSpPr>
        <p:spPr>
          <a:xfrm>
            <a:off x="101600" y="1511300"/>
            <a:ext cx="8826500" cy="4876800"/>
          </a:xfrm>
        </p:spPr>
        <p:txBody>
          <a:bodyPr/>
          <a:lstStyle/>
          <a:p>
            <a:r>
              <a:rPr lang="en-US" sz="2400" dirty="0">
                <a:latin typeface="Calibri" charset="0"/>
              </a:rPr>
              <a:t>DIGGS features</a:t>
            </a:r>
          </a:p>
          <a:p>
            <a:pPr lvl="1"/>
            <a:r>
              <a:rPr lang="en-US" sz="2200" dirty="0">
                <a:latin typeface="Calibri" charset="0"/>
              </a:rPr>
              <a:t>"high level" DIGGS objects - that tend to be referenced outside of the XML hierarchy</a:t>
            </a:r>
          </a:p>
          <a:p>
            <a:pPr lvl="2"/>
            <a:r>
              <a:rPr lang="en-US" sz="2000" dirty="0">
                <a:latin typeface="Calibri" charset="0"/>
              </a:rPr>
              <a:t>Mandatory </a:t>
            </a:r>
            <a:r>
              <a:rPr lang="en-US" sz="2000" dirty="0" err="1">
                <a:latin typeface="Calibri" charset="0"/>
              </a:rPr>
              <a:t>gml:id</a:t>
            </a:r>
            <a:endParaRPr lang="en-US" sz="2000" dirty="0">
              <a:latin typeface="Calibri" charset="0"/>
            </a:endParaRPr>
          </a:p>
          <a:p>
            <a:pPr lvl="2"/>
            <a:r>
              <a:rPr lang="en-US" sz="2000" dirty="0">
                <a:latin typeface="Calibri" charset="0"/>
              </a:rPr>
              <a:t>Often contain geometry objects</a:t>
            </a:r>
          </a:p>
          <a:p>
            <a:pPr lvl="1"/>
            <a:r>
              <a:rPr lang="en-US" sz="2200" dirty="0">
                <a:latin typeface="Calibri" charset="0"/>
              </a:rPr>
              <a:t>Plus optional:</a:t>
            </a:r>
          </a:p>
          <a:p>
            <a:pPr lvl="2"/>
            <a:r>
              <a:rPr lang="en-US" sz="2000" dirty="0" err="1">
                <a:latin typeface="Calibri" charset="0"/>
              </a:rPr>
              <a:t>gml:internaldentifier</a:t>
            </a:r>
            <a:endParaRPr lang="en-US" sz="2000" dirty="0">
              <a:latin typeface="Calibri" charset="0"/>
            </a:endParaRPr>
          </a:p>
          <a:p>
            <a:pPr lvl="2"/>
            <a:r>
              <a:rPr lang="en-US" sz="2000" dirty="0" err="1">
                <a:latin typeface="Calibri" charset="0"/>
              </a:rPr>
              <a:t>associatedFile</a:t>
            </a:r>
            <a:endParaRPr lang="en-US" sz="2000" dirty="0">
              <a:latin typeface="Calibri" charset="0"/>
            </a:endParaRPr>
          </a:p>
          <a:p>
            <a:pPr lvl="2"/>
            <a:r>
              <a:rPr lang="en-US" sz="2000" dirty="0">
                <a:latin typeface="Calibri" charset="0"/>
              </a:rPr>
              <a:t>role</a:t>
            </a:r>
          </a:p>
          <a:p>
            <a:r>
              <a:rPr lang="en-US" sz="2400" dirty="0">
                <a:latin typeface="Calibri" charset="0"/>
              </a:rPr>
              <a:t>Some DIGGS feature variants require </a:t>
            </a:r>
            <a:r>
              <a:rPr lang="en-US" sz="2400" dirty="0" err="1">
                <a:latin typeface="Calibri" charset="0"/>
              </a:rPr>
              <a:t>gml:name</a:t>
            </a:r>
            <a:r>
              <a:rPr lang="en-US" sz="2400" dirty="0">
                <a:latin typeface="Calibri" charset="0"/>
              </a:rPr>
              <a:t> or may remove some optional elements</a:t>
            </a:r>
            <a:endParaRPr lang="en-US" sz="2000" dirty="0">
              <a:latin typeface="Calibri" charset="0"/>
            </a:endParaRPr>
          </a:p>
          <a:p>
            <a:pPr lvl="2"/>
            <a:endParaRPr lang="en-US" sz="2000" dirty="0">
              <a:latin typeface="Calibri" charset="0"/>
            </a:endParaRPr>
          </a:p>
        </p:txBody>
      </p:sp>
    </p:spTree>
    <p:extLst>
      <p:ext uri="{BB962C8B-B14F-4D97-AF65-F5344CB8AC3E}">
        <p14:creationId xmlns:p14="http://schemas.microsoft.com/office/powerpoint/2010/main" val="122750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DE05D7-53AE-D44F-82B1-F6CB5DA4FD23}"/>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801851"/>
            <a:ext cx="8642840" cy="6063644"/>
          </a:xfrm>
          <a:prstGeom prst="rect">
            <a:avLst/>
          </a:prstGeom>
        </p:spPr>
      </p:pic>
      <p:sp>
        <p:nvSpPr>
          <p:cNvPr id="2" name="Title 1">
            <a:extLst>
              <a:ext uri="{FF2B5EF4-FFF2-40B4-BE49-F238E27FC236}">
                <a16:creationId xmlns:a16="http://schemas.microsoft.com/office/drawing/2014/main" id="{705629D5-1ED4-3B46-B511-0EE00355695E}"/>
              </a:ext>
            </a:extLst>
          </p:cNvPr>
          <p:cNvSpPr>
            <a:spLocks noGrp="1"/>
          </p:cNvSpPr>
          <p:nvPr>
            <p:ph type="title"/>
          </p:nvPr>
        </p:nvSpPr>
        <p:spPr>
          <a:xfrm>
            <a:off x="376178" y="190555"/>
            <a:ext cx="8229600" cy="1066800"/>
          </a:xfrm>
        </p:spPr>
        <p:txBody>
          <a:bodyPr/>
          <a:lstStyle/>
          <a:p>
            <a:r>
              <a:rPr lang="en-US" dirty="0"/>
              <a:t>DIGGS Data Model</a:t>
            </a:r>
          </a:p>
        </p:txBody>
      </p:sp>
    </p:spTree>
    <p:extLst>
      <p:ext uri="{BB962C8B-B14F-4D97-AF65-F5344CB8AC3E}">
        <p14:creationId xmlns:p14="http://schemas.microsoft.com/office/powerpoint/2010/main" val="3080568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021E3-86AF-054E-001B-F8C16B2A08B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A47ACF-EC5A-2A1E-2958-C7BBC26796A2}"/>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2" name="Title 1">
            <a:extLst>
              <a:ext uri="{FF2B5EF4-FFF2-40B4-BE49-F238E27FC236}">
                <a16:creationId xmlns:a16="http://schemas.microsoft.com/office/drawing/2014/main" id="{D7103EDC-1E1E-2FCF-5585-73FAA8ABB098}"/>
              </a:ext>
            </a:extLst>
          </p:cNvPr>
          <p:cNvSpPr>
            <a:spLocks noGrp="1"/>
          </p:cNvSpPr>
          <p:nvPr>
            <p:ph type="title"/>
          </p:nvPr>
        </p:nvSpPr>
        <p:spPr>
          <a:xfrm>
            <a:off x="376178" y="190555"/>
            <a:ext cx="8229600" cy="1066800"/>
          </a:xfrm>
        </p:spPr>
        <p:txBody>
          <a:bodyPr/>
          <a:lstStyle/>
          <a:p>
            <a:r>
              <a:rPr lang="en-US" dirty="0"/>
              <a:t>DIGGS Data Model</a:t>
            </a:r>
          </a:p>
        </p:txBody>
      </p:sp>
      <p:sp>
        <p:nvSpPr>
          <p:cNvPr id="3" name="Content Placeholder 2">
            <a:extLst>
              <a:ext uri="{FF2B5EF4-FFF2-40B4-BE49-F238E27FC236}">
                <a16:creationId xmlns:a16="http://schemas.microsoft.com/office/drawing/2014/main" id="{BDA8DF2D-BD69-8CD2-F39D-C803B6794E69}"/>
              </a:ext>
            </a:extLst>
          </p:cNvPr>
          <p:cNvSpPr>
            <a:spLocks noGrp="1"/>
          </p:cNvSpPr>
          <p:nvPr>
            <p:ph idx="1"/>
          </p:nvPr>
        </p:nvSpPr>
        <p:spPr/>
        <p:txBody>
          <a:bodyPr/>
          <a:lstStyle/>
          <a:p>
            <a:endParaRPr lang="en-US" dirty="0"/>
          </a:p>
        </p:txBody>
      </p:sp>
      <p:sp>
        <p:nvSpPr>
          <p:cNvPr id="5" name="Right Arrow 4">
            <a:extLst>
              <a:ext uri="{FF2B5EF4-FFF2-40B4-BE49-F238E27FC236}">
                <a16:creationId xmlns:a16="http://schemas.microsoft.com/office/drawing/2014/main" id="{2630C46B-0677-78DC-0FB6-C1A43C2B490D}"/>
              </a:ext>
            </a:extLst>
          </p:cNvPr>
          <p:cNvSpPr/>
          <p:nvPr/>
        </p:nvSpPr>
        <p:spPr>
          <a:xfrm rot="8133317">
            <a:off x="4321591" y="2067860"/>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01775A-086F-C005-5FA5-51196CD33E27}"/>
              </a:ext>
            </a:extLst>
          </p:cNvPr>
          <p:cNvSpPr txBox="1"/>
          <p:nvPr/>
        </p:nvSpPr>
        <p:spPr>
          <a:xfrm>
            <a:off x="4932660" y="1515371"/>
            <a:ext cx="3370531" cy="2000548"/>
          </a:xfrm>
          <a:prstGeom prst="rect">
            <a:avLst/>
          </a:prstGeom>
          <a:solidFill>
            <a:schemeClr val="bg1"/>
          </a:solidFill>
          <a:ln>
            <a:solidFill>
              <a:schemeClr val="tx1"/>
            </a:solidFill>
          </a:ln>
        </p:spPr>
        <p:txBody>
          <a:bodyPr wrap="square" rtlCol="0">
            <a:spAutoFit/>
          </a:bodyPr>
          <a:lstStyle/>
          <a:p>
            <a:pPr algn="ctr"/>
            <a:r>
              <a:rPr lang="en-US" sz="1400" b="1" dirty="0"/>
              <a:t>Project</a:t>
            </a:r>
          </a:p>
          <a:p>
            <a:r>
              <a:rPr lang="en-US" sz="1100" dirty="0"/>
              <a:t>A collection of sampling features, activities, samples, observation systems and measurements that form a business activity. </a:t>
            </a:r>
          </a:p>
          <a:p>
            <a:pPr marL="285750" indent="-285750">
              <a:buFont typeface="Arial" panose="020B0604020202020204" pitchFamily="34" charset="0"/>
              <a:buChar char="•"/>
            </a:pPr>
            <a:r>
              <a:rPr lang="en-US" sz="1100" dirty="0"/>
              <a:t>All classes of DIGGS objects must belong to a project</a:t>
            </a:r>
          </a:p>
          <a:p>
            <a:pPr marL="285750" indent="-285750">
              <a:buFont typeface="Arial" panose="020B0604020202020204" pitchFamily="34" charset="0"/>
              <a:buChar char="•"/>
            </a:pPr>
            <a:r>
              <a:rPr lang="en-US" sz="1100" dirty="0"/>
              <a:t>Currently only one (generic) concrete Project object exists</a:t>
            </a:r>
          </a:p>
          <a:p>
            <a:pPr marL="285750" indent="-285750">
              <a:buFont typeface="Arial" panose="020B0604020202020204" pitchFamily="34" charset="0"/>
              <a:buChar char="•"/>
            </a:pPr>
            <a:r>
              <a:rPr lang="en-US" sz="1100" dirty="0"/>
              <a:t>Contains optional location properties and those associated with a business activity – </a:t>
            </a:r>
            <a:r>
              <a:rPr lang="en-US" sz="1100" dirty="0" err="1"/>
              <a:t>eg.</a:t>
            </a:r>
            <a:r>
              <a:rPr lang="en-US" sz="1100" dirty="0"/>
              <a:t> purpose, events, contracts</a:t>
            </a:r>
          </a:p>
        </p:txBody>
      </p:sp>
    </p:spTree>
    <p:extLst>
      <p:ext uri="{BB962C8B-B14F-4D97-AF65-F5344CB8AC3E}">
        <p14:creationId xmlns:p14="http://schemas.microsoft.com/office/powerpoint/2010/main" val="572472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65723-4DF5-C455-D0F6-8803AA75555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95E2BC-E418-8171-5634-04B21D5F7EAB}"/>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11" name="Right Arrow 10">
            <a:extLst>
              <a:ext uri="{FF2B5EF4-FFF2-40B4-BE49-F238E27FC236}">
                <a16:creationId xmlns:a16="http://schemas.microsoft.com/office/drawing/2014/main" id="{1877738F-C6EB-3FB1-0129-3DCDE6796201}"/>
              </a:ext>
            </a:extLst>
          </p:cNvPr>
          <p:cNvSpPr/>
          <p:nvPr/>
        </p:nvSpPr>
        <p:spPr>
          <a:xfrm rot="8133317">
            <a:off x="4386786" y="3554869"/>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C65D445-10A1-55E7-00D4-1347B51FF339}"/>
              </a:ext>
            </a:extLst>
          </p:cNvPr>
          <p:cNvSpPr txBox="1"/>
          <p:nvPr/>
        </p:nvSpPr>
        <p:spPr>
          <a:xfrm>
            <a:off x="4953894" y="3019965"/>
            <a:ext cx="3370531" cy="1323439"/>
          </a:xfrm>
          <a:prstGeom prst="rect">
            <a:avLst/>
          </a:prstGeom>
          <a:solidFill>
            <a:schemeClr val="bg1"/>
          </a:solidFill>
          <a:ln>
            <a:solidFill>
              <a:schemeClr val="tx1"/>
            </a:solidFill>
          </a:ln>
        </p:spPr>
        <p:txBody>
          <a:bodyPr wrap="square" rtlCol="0">
            <a:spAutoFit/>
          </a:bodyPr>
          <a:lstStyle/>
          <a:p>
            <a:pPr algn="ctr"/>
            <a:r>
              <a:rPr lang="en-US" sz="1400" b="1" dirty="0"/>
              <a:t>Sampling Feature</a:t>
            </a:r>
          </a:p>
          <a:p>
            <a:r>
              <a:rPr lang="en-US" sz="1100" dirty="0"/>
              <a:t>A physical object or location through which we observe or measure properties of the earth, or perform some type of activity. It serves to define the dimensionality, extent, and local spatial reference system for zones where observations or activities take place.</a:t>
            </a:r>
          </a:p>
        </p:txBody>
      </p:sp>
      <p:sp>
        <p:nvSpPr>
          <p:cNvPr id="2" name="Title 1">
            <a:extLst>
              <a:ext uri="{FF2B5EF4-FFF2-40B4-BE49-F238E27FC236}">
                <a16:creationId xmlns:a16="http://schemas.microsoft.com/office/drawing/2014/main" id="{62081111-B9C6-5864-B880-300B6BFB111D}"/>
              </a:ext>
            </a:extLst>
          </p:cNvPr>
          <p:cNvSpPr>
            <a:spLocks noGrp="1"/>
          </p:cNvSpPr>
          <p:nvPr>
            <p:ph type="title"/>
          </p:nvPr>
        </p:nvSpPr>
        <p:spPr>
          <a:xfrm>
            <a:off x="376178" y="190555"/>
            <a:ext cx="8229600" cy="1066800"/>
          </a:xfrm>
        </p:spPr>
        <p:txBody>
          <a:bodyPr/>
          <a:lstStyle/>
          <a:p>
            <a:r>
              <a:rPr lang="en-US" dirty="0"/>
              <a:t>DIGGS Data Model</a:t>
            </a:r>
          </a:p>
        </p:txBody>
      </p:sp>
    </p:spTree>
    <p:extLst>
      <p:ext uri="{BB962C8B-B14F-4D97-AF65-F5344CB8AC3E}">
        <p14:creationId xmlns:p14="http://schemas.microsoft.com/office/powerpoint/2010/main" val="4060412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09" name="Group 3"/>
          <p:cNvGrpSpPr>
            <a:grpSpLocks/>
          </p:cNvGrpSpPr>
          <p:nvPr/>
        </p:nvGrpSpPr>
        <p:grpSpPr bwMode="auto">
          <a:xfrm>
            <a:off x="4572000" y="3429000"/>
            <a:ext cx="3810000" cy="2628900"/>
            <a:chOff x="4572000" y="3429000"/>
            <a:chExt cx="3810000" cy="2628900"/>
          </a:xfrm>
        </p:grpSpPr>
        <p:grpSp>
          <p:nvGrpSpPr>
            <p:cNvPr id="43017" name="Group 8"/>
            <p:cNvGrpSpPr>
              <a:grpSpLocks/>
            </p:cNvGrpSpPr>
            <p:nvPr/>
          </p:nvGrpSpPr>
          <p:grpSpPr bwMode="auto">
            <a:xfrm>
              <a:off x="5867400" y="3429000"/>
              <a:ext cx="2514600" cy="1689100"/>
              <a:chOff x="5867400" y="3429000"/>
              <a:chExt cx="2514600" cy="1689100"/>
            </a:xfrm>
          </p:grpSpPr>
          <p:pic>
            <p:nvPicPr>
              <p:cNvPr id="43021" name="Picture 7"/>
              <p:cNvPicPr>
                <a:picLocks noChangeAspect="1"/>
              </p:cNvPicPr>
              <p:nvPr/>
            </p:nvPicPr>
            <p:blipFill>
              <a:blip r:embed="rId2">
                <a:extLst>
                  <a:ext uri="{28A0092B-C50C-407E-A947-70E740481C1C}">
                    <a14:useLocalDpi xmlns:a14="http://schemas.microsoft.com/office/drawing/2010/main" val="0"/>
                  </a:ext>
                </a:extLst>
              </a:blip>
              <a:srcRect l="53503" t="34076" r="4459" b="23567"/>
              <a:stretch>
                <a:fillRect/>
              </a:stretch>
            </p:blipFill>
            <p:spPr bwMode="auto">
              <a:xfrm>
                <a:off x="5867400" y="3429000"/>
                <a:ext cx="2514600" cy="168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Rectangle 2"/>
              <p:cNvSpPr/>
              <p:nvPr/>
            </p:nvSpPr>
            <p:spPr>
              <a:xfrm>
                <a:off x="5867400" y="3429000"/>
                <a:ext cx="2514600" cy="16764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3018" name="Group 11"/>
            <p:cNvGrpSpPr>
              <a:grpSpLocks/>
            </p:cNvGrpSpPr>
            <p:nvPr/>
          </p:nvGrpSpPr>
          <p:grpSpPr bwMode="auto">
            <a:xfrm>
              <a:off x="4572000" y="3429000"/>
              <a:ext cx="228600" cy="2628900"/>
              <a:chOff x="4572000" y="3429000"/>
              <a:chExt cx="228600" cy="2628900"/>
            </a:xfrm>
          </p:grpSpPr>
          <p:pic>
            <p:nvPicPr>
              <p:cNvPr id="43019" name="Picture 7"/>
              <p:cNvPicPr>
                <a:picLocks noChangeAspect="1"/>
              </p:cNvPicPr>
              <p:nvPr/>
            </p:nvPicPr>
            <p:blipFill>
              <a:blip r:embed="rId2">
                <a:extLst>
                  <a:ext uri="{28A0092B-C50C-407E-A947-70E740481C1C}">
                    <a14:useLocalDpi xmlns:a14="http://schemas.microsoft.com/office/drawing/2010/main" val="0"/>
                  </a:ext>
                </a:extLst>
              </a:blip>
              <a:srcRect l="31847" t="34076" r="64331"/>
              <a:stretch>
                <a:fillRect/>
              </a:stretch>
            </p:blipFill>
            <p:spPr bwMode="auto">
              <a:xfrm>
                <a:off x="4572000" y="3429000"/>
                <a:ext cx="228600" cy="2628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Rectangle 9"/>
              <p:cNvSpPr/>
              <p:nvPr/>
            </p:nvSpPr>
            <p:spPr>
              <a:xfrm>
                <a:off x="4572000" y="3429000"/>
                <a:ext cx="228600" cy="25908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pic>
        <p:nvPicPr>
          <p:cNvPr id="34817"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057400"/>
            <a:ext cx="5981700" cy="3987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3011" name="Title 1"/>
          <p:cNvSpPr>
            <a:spLocks noGrp="1"/>
          </p:cNvSpPr>
          <p:nvPr>
            <p:ph type="title"/>
          </p:nvPr>
        </p:nvSpPr>
        <p:spPr>
          <a:xfrm>
            <a:off x="482600" y="838200"/>
            <a:ext cx="8229600" cy="1066800"/>
          </a:xfrm>
        </p:spPr>
        <p:txBody>
          <a:bodyPr/>
          <a:lstStyle/>
          <a:p>
            <a:pPr eaLnBrk="1" hangingPunct="1"/>
            <a:r>
              <a:rPr lang="en-US" dirty="0"/>
              <a:t>We observe/measure properties of the earth via a </a:t>
            </a:r>
            <a:r>
              <a:rPr lang="en-US" i="1" dirty="0"/>
              <a:t>sampling feature</a:t>
            </a:r>
          </a:p>
        </p:txBody>
      </p:sp>
      <p:sp>
        <p:nvSpPr>
          <p:cNvPr id="2" name="Rectangle 1"/>
          <p:cNvSpPr/>
          <p:nvPr/>
        </p:nvSpPr>
        <p:spPr bwMode="auto">
          <a:xfrm>
            <a:off x="4572000" y="3429000"/>
            <a:ext cx="228600" cy="2590800"/>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5850" name="TextBox 15"/>
          <p:cNvSpPr txBox="1">
            <a:spLocks noChangeArrowheads="1"/>
          </p:cNvSpPr>
          <p:nvPr/>
        </p:nvSpPr>
        <p:spPr bwMode="auto">
          <a:xfrm>
            <a:off x="4191000" y="6019800"/>
            <a:ext cx="11430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Borehole</a:t>
            </a:r>
          </a:p>
        </p:txBody>
      </p:sp>
      <p:sp>
        <p:nvSpPr>
          <p:cNvPr id="14" name="Rectangle 13"/>
          <p:cNvSpPr/>
          <p:nvPr/>
        </p:nvSpPr>
        <p:spPr bwMode="auto">
          <a:xfrm>
            <a:off x="5867400" y="3429000"/>
            <a:ext cx="2514600" cy="1676400"/>
          </a:xfrm>
          <a:prstGeom prst="rect">
            <a:avLst/>
          </a:prstGeom>
          <a:solidFill>
            <a:srgbClr val="BFBFB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5848" name="TextBox 21"/>
          <p:cNvSpPr txBox="1">
            <a:spLocks noChangeArrowheads="1"/>
          </p:cNvSpPr>
          <p:nvPr/>
        </p:nvSpPr>
        <p:spPr bwMode="auto">
          <a:xfrm>
            <a:off x="6567055" y="5105400"/>
            <a:ext cx="135774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dirty="0" err="1"/>
              <a:t>TrenchWall</a:t>
            </a:r>
            <a:endParaRPr lang="en-US" sz="1800" dirty="0"/>
          </a:p>
        </p:txBody>
      </p:sp>
    </p:spTree>
    <p:extLst>
      <p:ext uri="{BB962C8B-B14F-4D97-AF65-F5344CB8AC3E}">
        <p14:creationId xmlns:p14="http://schemas.microsoft.com/office/powerpoint/2010/main" val="1044304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8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xit" presetSubtype="0" fill="hold" grpId="1" nodeType="clickEffect">
                                  <p:stCondLst>
                                    <p:cond delay="0"/>
                                  </p:stCondLst>
                                  <p:childTnLst>
                                    <p:animEffect transition="out" filter="fade">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
                                        </p:tgtEl>
                                      </p:cBhvr>
                                    </p:animEffect>
                                    <p:set>
                                      <p:cBhvr>
                                        <p:cTn id="22" dur="1" fill="hold">
                                          <p:stCondLst>
                                            <p:cond delay="499"/>
                                          </p:stCondLst>
                                        </p:cTn>
                                        <p:tgtEl>
                                          <p:spTgt spid="2"/>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34817"/>
                                        </p:tgtEl>
                                      </p:cBhvr>
                                    </p:animEffect>
                                    <p:set>
                                      <p:cBhvr>
                                        <p:cTn id="25" dur="1" fill="hold">
                                          <p:stCondLst>
                                            <p:cond delay="499"/>
                                          </p:stCondLst>
                                        </p:cTn>
                                        <p:tgtEl>
                                          <p:spTgt spid="348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5850" grpId="0"/>
      <p:bldP spid="14" grpId="0" animBg="1"/>
      <p:bldP spid="14" grpId="1" animBg="1"/>
      <p:bldP spid="3584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457200" y="381000"/>
            <a:ext cx="8229600" cy="1066800"/>
          </a:xfrm>
        </p:spPr>
        <p:txBody>
          <a:bodyPr/>
          <a:lstStyle/>
          <a:p>
            <a:pPr eaLnBrk="1" hangingPunct="1"/>
            <a:r>
              <a:rPr lang="en-US" dirty="0"/>
              <a:t>Diggs Sampling Features (v. 3.0)</a:t>
            </a:r>
          </a:p>
        </p:txBody>
      </p:sp>
      <p:sp>
        <p:nvSpPr>
          <p:cNvPr id="5" name="TextBox 4"/>
          <p:cNvSpPr txBox="1"/>
          <p:nvPr/>
        </p:nvSpPr>
        <p:spPr>
          <a:xfrm>
            <a:off x="629587" y="1356610"/>
            <a:ext cx="4584700" cy="4801314"/>
          </a:xfrm>
          <a:prstGeom prst="rect">
            <a:avLst/>
          </a:prstGeom>
          <a:noFill/>
        </p:spPr>
        <p:txBody>
          <a:bodyPr wrap="square">
            <a:spAutoFit/>
          </a:bodyPr>
          <a:lstStyle/>
          <a:p>
            <a:pPr>
              <a:defRPr/>
            </a:pPr>
            <a:r>
              <a:rPr lang="en-US" dirty="0"/>
              <a:t>0D (modeled by a GML Point)</a:t>
            </a:r>
          </a:p>
          <a:p>
            <a:pPr marL="342900" indent="-342900">
              <a:buFont typeface="Arial"/>
              <a:buChar char="•"/>
              <a:defRPr/>
            </a:pPr>
            <a:r>
              <a:rPr lang="en-US" dirty="0"/>
              <a:t>Station</a:t>
            </a:r>
          </a:p>
          <a:p>
            <a:pPr>
              <a:defRPr/>
            </a:pPr>
            <a:endParaRPr lang="en-US" dirty="0"/>
          </a:p>
          <a:p>
            <a:pPr>
              <a:defRPr/>
            </a:pPr>
            <a:r>
              <a:rPr lang="en-US" dirty="0"/>
              <a:t>1D (modeled by a GML </a:t>
            </a:r>
            <a:r>
              <a:rPr lang="en-US" dirty="0" err="1"/>
              <a:t>LineString</a:t>
            </a:r>
            <a:r>
              <a:rPr lang="en-US" dirty="0"/>
              <a:t>)</a:t>
            </a:r>
          </a:p>
          <a:p>
            <a:pPr marL="342900" indent="-342900">
              <a:buFont typeface="Arial"/>
              <a:buChar char="•"/>
              <a:defRPr/>
            </a:pPr>
            <a:r>
              <a:rPr lang="en-US" dirty="0"/>
              <a:t>Borehole</a:t>
            </a:r>
          </a:p>
          <a:p>
            <a:pPr marL="342900" indent="-342900">
              <a:buFont typeface="Arial"/>
              <a:buChar char="•"/>
              <a:defRPr/>
            </a:pPr>
            <a:r>
              <a:rPr lang="en-US" dirty="0"/>
              <a:t>Sounding</a:t>
            </a:r>
          </a:p>
          <a:p>
            <a:pPr marL="342900" indent="-342900">
              <a:buFont typeface="Arial"/>
              <a:buChar char="•"/>
              <a:defRPr/>
            </a:pPr>
            <a:r>
              <a:rPr lang="en-US" dirty="0"/>
              <a:t>Transect</a:t>
            </a:r>
          </a:p>
          <a:p>
            <a:pPr marL="342900" indent="-342900">
              <a:buFont typeface="Arial"/>
              <a:buChar char="•"/>
              <a:defRPr/>
            </a:pPr>
            <a:r>
              <a:rPr lang="en-US" dirty="0" err="1"/>
              <a:t>TrialPit</a:t>
            </a:r>
            <a:r>
              <a:rPr lang="en-US" dirty="0"/>
              <a:t> (AGS Legacy)</a:t>
            </a:r>
          </a:p>
          <a:p>
            <a:pPr marL="342900" indent="-342900">
              <a:buFont typeface="Arial"/>
              <a:buChar char="•"/>
              <a:defRPr/>
            </a:pPr>
            <a:r>
              <a:rPr lang="en-US" dirty="0" err="1"/>
              <a:t>GP_Trackline</a:t>
            </a:r>
            <a:endParaRPr lang="en-US" dirty="0"/>
          </a:p>
          <a:p>
            <a:pPr marL="342900" indent="-342900">
              <a:buFont typeface="Arial"/>
              <a:buChar char="•"/>
              <a:defRPr/>
            </a:pPr>
            <a:r>
              <a:rPr lang="en-US" dirty="0" err="1"/>
              <a:t>GroutTrenchCutoffWall</a:t>
            </a:r>
            <a:endParaRPr lang="en-US" dirty="0"/>
          </a:p>
          <a:p>
            <a:pPr marL="342900" indent="-342900">
              <a:buFont typeface="Arial"/>
              <a:buChar char="•"/>
              <a:defRPr/>
            </a:pPr>
            <a:r>
              <a:rPr lang="en-US" dirty="0"/>
              <a:t>Installations</a:t>
            </a:r>
          </a:p>
          <a:p>
            <a:pPr marL="800100" lvl="1" indent="-342900">
              <a:buFont typeface="Arial"/>
              <a:buChar char="•"/>
              <a:defRPr/>
            </a:pPr>
            <a:r>
              <a:rPr lang="en-US" dirty="0"/>
              <a:t>Well</a:t>
            </a:r>
          </a:p>
          <a:p>
            <a:pPr marL="800100" lvl="1" indent="-342900">
              <a:buFont typeface="Arial"/>
              <a:buChar char="•"/>
              <a:defRPr/>
            </a:pPr>
            <a:r>
              <a:rPr lang="en-US" dirty="0" err="1"/>
              <a:t>ConcretePile</a:t>
            </a:r>
            <a:endParaRPr lang="en-US" dirty="0"/>
          </a:p>
          <a:p>
            <a:pPr marL="800100" lvl="1" indent="-342900">
              <a:buFont typeface="Arial"/>
              <a:buChar char="•"/>
              <a:defRPr/>
            </a:pPr>
            <a:r>
              <a:rPr lang="en-US" dirty="0" err="1"/>
              <a:t>SteelHPile</a:t>
            </a:r>
            <a:endParaRPr lang="en-US" dirty="0"/>
          </a:p>
          <a:p>
            <a:pPr marL="800100" lvl="1" indent="-342900">
              <a:buFont typeface="Arial"/>
              <a:buChar char="•"/>
              <a:defRPr/>
            </a:pPr>
            <a:r>
              <a:rPr lang="en-US" dirty="0" err="1"/>
              <a:t>SteelPipePile</a:t>
            </a:r>
            <a:endParaRPr lang="en-US" dirty="0"/>
          </a:p>
          <a:p>
            <a:pPr marL="800100" lvl="1" indent="-342900">
              <a:buFont typeface="Arial"/>
              <a:buChar char="•"/>
              <a:defRPr/>
            </a:pPr>
            <a:r>
              <a:rPr lang="en-US" dirty="0" err="1"/>
              <a:t>TimberPile</a:t>
            </a:r>
            <a:endParaRPr lang="en-US" dirty="0"/>
          </a:p>
          <a:p>
            <a:pPr marL="342900" indent="-342900">
              <a:buFont typeface="Arial"/>
              <a:buChar char="•"/>
              <a:defRPr/>
            </a:pPr>
            <a:endParaRPr lang="en-US" dirty="0"/>
          </a:p>
        </p:txBody>
      </p:sp>
      <p:sp>
        <p:nvSpPr>
          <p:cNvPr id="2" name="TextBox 1">
            <a:extLst>
              <a:ext uri="{FF2B5EF4-FFF2-40B4-BE49-F238E27FC236}">
                <a16:creationId xmlns:a16="http://schemas.microsoft.com/office/drawing/2014/main" id="{750C67C7-B6A7-CDE3-4B54-6490D245DA80}"/>
              </a:ext>
            </a:extLst>
          </p:cNvPr>
          <p:cNvSpPr txBox="1"/>
          <p:nvPr/>
        </p:nvSpPr>
        <p:spPr>
          <a:xfrm>
            <a:off x="4871802" y="1356610"/>
            <a:ext cx="3535968" cy="2585323"/>
          </a:xfrm>
          <a:prstGeom prst="rect">
            <a:avLst/>
          </a:prstGeom>
          <a:noFill/>
        </p:spPr>
        <p:txBody>
          <a:bodyPr wrap="none" rtlCol="0">
            <a:spAutoFit/>
          </a:bodyPr>
          <a:lstStyle/>
          <a:p>
            <a:pPr>
              <a:defRPr/>
            </a:pPr>
            <a:r>
              <a:rPr lang="en-US" dirty="0"/>
              <a:t>2D (modeled by a GML Polygon)</a:t>
            </a:r>
          </a:p>
          <a:p>
            <a:pPr marL="342900" indent="-342900">
              <a:buFont typeface="Arial"/>
              <a:buChar char="•"/>
              <a:defRPr/>
            </a:pPr>
            <a:r>
              <a:rPr lang="en-US" dirty="0" err="1"/>
              <a:t>GP_ArealSurvey</a:t>
            </a:r>
            <a:endParaRPr lang="en-US" dirty="0"/>
          </a:p>
          <a:p>
            <a:pPr marL="342900" indent="-342900">
              <a:buFont typeface="Arial"/>
              <a:buChar char="•"/>
              <a:defRPr/>
            </a:pPr>
            <a:r>
              <a:rPr lang="en-US" dirty="0" err="1"/>
              <a:t>PlanarSamplingFeature</a:t>
            </a:r>
            <a:endParaRPr lang="en-US" dirty="0"/>
          </a:p>
          <a:p>
            <a:pPr marL="342900" indent="-342900">
              <a:buFont typeface="Arial"/>
              <a:buChar char="•"/>
              <a:defRPr/>
            </a:pPr>
            <a:r>
              <a:rPr lang="en-US" dirty="0" err="1"/>
              <a:t>TrenchWall</a:t>
            </a:r>
            <a:endParaRPr lang="en-US" dirty="0"/>
          </a:p>
          <a:p>
            <a:pPr marL="342900" indent="-342900">
              <a:buFont typeface="Arial"/>
              <a:buChar char="•"/>
              <a:defRPr/>
            </a:pPr>
            <a:endParaRPr lang="en-US" dirty="0"/>
          </a:p>
          <a:p>
            <a:pPr>
              <a:defRPr/>
            </a:pPr>
            <a:r>
              <a:rPr lang="en-US" dirty="0"/>
              <a:t>3D (modeled by a GML Solid)</a:t>
            </a:r>
          </a:p>
          <a:p>
            <a:pPr marL="342900" indent="-342900">
              <a:buFont typeface="Arial"/>
              <a:buChar char="•"/>
              <a:defRPr/>
            </a:pPr>
            <a:r>
              <a:rPr lang="en-US" dirty="0" err="1"/>
              <a:t>VolumetricSamplingFeature</a:t>
            </a:r>
            <a:endParaRPr lang="en-US" dirty="0"/>
          </a:p>
          <a:p>
            <a:pPr marL="342900" indent="-342900">
              <a:buFont typeface="Arial"/>
              <a:buChar char="•"/>
              <a:defRPr/>
            </a:pPr>
            <a:endParaRPr lang="en-US" dirty="0"/>
          </a:p>
          <a:p>
            <a:endParaRPr lang="en-US" dirty="0"/>
          </a:p>
        </p:txBody>
      </p:sp>
    </p:spTree>
    <p:extLst>
      <p:ext uri="{BB962C8B-B14F-4D97-AF65-F5344CB8AC3E}">
        <p14:creationId xmlns:p14="http://schemas.microsoft.com/office/powerpoint/2010/main" val="250119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00" y="1595342"/>
            <a:ext cx="8229600" cy="4324350"/>
          </a:xfrm>
        </p:spPr>
        <p:txBody>
          <a:bodyPr/>
          <a:lstStyle/>
          <a:p>
            <a:r>
              <a:rPr lang="en-US" dirty="0"/>
              <a:t>1D (Linear) Sampling Features (Borehole)</a:t>
            </a:r>
          </a:p>
          <a:p>
            <a:pPr lvl="1"/>
            <a:r>
              <a:rPr lang="en-US" dirty="0" err="1"/>
              <a:t>referencePoint</a:t>
            </a:r>
            <a:r>
              <a:rPr lang="en-US" dirty="0"/>
              <a:t> (GML point)</a:t>
            </a:r>
          </a:p>
          <a:p>
            <a:pPr lvl="2"/>
            <a:r>
              <a:rPr lang="en-US" dirty="0"/>
              <a:t>Usually at one end of the borehole path</a:t>
            </a:r>
          </a:p>
          <a:p>
            <a:pPr lvl="3"/>
            <a:r>
              <a:rPr lang="en-US" dirty="0" err="1"/>
              <a:t>Eg</a:t>
            </a:r>
            <a:r>
              <a:rPr lang="en-US" dirty="0"/>
              <a:t>. top of hole at land surface, rig table, etc.)</a:t>
            </a:r>
          </a:p>
          <a:p>
            <a:pPr lvl="2"/>
            <a:r>
              <a:rPr lang="en-US" dirty="0"/>
              <a:t>Represented in 3 dimensions (x, y, z)</a:t>
            </a:r>
          </a:p>
          <a:p>
            <a:pPr lvl="2"/>
            <a:r>
              <a:rPr lang="en-US" dirty="0"/>
              <a:t>Useful for map view representations</a:t>
            </a:r>
          </a:p>
        </p:txBody>
      </p:sp>
      <p:cxnSp>
        <p:nvCxnSpPr>
          <p:cNvPr id="5" name="Straight Connector 4"/>
          <p:cNvCxnSpPr/>
          <p:nvPr/>
        </p:nvCxnSpPr>
        <p:spPr>
          <a:xfrm>
            <a:off x="7632700" y="2603500"/>
            <a:ext cx="0" cy="2641600"/>
          </a:xfrm>
          <a:prstGeom prst="line">
            <a:avLst/>
          </a:prstGeom>
          <a:ln w="76200" cmpd="sng">
            <a:solidFill>
              <a:schemeClr val="bg2"/>
            </a:solidFill>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6743700" y="25908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Oval 6"/>
          <p:cNvSpPr/>
          <p:nvPr/>
        </p:nvSpPr>
        <p:spPr>
          <a:xfrm>
            <a:off x="7518400" y="25400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6540500" y="18415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cxnSp>
        <p:nvCxnSpPr>
          <p:cNvPr id="10" name="Straight Arrow Connector 9"/>
          <p:cNvCxnSpPr>
            <a:endCxn id="7" idx="1"/>
          </p:cNvCxnSpPr>
          <p:nvPr/>
        </p:nvCxnSpPr>
        <p:spPr>
          <a:xfrm>
            <a:off x="7200900" y="2260600"/>
            <a:ext cx="349118" cy="2979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0" y="5003800"/>
            <a:ext cx="6429965" cy="1354217"/>
          </a:xfrm>
          <a:prstGeom prst="rect">
            <a:avLst/>
          </a:prstGeom>
          <a:noFill/>
        </p:spPr>
        <p:txBody>
          <a:bodyPr wrap="none" rtlCol="0">
            <a:spAutoFit/>
          </a:bodyPr>
          <a:lstStyle/>
          <a:p>
            <a:r>
              <a:rPr lang="en-US" sz="1000" dirty="0"/>
              <a:t>&lt;</a:t>
            </a:r>
            <a:r>
              <a:rPr lang="en-US" sz="1000" dirty="0" err="1"/>
              <a:t>referencePoint</a:t>
            </a:r>
            <a:r>
              <a:rPr lang="en-US" sz="1000" dirty="0"/>
              <a:t>&gt;</a:t>
            </a:r>
            <a:br>
              <a:rPr lang="en-US" sz="1000" dirty="0"/>
            </a:br>
            <a:r>
              <a:rPr lang="en-US" sz="1000" dirty="0"/>
              <a:t>    &lt;</a:t>
            </a:r>
            <a:r>
              <a:rPr lang="en-US" sz="1000" dirty="0" err="1"/>
              <a:t>PointLocation</a:t>
            </a:r>
            <a:r>
              <a:rPr lang="en-US" sz="1000" dirty="0"/>
              <a:t> </a:t>
            </a:r>
            <a:r>
              <a:rPr lang="en-US" sz="1000" dirty="0" err="1"/>
              <a:t>gml:id</a:t>
            </a:r>
            <a:r>
              <a:rPr lang="en-US" sz="1000" dirty="0"/>
              <a:t>="pl-B-01" </a:t>
            </a:r>
            <a:r>
              <a:rPr lang="en-US" sz="1000" dirty="0" err="1"/>
              <a:t>srsDimension</a:t>
            </a:r>
            <a:r>
              <a:rPr lang="en-US" sz="1000" dirty="0"/>
              <a:t>="3" </a:t>
            </a:r>
          </a:p>
          <a:p>
            <a:r>
              <a:rPr lang="en-US" sz="1000" dirty="0"/>
              <a:t>      </a:t>
            </a:r>
            <a:r>
              <a:rPr lang="en-US" sz="1000" dirty="0" err="1"/>
              <a:t>srsName</a:t>
            </a:r>
            <a:r>
              <a:rPr lang="en-US" sz="1000" dirty="0"/>
              <a:t>="https://</a:t>
            </a:r>
            <a:r>
              <a:rPr lang="en-US" sz="1000" dirty="0" err="1"/>
              <a:t>www.opengis.net</a:t>
            </a:r>
            <a:r>
              <a:rPr lang="en-US" sz="1000" dirty="0"/>
              <a:t>/def/crs-compound?1=http://</a:t>
            </a:r>
            <a:r>
              <a:rPr lang="en-US" sz="1000" dirty="0" err="1"/>
              <a:t>www.opengis.net</a:t>
            </a:r>
            <a:r>
              <a:rPr lang="en-US" sz="1000" dirty="0"/>
              <a:t>/def/</a:t>
            </a:r>
            <a:r>
              <a:rPr lang="en-US" sz="1000" dirty="0" err="1"/>
              <a:t>crs</a:t>
            </a:r>
            <a:r>
              <a:rPr lang="en-US" sz="1000" dirty="0"/>
              <a:t>/EPSG/0/4326%26</a:t>
            </a:r>
          </a:p>
          <a:p>
            <a:r>
              <a:rPr lang="en-US" sz="1000" dirty="0"/>
              <a:t>      2=http://</a:t>
            </a:r>
            <a:r>
              <a:rPr lang="en-US" sz="1000" dirty="0" err="1"/>
              <a:t>www.opengis.net</a:t>
            </a:r>
            <a:r>
              <a:rPr lang="en-US" sz="1000" dirty="0"/>
              <a:t>/def/</a:t>
            </a:r>
            <a:r>
              <a:rPr lang="en-US" sz="1000" dirty="0" err="1"/>
              <a:t>crs</a:t>
            </a:r>
            <a:r>
              <a:rPr lang="en-US" sz="1000" dirty="0"/>
              <a:t>/EPSG/0/6360" </a:t>
            </a:r>
            <a:r>
              <a:rPr lang="en-US" sz="1000" dirty="0" err="1"/>
              <a:t>uomLabels</a:t>
            </a:r>
            <a:r>
              <a:rPr lang="en-US" sz="1000" dirty="0"/>
              <a:t>="</a:t>
            </a:r>
            <a:r>
              <a:rPr lang="en-US" sz="1000" dirty="0" err="1"/>
              <a:t>dega</a:t>
            </a:r>
            <a:r>
              <a:rPr lang="en-US" sz="1000" dirty="0"/>
              <a:t> </a:t>
            </a:r>
            <a:r>
              <a:rPr lang="en-US" sz="1000" dirty="0" err="1"/>
              <a:t>dega</a:t>
            </a:r>
            <a:r>
              <a:rPr lang="en-US" sz="1000" dirty="0"/>
              <a:t> ft"&gt;</a:t>
            </a:r>
            <a:br>
              <a:rPr lang="en-US" sz="1000" dirty="0"/>
            </a:br>
            <a:r>
              <a:rPr lang="en-US" sz="1000" dirty="0"/>
              <a:t>      &lt;</a:t>
            </a:r>
            <a:r>
              <a:rPr lang="en-US" sz="1000" dirty="0" err="1"/>
              <a:t>gml:pos</a:t>
            </a:r>
            <a:r>
              <a:rPr lang="en-US" sz="1000" dirty="0"/>
              <a:t>&gt;30.429139 -91.212861 19.00&lt;/</a:t>
            </a:r>
            <a:r>
              <a:rPr lang="en-US" sz="1000" dirty="0" err="1"/>
              <a:t>gml:pos</a:t>
            </a:r>
            <a:r>
              <a:rPr lang="en-US" sz="1000" dirty="0"/>
              <a:t>&gt;</a:t>
            </a:r>
            <a:br>
              <a:rPr lang="en-US" sz="1000" dirty="0"/>
            </a:br>
            <a:r>
              <a:rPr lang="en-US" sz="1000" dirty="0"/>
              <a:t>    &lt;/</a:t>
            </a:r>
            <a:r>
              <a:rPr lang="en-US" sz="1000" dirty="0" err="1"/>
              <a:t>PointLocation</a:t>
            </a:r>
            <a:r>
              <a:rPr lang="en-US" sz="1000" dirty="0"/>
              <a:t>&gt;</a:t>
            </a:r>
            <a:br>
              <a:rPr lang="en-US" sz="1000" dirty="0"/>
            </a:br>
            <a:r>
              <a:rPr lang="en-US" sz="1000" dirty="0"/>
              <a:t>&lt;/</a:t>
            </a:r>
            <a:r>
              <a:rPr lang="en-US" sz="1000" dirty="0" err="1"/>
              <a:t>referencePoint</a:t>
            </a:r>
            <a:r>
              <a:rPr lang="en-US" sz="1000" dirty="0"/>
              <a:t>&gt;</a:t>
            </a:r>
            <a:br>
              <a:rPr lang="en-US" sz="1000" dirty="0"/>
            </a:br>
            <a:r>
              <a:rPr lang="en-US" sz="1200" dirty="0"/>
              <a:t> </a:t>
            </a:r>
          </a:p>
        </p:txBody>
      </p:sp>
      <p:sp>
        <p:nvSpPr>
          <p:cNvPr id="12" name="Title 1">
            <a:extLst>
              <a:ext uri="{FF2B5EF4-FFF2-40B4-BE49-F238E27FC236}">
                <a16:creationId xmlns:a16="http://schemas.microsoft.com/office/drawing/2014/main" id="{3F675E59-5589-6C81-A918-CEAD2333E682}"/>
              </a:ext>
            </a:extLst>
          </p:cNvPr>
          <p:cNvSpPr txBox="1">
            <a:spLocks/>
          </p:cNvSpPr>
          <p:nvPr/>
        </p:nvSpPr>
        <p:spPr bwMode="auto">
          <a:xfrm>
            <a:off x="457200" y="715121"/>
            <a:ext cx="8229600" cy="6223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kern="12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Calibri" charset="0"/>
                <a:ea typeface="ＭＳ Ｐゴシック" charset="0"/>
              </a:defRPr>
            </a:lvl6pPr>
            <a:lvl7pPr marL="914400" algn="l" rtl="0" fontAlgn="base">
              <a:spcBef>
                <a:spcPct val="0"/>
              </a:spcBef>
              <a:spcAft>
                <a:spcPct val="0"/>
              </a:spcAft>
              <a:defRPr sz="4000">
                <a:solidFill>
                  <a:schemeClr val="tx2"/>
                </a:solidFill>
                <a:latin typeface="Calibri" charset="0"/>
                <a:ea typeface="ＭＳ Ｐゴシック" charset="0"/>
              </a:defRPr>
            </a:lvl7pPr>
            <a:lvl8pPr marL="1371600" algn="l" rtl="0" fontAlgn="base">
              <a:spcBef>
                <a:spcPct val="0"/>
              </a:spcBef>
              <a:spcAft>
                <a:spcPct val="0"/>
              </a:spcAft>
              <a:defRPr sz="4000">
                <a:solidFill>
                  <a:schemeClr val="tx2"/>
                </a:solidFill>
                <a:latin typeface="Calibri" charset="0"/>
                <a:ea typeface="ＭＳ Ｐゴシック" charset="0"/>
              </a:defRPr>
            </a:lvl8pPr>
            <a:lvl9pPr marL="1828800" algn="l" rtl="0" fontAlgn="base">
              <a:spcBef>
                <a:spcPct val="0"/>
              </a:spcBef>
              <a:spcAft>
                <a:spcPct val="0"/>
              </a:spcAft>
              <a:defRPr sz="4000">
                <a:solidFill>
                  <a:schemeClr val="tx2"/>
                </a:solidFill>
                <a:latin typeface="Calibri" charset="0"/>
                <a:ea typeface="ＭＳ Ｐゴシック" charset="0"/>
              </a:defRPr>
            </a:lvl9pPr>
          </a:lstStyle>
          <a:p>
            <a:r>
              <a:rPr lang="en-US" sz="3200"/>
              <a:t>Sampling Features define the geographic and geometric context of the data we obtain</a:t>
            </a:r>
            <a:endParaRPr lang="en-US" sz="3200" dirty="0"/>
          </a:p>
        </p:txBody>
      </p:sp>
    </p:spTree>
    <p:extLst>
      <p:ext uri="{BB962C8B-B14F-4D97-AF65-F5344CB8AC3E}">
        <p14:creationId xmlns:p14="http://schemas.microsoft.com/office/powerpoint/2010/main" val="1141326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081" y="1589920"/>
            <a:ext cx="6286500" cy="4324350"/>
          </a:xfrm>
        </p:spPr>
        <p:txBody>
          <a:bodyPr/>
          <a:lstStyle/>
          <a:p>
            <a:r>
              <a:rPr lang="en-US" dirty="0"/>
              <a:t>1D (Linear) Sampling Feature Geometry</a:t>
            </a:r>
          </a:p>
          <a:p>
            <a:pPr lvl="1"/>
            <a:r>
              <a:rPr lang="en-US" dirty="0" err="1"/>
              <a:t>centerLine</a:t>
            </a:r>
            <a:r>
              <a:rPr lang="en-US" dirty="0"/>
              <a:t> (GML </a:t>
            </a:r>
            <a:r>
              <a:rPr lang="en-US" dirty="0" err="1"/>
              <a:t>LineString</a:t>
            </a:r>
            <a:r>
              <a:rPr lang="en-US" dirty="0"/>
              <a:t>)</a:t>
            </a:r>
          </a:p>
          <a:p>
            <a:pPr lvl="2"/>
            <a:r>
              <a:rPr lang="en-US" dirty="0"/>
              <a:t>A connected set of vertices that define the sampling feature’s trajectory</a:t>
            </a:r>
          </a:p>
          <a:p>
            <a:pPr lvl="2"/>
            <a:r>
              <a:rPr lang="en-US" dirty="0"/>
              <a:t>Represented in 3 dimensions</a:t>
            </a:r>
          </a:p>
          <a:p>
            <a:pPr lvl="2"/>
            <a:r>
              <a:rPr lang="en-US" dirty="0"/>
              <a:t>A linear sampling feature can have more than one </a:t>
            </a:r>
            <a:r>
              <a:rPr lang="en-US" dirty="0" err="1"/>
              <a:t>centerLine</a:t>
            </a:r>
            <a:r>
              <a:rPr lang="en-US" dirty="0"/>
              <a:t> property</a:t>
            </a:r>
          </a:p>
          <a:p>
            <a:pPr lvl="2"/>
            <a:endParaRPr lang="en-US" dirty="0"/>
          </a:p>
        </p:txBody>
      </p:sp>
      <p:sp>
        <p:nvSpPr>
          <p:cNvPr id="2" name="Title 1"/>
          <p:cNvSpPr>
            <a:spLocks noGrp="1"/>
          </p:cNvSpPr>
          <p:nvPr>
            <p:ph type="title"/>
          </p:nvPr>
        </p:nvSpPr>
        <p:spPr>
          <a:xfrm>
            <a:off x="457200" y="715121"/>
            <a:ext cx="8229600" cy="622300"/>
          </a:xfrm>
        </p:spPr>
        <p:txBody>
          <a:bodyPr/>
          <a:lstStyle/>
          <a:p>
            <a:r>
              <a:rPr lang="en-US" sz="3200" dirty="0"/>
              <a:t>Sampling Features define the geographic and geometric context of the data we obtain</a:t>
            </a:r>
          </a:p>
        </p:txBody>
      </p:sp>
      <p:cxnSp>
        <p:nvCxnSpPr>
          <p:cNvPr id="5" name="Straight Connector 4"/>
          <p:cNvCxnSpPr/>
          <p:nvPr/>
        </p:nvCxnSpPr>
        <p:spPr>
          <a:xfrm>
            <a:off x="7632700" y="2603500"/>
            <a:ext cx="0" cy="26416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6743700" y="25908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Oval 6"/>
          <p:cNvSpPr/>
          <p:nvPr/>
        </p:nvSpPr>
        <p:spPr>
          <a:xfrm>
            <a:off x="7518400" y="25400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6540500" y="18415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cxnSp>
        <p:nvCxnSpPr>
          <p:cNvPr id="10" name="Straight Arrow Connector 9"/>
          <p:cNvCxnSpPr>
            <a:endCxn id="7" idx="1"/>
          </p:cNvCxnSpPr>
          <p:nvPr/>
        </p:nvCxnSpPr>
        <p:spPr>
          <a:xfrm>
            <a:off x="7200900" y="2260600"/>
            <a:ext cx="349118" cy="2979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0" y="5194300"/>
            <a:ext cx="6500497" cy="1508105"/>
          </a:xfrm>
          <a:prstGeom prst="rect">
            <a:avLst/>
          </a:prstGeom>
          <a:noFill/>
        </p:spPr>
        <p:txBody>
          <a:bodyPr wrap="none" rtlCol="0">
            <a:spAutoFit/>
          </a:bodyPr>
          <a:lstStyle/>
          <a:p>
            <a:r>
              <a:rPr lang="en-US" sz="1000" dirty="0"/>
              <a:t>&lt;</a:t>
            </a:r>
            <a:r>
              <a:rPr lang="en-US" sz="1000" dirty="0" err="1"/>
              <a:t>centerLine</a:t>
            </a:r>
            <a:r>
              <a:rPr lang="en-US" sz="1000" dirty="0"/>
              <a:t>&gt;</a:t>
            </a:r>
            <a:br>
              <a:rPr lang="en-US" sz="1000" dirty="0"/>
            </a:br>
            <a:r>
              <a:rPr lang="en-US" sz="1000" dirty="0"/>
              <a:t>   &lt;</a:t>
            </a:r>
            <a:r>
              <a:rPr lang="en-US" sz="1000" dirty="0" err="1"/>
              <a:t>LinearExtent</a:t>
            </a:r>
            <a:r>
              <a:rPr lang="en-US" sz="1000" dirty="0"/>
              <a:t> </a:t>
            </a:r>
            <a:r>
              <a:rPr lang="en-US" sz="1000" dirty="0" err="1"/>
              <a:t>gml:id</a:t>
            </a:r>
            <a:r>
              <a:rPr lang="en-US" sz="1000" dirty="0"/>
              <a:t>="cl-B-01" </a:t>
            </a:r>
            <a:r>
              <a:rPr lang="en-US" sz="1000" dirty="0" err="1"/>
              <a:t>srsDimension</a:t>
            </a:r>
            <a:r>
              <a:rPr lang="en-US" sz="1000" dirty="0"/>
              <a:t>="3" </a:t>
            </a:r>
          </a:p>
          <a:p>
            <a:r>
              <a:rPr lang="en-US" sz="1000" dirty="0"/>
              <a:t>        </a:t>
            </a:r>
            <a:r>
              <a:rPr lang="en-US" sz="1000" dirty="0" err="1"/>
              <a:t>srsName</a:t>
            </a:r>
            <a:r>
              <a:rPr lang="en-US" sz="1000" dirty="0"/>
              <a:t>="https://</a:t>
            </a:r>
            <a:r>
              <a:rPr lang="en-US" sz="1000" dirty="0" err="1"/>
              <a:t>www.opengis.net</a:t>
            </a:r>
            <a:r>
              <a:rPr lang="en-US" sz="1000" dirty="0"/>
              <a:t>/def/crs-compound?1=http://</a:t>
            </a:r>
            <a:r>
              <a:rPr lang="en-US" sz="1000" dirty="0" err="1"/>
              <a:t>www.opengis.net</a:t>
            </a:r>
            <a:r>
              <a:rPr lang="en-US" sz="1000" dirty="0"/>
              <a:t>/def/</a:t>
            </a:r>
            <a:r>
              <a:rPr lang="en-US" sz="1000" dirty="0" err="1"/>
              <a:t>crs</a:t>
            </a:r>
            <a:r>
              <a:rPr lang="en-US" sz="1000" dirty="0"/>
              <a:t>/EPSG/0/4326%26</a:t>
            </a:r>
          </a:p>
          <a:p>
            <a:r>
              <a:rPr lang="en-US" sz="1000" dirty="0"/>
              <a:t>        2=http://</a:t>
            </a:r>
            <a:r>
              <a:rPr lang="en-US" sz="1000" dirty="0" err="1"/>
              <a:t>www.opengis.net</a:t>
            </a:r>
            <a:r>
              <a:rPr lang="en-US" sz="1000" dirty="0"/>
              <a:t>/def/</a:t>
            </a:r>
            <a:r>
              <a:rPr lang="en-US" sz="1000" dirty="0" err="1"/>
              <a:t>crs</a:t>
            </a:r>
            <a:r>
              <a:rPr lang="en-US" sz="1000" dirty="0"/>
              <a:t>/EPSG/0/6360" </a:t>
            </a:r>
            <a:r>
              <a:rPr lang="en-US" sz="1000" dirty="0" err="1"/>
              <a:t>uomLabels</a:t>
            </a:r>
            <a:r>
              <a:rPr lang="en-US" sz="1000" dirty="0"/>
              <a:t>="</a:t>
            </a:r>
            <a:r>
              <a:rPr lang="en-US" sz="1000" dirty="0" err="1"/>
              <a:t>dega</a:t>
            </a:r>
            <a:r>
              <a:rPr lang="en-US" sz="1000" dirty="0"/>
              <a:t> </a:t>
            </a:r>
            <a:r>
              <a:rPr lang="en-US" sz="1000" dirty="0" err="1"/>
              <a:t>dega</a:t>
            </a:r>
            <a:r>
              <a:rPr lang="en-US" sz="1000" dirty="0"/>
              <a:t> ft"&gt;</a:t>
            </a:r>
            <a:br>
              <a:rPr lang="en-US" sz="1000" dirty="0"/>
            </a:br>
            <a:r>
              <a:rPr lang="en-US" sz="1000" dirty="0"/>
              <a:t>      &lt;</a:t>
            </a:r>
            <a:r>
              <a:rPr lang="en-US" sz="1000" dirty="0" err="1"/>
              <a:t>gml:posList</a:t>
            </a:r>
            <a:r>
              <a:rPr lang="en-US" sz="1000" dirty="0"/>
              <a:t>&gt;30.429139 -91.212861 19.00 30.429139 -91.212861 -141&lt;/</a:t>
            </a:r>
            <a:r>
              <a:rPr lang="en-US" sz="1000" dirty="0" err="1"/>
              <a:t>gml:posList</a:t>
            </a:r>
            <a:r>
              <a:rPr lang="en-US" sz="1000" dirty="0"/>
              <a:t>&gt;</a:t>
            </a:r>
            <a:br>
              <a:rPr lang="en-US" sz="1000" dirty="0"/>
            </a:br>
            <a:r>
              <a:rPr lang="en-US" sz="1000" dirty="0"/>
              <a:t>  &lt;/</a:t>
            </a:r>
            <a:r>
              <a:rPr lang="en-US" sz="1000" dirty="0" err="1"/>
              <a:t>LinearExtent</a:t>
            </a:r>
            <a:r>
              <a:rPr lang="en-US" sz="1000" dirty="0"/>
              <a:t>&gt;</a:t>
            </a:r>
            <a:br>
              <a:rPr lang="en-US" sz="1000" dirty="0"/>
            </a:br>
            <a:r>
              <a:rPr lang="en-US" sz="1000" dirty="0"/>
              <a:t>&lt;/</a:t>
            </a:r>
            <a:r>
              <a:rPr lang="en-US" sz="1000" dirty="0" err="1"/>
              <a:t>centerLine</a:t>
            </a:r>
            <a:r>
              <a:rPr lang="en-US" sz="1000" dirty="0"/>
              <a:t>&gt;</a:t>
            </a:r>
            <a:br>
              <a:rPr lang="en-US" sz="1000" dirty="0"/>
            </a:br>
            <a:endParaRPr lang="en-US" sz="1000" dirty="0"/>
          </a:p>
          <a:p>
            <a:endParaRPr lang="en-US" sz="1200" dirty="0"/>
          </a:p>
        </p:txBody>
      </p:sp>
      <p:sp>
        <p:nvSpPr>
          <p:cNvPr id="12" name="Oval 11"/>
          <p:cNvSpPr/>
          <p:nvPr/>
        </p:nvSpPr>
        <p:spPr>
          <a:xfrm>
            <a:off x="7531100" y="52070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6426200" y="45085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2</a:t>
            </a:r>
            <a:r>
              <a:rPr lang="en-US" dirty="0"/>
              <a:t>)</a:t>
            </a:r>
            <a:endParaRPr lang="en-US" baseline="-25000" dirty="0"/>
          </a:p>
        </p:txBody>
      </p:sp>
      <p:cxnSp>
        <p:nvCxnSpPr>
          <p:cNvPr id="14" name="Straight Arrow Connector 13"/>
          <p:cNvCxnSpPr/>
          <p:nvPr/>
        </p:nvCxnSpPr>
        <p:spPr>
          <a:xfrm>
            <a:off x="7213600" y="4940300"/>
            <a:ext cx="349118" cy="2979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2382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1" grpId="0"/>
      <p:bldP spid="12" grpId="0" animBg="1"/>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Straight Connector 30"/>
          <p:cNvCxnSpPr/>
          <p:nvPr/>
        </p:nvCxnSpPr>
        <p:spPr>
          <a:xfrm>
            <a:off x="5740400" y="3556000"/>
            <a:ext cx="406400" cy="6604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6146800" y="4191000"/>
            <a:ext cx="1219200" cy="5207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546100" y="800100"/>
            <a:ext cx="8229600" cy="622300"/>
          </a:xfrm>
        </p:spPr>
        <p:txBody>
          <a:bodyPr/>
          <a:lstStyle/>
          <a:p>
            <a:r>
              <a:rPr lang="en-US" dirty="0"/>
              <a:t>Can DIGGS represent inclined or deviated sampling features?</a:t>
            </a:r>
          </a:p>
        </p:txBody>
      </p:sp>
      <p:sp>
        <p:nvSpPr>
          <p:cNvPr id="3" name="Content Placeholder 2"/>
          <p:cNvSpPr>
            <a:spLocks noGrp="1"/>
          </p:cNvSpPr>
          <p:nvPr>
            <p:ph idx="1"/>
          </p:nvPr>
        </p:nvSpPr>
        <p:spPr>
          <a:xfrm>
            <a:off x="495300" y="1779588"/>
            <a:ext cx="7061200" cy="493712"/>
          </a:xfrm>
        </p:spPr>
        <p:txBody>
          <a:bodyPr/>
          <a:lstStyle/>
          <a:p>
            <a:r>
              <a:rPr lang="en-US" dirty="0"/>
              <a:t>YES!! (it’s all in the </a:t>
            </a:r>
            <a:r>
              <a:rPr lang="en-US" dirty="0" err="1"/>
              <a:t>gml:posList</a:t>
            </a:r>
            <a:r>
              <a:rPr lang="en-US" dirty="0"/>
              <a:t> property)</a:t>
            </a:r>
          </a:p>
        </p:txBody>
      </p:sp>
      <p:cxnSp>
        <p:nvCxnSpPr>
          <p:cNvPr id="5" name="Straight Connector 4"/>
          <p:cNvCxnSpPr>
            <a:stCxn id="6" idx="6"/>
            <a:endCxn id="12" idx="4"/>
          </p:cNvCxnSpPr>
          <p:nvPr/>
        </p:nvCxnSpPr>
        <p:spPr>
          <a:xfrm>
            <a:off x="1270000" y="2984500"/>
            <a:ext cx="31750" cy="28321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406400" y="29591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Oval 6"/>
          <p:cNvSpPr/>
          <p:nvPr/>
        </p:nvSpPr>
        <p:spPr>
          <a:xfrm>
            <a:off x="1181100" y="29083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698500" y="24892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sp>
        <p:nvSpPr>
          <p:cNvPr id="11" name="TextBox 10"/>
          <p:cNvSpPr txBox="1"/>
          <p:nvPr/>
        </p:nvSpPr>
        <p:spPr>
          <a:xfrm>
            <a:off x="0" y="6108700"/>
            <a:ext cx="3332463" cy="461665"/>
          </a:xfrm>
          <a:prstGeom prst="rect">
            <a:avLst/>
          </a:prstGeom>
          <a:noFill/>
        </p:spPr>
        <p:txBody>
          <a:bodyPr wrap="none" rtlCol="0">
            <a:spAutoFit/>
          </a:bodyPr>
          <a:lstStyle/>
          <a:p>
            <a:r>
              <a:rPr lang="hr-HR" sz="1200" dirty="0"/>
              <a:t>&lt;gml:posList&gt;x1 y1 z1 x1 y1 z2&lt;/gml:posList&gt;</a:t>
            </a:r>
            <a:br>
              <a:rPr lang="hr-HR" sz="1200" dirty="0"/>
            </a:br>
            <a:endParaRPr lang="en-US" sz="1200" dirty="0"/>
          </a:p>
        </p:txBody>
      </p:sp>
      <p:sp>
        <p:nvSpPr>
          <p:cNvPr id="12" name="Oval 11"/>
          <p:cNvSpPr/>
          <p:nvPr/>
        </p:nvSpPr>
        <p:spPr>
          <a:xfrm>
            <a:off x="1193800" y="56896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749300" y="57658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2</a:t>
            </a:r>
            <a:r>
              <a:rPr lang="en-US" dirty="0"/>
              <a:t>)</a:t>
            </a:r>
            <a:endParaRPr lang="en-US" baseline="-25000" dirty="0"/>
          </a:p>
        </p:txBody>
      </p:sp>
      <p:cxnSp>
        <p:nvCxnSpPr>
          <p:cNvPr id="15" name="Straight Connector 14"/>
          <p:cNvCxnSpPr>
            <a:endCxn id="20" idx="0"/>
          </p:cNvCxnSpPr>
          <p:nvPr/>
        </p:nvCxnSpPr>
        <p:spPr>
          <a:xfrm>
            <a:off x="3441700" y="2971800"/>
            <a:ext cx="768350" cy="20447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2552700" y="29591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Oval 16"/>
          <p:cNvSpPr/>
          <p:nvPr/>
        </p:nvSpPr>
        <p:spPr>
          <a:xfrm>
            <a:off x="3327400" y="29083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p:cNvSpPr txBox="1"/>
          <p:nvPr/>
        </p:nvSpPr>
        <p:spPr>
          <a:xfrm>
            <a:off x="2870200" y="25146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sp>
        <p:nvSpPr>
          <p:cNvPr id="20" name="Oval 19"/>
          <p:cNvSpPr/>
          <p:nvPr/>
        </p:nvSpPr>
        <p:spPr>
          <a:xfrm>
            <a:off x="4102100" y="50165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p:cNvSpPr txBox="1"/>
          <p:nvPr/>
        </p:nvSpPr>
        <p:spPr>
          <a:xfrm>
            <a:off x="3733800" y="5207000"/>
            <a:ext cx="1069674" cy="369332"/>
          </a:xfrm>
          <a:prstGeom prst="rect">
            <a:avLst/>
          </a:prstGeom>
          <a:noFill/>
        </p:spPr>
        <p:txBody>
          <a:bodyPr wrap="none" rtlCol="0">
            <a:spAutoFit/>
          </a:bodyPr>
          <a:lstStyle/>
          <a:p>
            <a:r>
              <a:rPr lang="en-US" dirty="0"/>
              <a:t>(x</a:t>
            </a:r>
            <a:r>
              <a:rPr lang="en-US" baseline="-25000" dirty="0"/>
              <a:t>2</a:t>
            </a:r>
            <a:r>
              <a:rPr lang="en-US" dirty="0"/>
              <a:t>,y</a:t>
            </a:r>
            <a:r>
              <a:rPr lang="en-US" baseline="-25000" dirty="0"/>
              <a:t>2</a:t>
            </a:r>
            <a:r>
              <a:rPr lang="en-US" dirty="0"/>
              <a:t>,z</a:t>
            </a:r>
            <a:r>
              <a:rPr lang="en-US" baseline="-25000" dirty="0"/>
              <a:t>2</a:t>
            </a:r>
            <a:r>
              <a:rPr lang="en-US" dirty="0"/>
              <a:t>)</a:t>
            </a:r>
            <a:endParaRPr lang="en-US" baseline="-25000" dirty="0"/>
          </a:p>
        </p:txBody>
      </p:sp>
      <p:sp>
        <p:nvSpPr>
          <p:cNvPr id="23" name="TextBox 22"/>
          <p:cNvSpPr txBox="1"/>
          <p:nvPr/>
        </p:nvSpPr>
        <p:spPr>
          <a:xfrm>
            <a:off x="2374900" y="5575300"/>
            <a:ext cx="3332463" cy="461665"/>
          </a:xfrm>
          <a:prstGeom prst="rect">
            <a:avLst/>
          </a:prstGeom>
          <a:noFill/>
        </p:spPr>
        <p:txBody>
          <a:bodyPr wrap="none" rtlCol="0">
            <a:spAutoFit/>
          </a:bodyPr>
          <a:lstStyle/>
          <a:p>
            <a:r>
              <a:rPr lang="hr-HR" sz="1200" dirty="0"/>
              <a:t>&lt;gml:posList&gt;x1 y1 z1 x2 y2 z2&lt;/gml:posList&gt;</a:t>
            </a:r>
            <a:br>
              <a:rPr lang="hr-HR" sz="1200" dirty="0"/>
            </a:br>
            <a:endParaRPr lang="en-US" sz="1200" dirty="0"/>
          </a:p>
        </p:txBody>
      </p:sp>
      <p:cxnSp>
        <p:nvCxnSpPr>
          <p:cNvPr id="24" name="Straight Connector 23"/>
          <p:cNvCxnSpPr/>
          <p:nvPr/>
        </p:nvCxnSpPr>
        <p:spPr>
          <a:xfrm>
            <a:off x="5638800" y="2971800"/>
            <a:ext cx="88900" cy="5969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4749800" y="29591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Oval 25"/>
          <p:cNvSpPr/>
          <p:nvPr/>
        </p:nvSpPr>
        <p:spPr>
          <a:xfrm>
            <a:off x="5524500" y="29083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p:nvSpPr>
        <p:spPr>
          <a:xfrm>
            <a:off x="5067300" y="25146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sp>
        <p:nvSpPr>
          <p:cNvPr id="28" name="Oval 27"/>
          <p:cNvSpPr/>
          <p:nvPr/>
        </p:nvSpPr>
        <p:spPr>
          <a:xfrm>
            <a:off x="5638800" y="35052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p:cNvSpPr txBox="1"/>
          <p:nvPr/>
        </p:nvSpPr>
        <p:spPr>
          <a:xfrm>
            <a:off x="6070600" y="3810000"/>
            <a:ext cx="1069674" cy="369332"/>
          </a:xfrm>
          <a:prstGeom prst="rect">
            <a:avLst/>
          </a:prstGeom>
          <a:noFill/>
        </p:spPr>
        <p:txBody>
          <a:bodyPr wrap="none" rtlCol="0">
            <a:spAutoFit/>
          </a:bodyPr>
          <a:lstStyle/>
          <a:p>
            <a:r>
              <a:rPr lang="en-US" dirty="0"/>
              <a:t>(x</a:t>
            </a:r>
            <a:r>
              <a:rPr lang="en-US" baseline="-25000" dirty="0"/>
              <a:t>3</a:t>
            </a:r>
            <a:r>
              <a:rPr lang="en-US" dirty="0"/>
              <a:t>,y</a:t>
            </a:r>
            <a:r>
              <a:rPr lang="en-US" baseline="-25000" dirty="0"/>
              <a:t>3</a:t>
            </a:r>
            <a:r>
              <a:rPr lang="en-US" dirty="0"/>
              <a:t>,z</a:t>
            </a:r>
            <a:r>
              <a:rPr lang="en-US" baseline="-25000" dirty="0"/>
              <a:t>3</a:t>
            </a:r>
            <a:r>
              <a:rPr lang="en-US" dirty="0"/>
              <a:t>)</a:t>
            </a:r>
            <a:endParaRPr lang="en-US" baseline="-25000" dirty="0"/>
          </a:p>
        </p:txBody>
      </p:sp>
      <p:sp>
        <p:nvSpPr>
          <p:cNvPr id="33" name="Oval 32"/>
          <p:cNvSpPr/>
          <p:nvPr/>
        </p:nvSpPr>
        <p:spPr>
          <a:xfrm>
            <a:off x="6032500" y="41656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p:cNvSpPr/>
          <p:nvPr/>
        </p:nvSpPr>
        <p:spPr>
          <a:xfrm>
            <a:off x="7251700" y="46228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TextBox 36"/>
          <p:cNvSpPr txBox="1"/>
          <p:nvPr/>
        </p:nvSpPr>
        <p:spPr>
          <a:xfrm>
            <a:off x="4597400" y="3365500"/>
            <a:ext cx="1069674" cy="369332"/>
          </a:xfrm>
          <a:prstGeom prst="rect">
            <a:avLst/>
          </a:prstGeom>
          <a:noFill/>
        </p:spPr>
        <p:txBody>
          <a:bodyPr wrap="none" rtlCol="0">
            <a:spAutoFit/>
          </a:bodyPr>
          <a:lstStyle/>
          <a:p>
            <a:r>
              <a:rPr lang="en-US" dirty="0"/>
              <a:t>(x</a:t>
            </a:r>
            <a:r>
              <a:rPr lang="en-US" baseline="-25000" dirty="0"/>
              <a:t>2</a:t>
            </a:r>
            <a:r>
              <a:rPr lang="en-US" dirty="0"/>
              <a:t>,y</a:t>
            </a:r>
            <a:r>
              <a:rPr lang="en-US" baseline="-25000" dirty="0"/>
              <a:t>2</a:t>
            </a:r>
            <a:r>
              <a:rPr lang="en-US" dirty="0"/>
              <a:t>,z</a:t>
            </a:r>
            <a:r>
              <a:rPr lang="en-US" baseline="-25000" dirty="0"/>
              <a:t>2</a:t>
            </a:r>
            <a:r>
              <a:rPr lang="en-US" dirty="0"/>
              <a:t>)</a:t>
            </a:r>
            <a:endParaRPr lang="en-US" baseline="-25000" dirty="0"/>
          </a:p>
        </p:txBody>
      </p:sp>
      <p:sp>
        <p:nvSpPr>
          <p:cNvPr id="38" name="TextBox 37"/>
          <p:cNvSpPr txBox="1"/>
          <p:nvPr/>
        </p:nvSpPr>
        <p:spPr>
          <a:xfrm>
            <a:off x="7493000" y="4483100"/>
            <a:ext cx="1069674" cy="369332"/>
          </a:xfrm>
          <a:prstGeom prst="rect">
            <a:avLst/>
          </a:prstGeom>
          <a:noFill/>
        </p:spPr>
        <p:txBody>
          <a:bodyPr wrap="none" rtlCol="0">
            <a:spAutoFit/>
          </a:bodyPr>
          <a:lstStyle/>
          <a:p>
            <a:r>
              <a:rPr lang="en-US" dirty="0"/>
              <a:t>(x</a:t>
            </a:r>
            <a:r>
              <a:rPr lang="en-US" baseline="-25000" dirty="0"/>
              <a:t>4</a:t>
            </a:r>
            <a:r>
              <a:rPr lang="en-US" dirty="0"/>
              <a:t>,y</a:t>
            </a:r>
            <a:r>
              <a:rPr lang="en-US" baseline="-25000" dirty="0"/>
              <a:t>4</a:t>
            </a:r>
            <a:r>
              <a:rPr lang="en-US" dirty="0"/>
              <a:t>,z</a:t>
            </a:r>
            <a:r>
              <a:rPr lang="en-US" baseline="-25000" dirty="0"/>
              <a:t>4</a:t>
            </a:r>
            <a:r>
              <a:rPr lang="en-US" dirty="0"/>
              <a:t>)</a:t>
            </a:r>
            <a:endParaRPr lang="en-US" baseline="-25000" dirty="0"/>
          </a:p>
        </p:txBody>
      </p:sp>
      <p:sp>
        <p:nvSpPr>
          <p:cNvPr id="39" name="TextBox 38"/>
          <p:cNvSpPr txBox="1"/>
          <p:nvPr/>
        </p:nvSpPr>
        <p:spPr>
          <a:xfrm>
            <a:off x="4579830" y="4838700"/>
            <a:ext cx="4564170" cy="461665"/>
          </a:xfrm>
          <a:prstGeom prst="rect">
            <a:avLst/>
          </a:prstGeom>
          <a:noFill/>
        </p:spPr>
        <p:txBody>
          <a:bodyPr wrap="none" rtlCol="0">
            <a:spAutoFit/>
          </a:bodyPr>
          <a:lstStyle/>
          <a:p>
            <a:r>
              <a:rPr lang="hr-HR" sz="1200" dirty="0"/>
              <a:t>&lt;gml:posList&gt;x1 y1 z1 x2 y2 z2 x3 y3 z3 x4 y4 z4&lt;/gml:posList&gt;</a:t>
            </a:r>
            <a:br>
              <a:rPr lang="hr-HR" sz="1200" dirty="0"/>
            </a:br>
            <a:endParaRPr lang="en-US" sz="1200" dirty="0"/>
          </a:p>
        </p:txBody>
      </p:sp>
    </p:spTree>
    <p:extLst>
      <p:ext uri="{BB962C8B-B14F-4D97-AF65-F5344CB8AC3E}">
        <p14:creationId xmlns:p14="http://schemas.microsoft.com/office/powerpoint/2010/main" val="117390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par>
                                <p:cTn id="69" presetID="10" presetClass="entr" presetSubtype="0" fill="hold"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500"/>
                                        <p:tgtEl>
                                          <p:spTgt spid="33"/>
                                        </p:tgtEl>
                                      </p:cBhvr>
                                    </p:animEffect>
                                  </p:childTnLst>
                                </p:cTn>
                              </p:par>
                              <p:par>
                                <p:cTn id="75" presetID="10" presetClass="entr" presetSubtype="0" fill="hold"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00"/>
                                        <p:tgtEl>
                                          <p:spTgt spid="3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500"/>
                                        <p:tgtEl>
                                          <p:spTgt spid="3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50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500"/>
                                        <p:tgtEl>
                                          <p:spTgt spid="3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1" grpId="0"/>
      <p:bldP spid="12" grpId="0" animBg="1"/>
      <p:bldP spid="13" grpId="0"/>
      <p:bldP spid="16" grpId="0" animBg="1"/>
      <p:bldP spid="17" grpId="0" animBg="1"/>
      <p:bldP spid="18" grpId="0"/>
      <p:bldP spid="20" grpId="0" animBg="1"/>
      <p:bldP spid="21" grpId="0"/>
      <p:bldP spid="23" grpId="0"/>
      <p:bldP spid="25" grpId="0" animBg="1"/>
      <p:bldP spid="26" grpId="0" animBg="1"/>
      <p:bldP spid="27" grpId="0"/>
      <p:bldP spid="28" grpId="0" animBg="1"/>
      <p:bldP spid="29" grpId="0"/>
      <p:bldP spid="33" grpId="0" animBg="1"/>
      <p:bldP spid="36" grpId="0" animBg="1"/>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lstStyle/>
          <a:p>
            <a:r>
              <a:rPr lang="en-US" dirty="0"/>
              <a:t>Linear referencing</a:t>
            </a:r>
          </a:p>
        </p:txBody>
      </p:sp>
      <p:sp>
        <p:nvSpPr>
          <p:cNvPr id="30" name="TextBox 29"/>
          <p:cNvSpPr txBox="1"/>
          <p:nvPr/>
        </p:nvSpPr>
        <p:spPr>
          <a:xfrm>
            <a:off x="4660900" y="5247639"/>
            <a:ext cx="4559862" cy="1138773"/>
          </a:xfrm>
          <a:prstGeom prst="rect">
            <a:avLst/>
          </a:prstGeom>
          <a:noFill/>
        </p:spPr>
        <p:txBody>
          <a:bodyPr wrap="none" rtlCol="0">
            <a:spAutoFit/>
          </a:bodyPr>
          <a:lstStyle/>
          <a:p>
            <a:r>
              <a:rPr lang="en-US" dirty="0"/>
              <a:t> </a:t>
            </a:r>
            <a:r>
              <a:rPr lang="en-US" sz="1000" dirty="0"/>
              <a:t>&lt;</a:t>
            </a:r>
            <a:r>
              <a:rPr lang="en-US" sz="1000" dirty="0" err="1"/>
              <a:t>sampleLocation</a:t>
            </a:r>
            <a:r>
              <a:rPr lang="en-US" sz="1000" dirty="0"/>
              <a:t>&gt;</a:t>
            </a:r>
            <a:br>
              <a:rPr lang="en-US" sz="1000" dirty="0"/>
            </a:br>
            <a:r>
              <a:rPr lang="en-US" sz="1000" dirty="0"/>
              <a:t>            &lt;</a:t>
            </a:r>
            <a:r>
              <a:rPr lang="en-US" sz="1000" dirty="0" err="1"/>
              <a:t>PointLocation</a:t>
            </a:r>
            <a:r>
              <a:rPr lang="en-US" sz="1000" dirty="0"/>
              <a:t> </a:t>
            </a:r>
            <a:r>
              <a:rPr lang="en-US" sz="1000" dirty="0" err="1"/>
              <a:t>gml:id</a:t>
            </a:r>
            <a:r>
              <a:rPr lang="en-US" sz="1000" dirty="0"/>
              <a:t>="pt1-2" </a:t>
            </a:r>
            <a:r>
              <a:rPr lang="en-US" sz="1000" dirty="0" err="1"/>
              <a:t>srsName</a:t>
            </a:r>
            <a:r>
              <a:rPr lang="en-US" sz="1000" dirty="0"/>
              <a:t>="#cptsr1" </a:t>
            </a:r>
            <a:r>
              <a:rPr lang="en-US" sz="1000" dirty="0" err="1"/>
              <a:t>srsDimension</a:t>
            </a:r>
            <a:r>
              <a:rPr lang="en-US" sz="1000" dirty="0"/>
              <a:t>="1"&gt;</a:t>
            </a:r>
            <a:br>
              <a:rPr lang="en-US" sz="1000" dirty="0"/>
            </a:br>
            <a:r>
              <a:rPr lang="en-US" sz="1000" dirty="0"/>
              <a:t>              &lt;</a:t>
            </a:r>
            <a:r>
              <a:rPr lang="en-US" sz="1000" dirty="0" err="1"/>
              <a:t>gml:pos</a:t>
            </a:r>
            <a:r>
              <a:rPr lang="en-US" sz="1000" dirty="0"/>
              <a:t>&gt;5&lt;/</a:t>
            </a:r>
            <a:r>
              <a:rPr lang="en-US" sz="1000" dirty="0" err="1"/>
              <a:t>gml:pos</a:t>
            </a:r>
            <a:r>
              <a:rPr lang="en-US" sz="1000" dirty="0"/>
              <a:t>&gt;</a:t>
            </a:r>
            <a:br>
              <a:rPr lang="en-US" sz="1000" dirty="0"/>
            </a:br>
            <a:r>
              <a:rPr lang="en-US" sz="1000" dirty="0"/>
              <a:t>            &lt;/</a:t>
            </a:r>
            <a:r>
              <a:rPr lang="en-US" sz="1000" dirty="0" err="1"/>
              <a:t>PointLocation</a:t>
            </a:r>
            <a:r>
              <a:rPr lang="en-US" sz="1000" dirty="0"/>
              <a:t>&gt;</a:t>
            </a:r>
            <a:br>
              <a:rPr lang="en-US" sz="1000" dirty="0"/>
            </a:br>
            <a:r>
              <a:rPr lang="en-US" sz="1000" dirty="0"/>
              <a:t> &lt;/</a:t>
            </a:r>
            <a:r>
              <a:rPr lang="en-US" sz="1000" dirty="0" err="1"/>
              <a:t>sampleLocation</a:t>
            </a:r>
            <a:r>
              <a:rPr lang="en-US" sz="1000" dirty="0"/>
              <a:t>&gt;</a:t>
            </a:r>
            <a:br>
              <a:rPr lang="en-US" sz="1000" dirty="0"/>
            </a:br>
            <a:endParaRPr lang="en-US" sz="1000" dirty="0"/>
          </a:p>
        </p:txBody>
      </p:sp>
      <p:sp>
        <p:nvSpPr>
          <p:cNvPr id="2" name="Title 1"/>
          <p:cNvSpPr>
            <a:spLocks noGrp="1"/>
          </p:cNvSpPr>
          <p:nvPr>
            <p:ph type="title"/>
          </p:nvPr>
        </p:nvSpPr>
        <p:spPr>
          <a:xfrm>
            <a:off x="546100" y="1054100"/>
            <a:ext cx="8229600" cy="622300"/>
          </a:xfrm>
        </p:spPr>
        <p:txBody>
          <a:bodyPr/>
          <a:lstStyle/>
          <a:p>
            <a:r>
              <a:rPr lang="en-US" dirty="0"/>
              <a:t>How do we represent the position of samples/measurements within a linear sampling feature?</a:t>
            </a:r>
          </a:p>
        </p:txBody>
      </p:sp>
      <p:cxnSp>
        <p:nvCxnSpPr>
          <p:cNvPr id="32" name="Straight Connector 31"/>
          <p:cNvCxnSpPr>
            <a:stCxn id="35" idx="6"/>
            <a:endCxn id="42" idx="4"/>
          </p:cNvCxnSpPr>
          <p:nvPr/>
        </p:nvCxnSpPr>
        <p:spPr>
          <a:xfrm>
            <a:off x="7340600" y="2159000"/>
            <a:ext cx="31750" cy="28321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477000" y="21336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Oval 39"/>
          <p:cNvSpPr/>
          <p:nvPr/>
        </p:nvSpPr>
        <p:spPr>
          <a:xfrm>
            <a:off x="7251700" y="20828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extBox 40"/>
          <p:cNvSpPr txBox="1"/>
          <p:nvPr/>
        </p:nvSpPr>
        <p:spPr>
          <a:xfrm>
            <a:off x="6769100" y="16637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sp>
        <p:nvSpPr>
          <p:cNvPr id="42" name="Oval 41"/>
          <p:cNvSpPr/>
          <p:nvPr/>
        </p:nvSpPr>
        <p:spPr>
          <a:xfrm>
            <a:off x="7264400" y="48641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TextBox 42"/>
          <p:cNvSpPr txBox="1"/>
          <p:nvPr/>
        </p:nvSpPr>
        <p:spPr>
          <a:xfrm>
            <a:off x="6819900" y="49403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2</a:t>
            </a:r>
            <a:r>
              <a:rPr lang="en-US" dirty="0"/>
              <a:t>)</a:t>
            </a:r>
            <a:endParaRPr lang="en-US" baseline="-25000" dirty="0"/>
          </a:p>
        </p:txBody>
      </p:sp>
      <p:sp>
        <p:nvSpPr>
          <p:cNvPr id="10" name="TextBox 9"/>
          <p:cNvSpPr txBox="1"/>
          <p:nvPr/>
        </p:nvSpPr>
        <p:spPr>
          <a:xfrm>
            <a:off x="-24763" y="2858304"/>
            <a:ext cx="5974713" cy="3631763"/>
          </a:xfrm>
          <a:prstGeom prst="rect">
            <a:avLst/>
          </a:prstGeom>
          <a:noFill/>
        </p:spPr>
        <p:txBody>
          <a:bodyPr wrap="none" rtlCol="0">
            <a:spAutoFit/>
          </a:bodyPr>
          <a:lstStyle/>
          <a:p>
            <a:r>
              <a:rPr lang="en-US" sz="1000" dirty="0"/>
              <a:t> &lt;</a:t>
            </a:r>
            <a:r>
              <a:rPr lang="en-US" sz="1000" dirty="0" err="1"/>
              <a:t>linearReferencing</a:t>
            </a:r>
            <a:r>
              <a:rPr lang="en-US" sz="1000" dirty="0"/>
              <a:t>&gt;</a:t>
            </a:r>
            <a:br>
              <a:rPr lang="en-US" sz="1000" dirty="0"/>
            </a:br>
            <a:r>
              <a:rPr lang="en-US" sz="1000" dirty="0"/>
              <a:t>      &lt;</a:t>
            </a:r>
            <a:r>
              <a:rPr lang="en-US" sz="1000" dirty="0" err="1"/>
              <a:t>LinearSpatialReferenceSystem</a:t>
            </a:r>
            <a:r>
              <a:rPr lang="en-US" sz="1000" dirty="0"/>
              <a:t> </a:t>
            </a:r>
            <a:r>
              <a:rPr lang="en-US" sz="1000" dirty="0" err="1"/>
              <a:t>gml:id</a:t>
            </a:r>
            <a:r>
              <a:rPr lang="en-US" sz="1000" dirty="0"/>
              <a:t>="cptsr1"&gt;</a:t>
            </a:r>
            <a:br>
              <a:rPr lang="en-US" sz="1000" dirty="0"/>
            </a:br>
            <a:r>
              <a:rPr lang="en-US" sz="1000" dirty="0"/>
              <a:t>          &lt;</a:t>
            </a:r>
            <a:r>
              <a:rPr lang="en-US" sz="1000" dirty="0" err="1"/>
              <a:t>gml:identifier</a:t>
            </a:r>
            <a:r>
              <a:rPr lang="en-US" sz="1000" dirty="0"/>
              <a:t> </a:t>
            </a:r>
            <a:r>
              <a:rPr lang="en-US" sz="1000" dirty="0" err="1"/>
              <a:t>codeSpace</a:t>
            </a:r>
            <a:r>
              <a:rPr lang="en-US" sz="1000" dirty="0"/>
              <a:t>=”LADOT"&gt; LADOT</a:t>
            </a:r>
            <a:r>
              <a:rPr lang="en-US" sz="1000" dirty="0">
                <a:solidFill>
                  <a:srgbClr val="00B050"/>
                </a:solidFill>
              </a:rPr>
              <a:t>:</a:t>
            </a:r>
            <a:r>
              <a:rPr lang="en-US" sz="1000" dirty="0"/>
              <a:t>cptsr1&lt;/</a:t>
            </a:r>
            <a:r>
              <a:rPr lang="en-US" sz="1000" dirty="0" err="1"/>
              <a:t>gml:identifier</a:t>
            </a:r>
            <a:r>
              <a:rPr lang="en-US" sz="1000" dirty="0"/>
              <a:t>&gt;</a:t>
            </a:r>
            <a:br>
              <a:rPr lang="en-US" sz="1000" dirty="0"/>
            </a:br>
            <a:r>
              <a:rPr lang="en-US" sz="1000" dirty="0"/>
              <a:t>          &lt;</a:t>
            </a:r>
            <a:r>
              <a:rPr lang="en-US" sz="1000" dirty="0" err="1"/>
              <a:t>glr:linearElement</a:t>
            </a:r>
            <a:r>
              <a:rPr lang="en-US" sz="1000" dirty="0"/>
              <a:t> </a:t>
            </a:r>
            <a:r>
              <a:rPr lang="en-US" sz="1000" dirty="0" err="1"/>
              <a:t>xlink:href</a:t>
            </a:r>
            <a:r>
              <a:rPr lang="en-US" sz="1000" dirty="0"/>
              <a:t>="#ls1"/&gt;</a:t>
            </a:r>
            <a:br>
              <a:rPr lang="en-US" sz="1000" dirty="0"/>
            </a:br>
            <a:r>
              <a:rPr lang="en-US" sz="1000" dirty="0"/>
              <a:t>          &lt;</a:t>
            </a:r>
            <a:r>
              <a:rPr lang="en-US" sz="1000" dirty="0" err="1"/>
              <a:t>lrm</a:t>
            </a:r>
            <a:r>
              <a:rPr lang="en-US" sz="1000" dirty="0"/>
              <a:t>&gt;</a:t>
            </a:r>
          </a:p>
          <a:p>
            <a:pPr lvl="1"/>
            <a:r>
              <a:rPr lang="en-US" sz="1000" dirty="0"/>
              <a:t>&lt;</a:t>
            </a:r>
            <a:r>
              <a:rPr lang="en-US" sz="1000" dirty="0" err="1"/>
              <a:t>LinearReferencingMethod</a:t>
            </a:r>
            <a:r>
              <a:rPr lang="en-US" sz="1000" dirty="0"/>
              <a:t> </a:t>
            </a:r>
            <a:r>
              <a:rPr lang="en-US" sz="1000" dirty="0" err="1"/>
              <a:t>gml:id</a:t>
            </a:r>
            <a:r>
              <a:rPr lang="en-US" sz="1000" dirty="0"/>
              <a:t>="</a:t>
            </a:r>
            <a:r>
              <a:rPr lang="en-US" sz="1000" dirty="0" err="1"/>
              <a:t>md_ft</a:t>
            </a:r>
            <a:r>
              <a:rPr lang="en-US" sz="1000" dirty="0"/>
              <a:t>"&gt;</a:t>
            </a:r>
          </a:p>
          <a:p>
            <a:pPr lvl="1"/>
            <a:r>
              <a:rPr lang="en-US" sz="1000" dirty="0"/>
              <a:t>      &lt;</a:t>
            </a:r>
            <a:r>
              <a:rPr lang="en-US" sz="1000" dirty="0" err="1"/>
              <a:t>gml:description</a:t>
            </a:r>
            <a:r>
              <a:rPr lang="en-US" sz="1000" dirty="0"/>
              <a:t>&gt;</a:t>
            </a:r>
          </a:p>
          <a:p>
            <a:pPr lvl="1"/>
            <a:r>
              <a:rPr lang="en-US" sz="1000" dirty="0"/>
              <a:t>          Absolute measured depth from top of borehole or sounding in feet. </a:t>
            </a:r>
          </a:p>
          <a:p>
            <a:pPr lvl="1"/>
            <a:r>
              <a:rPr lang="en-US" sz="1000" dirty="0"/>
              <a:t>          Measurements are cumulative 3D distance along the borehole/sounding centerline</a:t>
            </a:r>
          </a:p>
          <a:p>
            <a:pPr lvl="1"/>
            <a:r>
              <a:rPr lang="en-US" sz="1000" dirty="0"/>
              <a:t>          from the first coordinate (typically top of hole or rig datum) proceeding downward through</a:t>
            </a:r>
          </a:p>
          <a:p>
            <a:pPr lvl="1"/>
            <a:r>
              <a:rPr lang="en-US" sz="1000" dirty="0"/>
              <a:t>          the hole. Suitable for vertical, slanted, and deviated boreholes and soundings.</a:t>
            </a:r>
          </a:p>
          <a:p>
            <a:pPr lvl="1"/>
            <a:r>
              <a:rPr lang="en-US" sz="1000" dirty="0"/>
              <a:t>      &lt;/</a:t>
            </a:r>
            <a:r>
              <a:rPr lang="en-US" sz="1000" dirty="0" err="1"/>
              <a:t>gml:description</a:t>
            </a:r>
            <a:r>
              <a:rPr lang="en-US" sz="1000" dirty="0"/>
              <a:t>&gt;</a:t>
            </a:r>
          </a:p>
          <a:p>
            <a:pPr lvl="1"/>
            <a:r>
              <a:rPr lang="en-US" sz="1000" dirty="0"/>
              <a:t>      &lt;.</a:t>
            </a:r>
            <a:r>
              <a:rPr lang="en-US" sz="1000" dirty="0" err="1"/>
              <a:t>gml:identifier</a:t>
            </a:r>
            <a:r>
              <a:rPr lang="en-US" sz="1000" dirty="0"/>
              <a:t> </a:t>
            </a:r>
            <a:r>
              <a:rPr lang="en-US" sz="1000" dirty="0" err="1"/>
              <a:t>codeSpace</a:t>
            </a:r>
            <a:r>
              <a:rPr lang="en-US" sz="1000" dirty="0"/>
              <a:t>="https://</a:t>
            </a:r>
            <a:r>
              <a:rPr lang="en-US" sz="1000" dirty="0" err="1"/>
              <a:t>diggsml.org</a:t>
            </a:r>
            <a:r>
              <a:rPr lang="en-US" sz="1000" dirty="0"/>
              <a:t>/def/</a:t>
            </a:r>
            <a:r>
              <a:rPr lang="en-US" sz="1000" dirty="0" err="1"/>
              <a:t>authorities.xml#DIGGS</a:t>
            </a:r>
            <a:r>
              <a:rPr lang="en-US" sz="1000" dirty="0"/>
              <a:t>"&gt;</a:t>
            </a:r>
          </a:p>
          <a:p>
            <a:pPr lvl="1"/>
            <a:r>
              <a:rPr lang="en-US" sz="1000" dirty="0"/>
              <a:t>         https://</a:t>
            </a:r>
            <a:r>
              <a:rPr lang="en-US" sz="1000" dirty="0" err="1"/>
              <a:t>diggsml.org</a:t>
            </a:r>
            <a:r>
              <a:rPr lang="en-US" sz="1000" dirty="0"/>
              <a:t>/def/</a:t>
            </a:r>
            <a:r>
              <a:rPr lang="en-US" sz="1000" dirty="0" err="1"/>
              <a:t>crs</a:t>
            </a:r>
            <a:r>
              <a:rPr lang="en-US" sz="1000" dirty="0"/>
              <a:t>/DIGGS/0.1/</a:t>
            </a:r>
            <a:r>
              <a:rPr lang="en-US" sz="1000" dirty="0" err="1"/>
              <a:t>lrm.xml#md_ft</a:t>
            </a:r>
            <a:r>
              <a:rPr lang="en-US" sz="1000" dirty="0"/>
              <a:t>&lt;/</a:t>
            </a:r>
            <a:r>
              <a:rPr lang="en-US" sz="1000" dirty="0" err="1"/>
              <a:t>gml:identifier</a:t>
            </a:r>
            <a:r>
              <a:rPr lang="en-US" sz="1000" dirty="0"/>
              <a:t>&gt;</a:t>
            </a:r>
          </a:p>
          <a:p>
            <a:pPr lvl="1"/>
            <a:r>
              <a:rPr lang="en-US" sz="1000" dirty="0"/>
              <a:t>      &lt;name&gt;</a:t>
            </a:r>
            <a:r>
              <a:rPr lang="en-US" sz="1000" dirty="0" err="1"/>
              <a:t>trueFootage</a:t>
            </a:r>
            <a:r>
              <a:rPr lang="en-US" sz="1000" dirty="0"/>
              <a:t>&lt;/name&gt;</a:t>
            </a:r>
          </a:p>
          <a:p>
            <a:pPr lvl="1"/>
            <a:r>
              <a:rPr lang="en-US" sz="1000" dirty="0"/>
              <a:t>      &lt;type&gt;absolute&lt;/type&gt;</a:t>
            </a:r>
          </a:p>
          <a:p>
            <a:pPr lvl="1"/>
            <a:r>
              <a:rPr lang="en-US" sz="1000" dirty="0"/>
              <a:t>      &lt;units&gt;ft&lt;/units&gt;</a:t>
            </a:r>
          </a:p>
          <a:p>
            <a:pPr lvl="1"/>
            <a:r>
              <a:rPr lang="en-US" sz="1000" dirty="0"/>
              <a:t>      &lt;</a:t>
            </a:r>
            <a:r>
              <a:rPr lang="en-US" sz="1000" dirty="0" err="1"/>
              <a:t>positiveDirection</a:t>
            </a:r>
            <a:r>
              <a:rPr lang="en-US" sz="1000" dirty="0"/>
              <a:t>&gt;downward&lt;/</a:t>
            </a:r>
            <a:r>
              <a:rPr lang="en-US" sz="1000" dirty="0" err="1"/>
              <a:t>positiveDirection</a:t>
            </a:r>
            <a:r>
              <a:rPr lang="en-US" sz="1000" dirty="0"/>
              <a:t>&gt;</a:t>
            </a:r>
          </a:p>
          <a:p>
            <a:pPr lvl="1"/>
            <a:r>
              <a:rPr lang="en-US" sz="1000" dirty="0"/>
              <a:t> &lt;/</a:t>
            </a:r>
            <a:r>
              <a:rPr lang="en-US" sz="1000" dirty="0" err="1"/>
              <a:t>LinearReferencingMethod</a:t>
            </a:r>
            <a:r>
              <a:rPr lang="en-US" sz="1000" dirty="0"/>
              <a:t>&gt;</a:t>
            </a:r>
          </a:p>
          <a:p>
            <a:r>
              <a:rPr lang="en-US" sz="1000" dirty="0"/>
              <a:t>           &lt;/</a:t>
            </a:r>
            <a:r>
              <a:rPr lang="en-US" sz="1000" dirty="0" err="1"/>
              <a:t>lrm</a:t>
            </a:r>
            <a:r>
              <a:rPr lang="en-US" sz="1000" dirty="0"/>
              <a:t>&gt;</a:t>
            </a:r>
          </a:p>
          <a:p>
            <a:r>
              <a:rPr lang="en-US" sz="1000" dirty="0"/>
              <a:t>      &lt;/</a:t>
            </a:r>
            <a:r>
              <a:rPr lang="en-US" sz="1000" dirty="0" err="1"/>
              <a:t>LinearSpatialReferenceSystem</a:t>
            </a:r>
            <a:r>
              <a:rPr lang="en-US" sz="1000" dirty="0"/>
              <a:t>&gt;</a:t>
            </a:r>
          </a:p>
          <a:p>
            <a:r>
              <a:rPr lang="en-US" sz="1000" dirty="0"/>
              <a:t>&lt;/</a:t>
            </a:r>
            <a:r>
              <a:rPr lang="en-US" sz="1000" dirty="0" err="1"/>
              <a:t>linearReferencing</a:t>
            </a:r>
            <a:r>
              <a:rPr lang="en-US" sz="1000" dirty="0"/>
              <a:t>&gt;</a:t>
            </a:r>
            <a:br>
              <a:rPr lang="en-US" sz="1000" dirty="0"/>
            </a:br>
            <a:endParaRPr lang="en-US" sz="1000" dirty="0"/>
          </a:p>
        </p:txBody>
      </p:sp>
      <p:sp>
        <p:nvSpPr>
          <p:cNvPr id="19" name="Diamond 18"/>
          <p:cNvSpPr/>
          <p:nvPr/>
        </p:nvSpPr>
        <p:spPr>
          <a:xfrm>
            <a:off x="7251700" y="2705100"/>
            <a:ext cx="215900" cy="215900"/>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p:cNvSpPr txBox="1"/>
          <p:nvPr/>
        </p:nvSpPr>
        <p:spPr>
          <a:xfrm>
            <a:off x="7538092" y="2628900"/>
            <a:ext cx="1383712" cy="646331"/>
          </a:xfrm>
          <a:prstGeom prst="rect">
            <a:avLst/>
          </a:prstGeom>
          <a:noFill/>
        </p:spPr>
        <p:txBody>
          <a:bodyPr wrap="none" rtlCol="0">
            <a:spAutoFit/>
          </a:bodyPr>
          <a:lstStyle/>
          <a:p>
            <a:pPr algn="ctr"/>
            <a:r>
              <a:rPr lang="en-US" dirty="0"/>
              <a:t>Measured</a:t>
            </a:r>
          </a:p>
          <a:p>
            <a:pPr algn="ctr"/>
            <a:r>
              <a:rPr lang="en-US" dirty="0"/>
              <a:t>Depth = 5 ft</a:t>
            </a:r>
          </a:p>
        </p:txBody>
      </p:sp>
      <p:sp>
        <p:nvSpPr>
          <p:cNvPr id="44" name="Rectangle 43"/>
          <p:cNvSpPr/>
          <p:nvPr/>
        </p:nvSpPr>
        <p:spPr>
          <a:xfrm>
            <a:off x="7264400" y="3517900"/>
            <a:ext cx="177800" cy="4699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TextBox 44"/>
          <p:cNvSpPr txBox="1"/>
          <p:nvPr/>
        </p:nvSpPr>
        <p:spPr>
          <a:xfrm>
            <a:off x="7435499" y="3454400"/>
            <a:ext cx="1588898" cy="646331"/>
          </a:xfrm>
          <a:prstGeom prst="rect">
            <a:avLst/>
          </a:prstGeom>
          <a:noFill/>
        </p:spPr>
        <p:txBody>
          <a:bodyPr wrap="none" rtlCol="0">
            <a:spAutoFit/>
          </a:bodyPr>
          <a:lstStyle/>
          <a:p>
            <a:pPr algn="ctr"/>
            <a:r>
              <a:rPr lang="en-US" dirty="0"/>
              <a:t>Measured</a:t>
            </a:r>
          </a:p>
          <a:p>
            <a:pPr algn="ctr"/>
            <a:r>
              <a:rPr lang="en-US" dirty="0"/>
              <a:t>Depth = 8-9 ft</a:t>
            </a:r>
          </a:p>
        </p:txBody>
      </p:sp>
      <p:sp>
        <p:nvSpPr>
          <p:cNvPr id="3" name="TextBox 2">
            <a:extLst>
              <a:ext uri="{FF2B5EF4-FFF2-40B4-BE49-F238E27FC236}">
                <a16:creationId xmlns:a16="http://schemas.microsoft.com/office/drawing/2014/main" id="{491C5ABB-0916-7296-C856-955497CA2337}"/>
              </a:ext>
            </a:extLst>
          </p:cNvPr>
          <p:cNvSpPr txBox="1"/>
          <p:nvPr/>
        </p:nvSpPr>
        <p:spPr>
          <a:xfrm>
            <a:off x="4680438" y="5247639"/>
            <a:ext cx="4448654" cy="1138773"/>
          </a:xfrm>
          <a:prstGeom prst="rect">
            <a:avLst/>
          </a:prstGeom>
          <a:noFill/>
        </p:spPr>
        <p:txBody>
          <a:bodyPr wrap="none" rtlCol="0">
            <a:spAutoFit/>
          </a:bodyPr>
          <a:lstStyle/>
          <a:p>
            <a:r>
              <a:rPr lang="en-US" dirty="0"/>
              <a:t> </a:t>
            </a:r>
            <a:r>
              <a:rPr lang="en-US" sz="1000" dirty="0"/>
              <a:t>&lt;</a:t>
            </a:r>
            <a:r>
              <a:rPr lang="en-US" sz="1000" dirty="0" err="1"/>
              <a:t>sampleLocation</a:t>
            </a:r>
            <a:r>
              <a:rPr lang="en-US" sz="1000" dirty="0"/>
              <a:t>&gt;</a:t>
            </a:r>
            <a:br>
              <a:rPr lang="en-US" sz="1000" dirty="0"/>
            </a:br>
            <a:r>
              <a:rPr lang="en-US" sz="1000" dirty="0"/>
              <a:t>            &lt;</a:t>
            </a:r>
            <a:r>
              <a:rPr lang="en-US" sz="1000" dirty="0" err="1"/>
              <a:t>LinearExtent</a:t>
            </a:r>
            <a:r>
              <a:rPr lang="en-US" sz="1000" dirty="0"/>
              <a:t> </a:t>
            </a:r>
            <a:r>
              <a:rPr lang="en-US" sz="1000" dirty="0" err="1"/>
              <a:t>gml:id</a:t>
            </a:r>
            <a:r>
              <a:rPr lang="en-US" sz="1000" dirty="0"/>
              <a:t>=”cr1-2" </a:t>
            </a:r>
            <a:r>
              <a:rPr lang="en-US" sz="1000" dirty="0" err="1"/>
              <a:t>srsName</a:t>
            </a:r>
            <a:r>
              <a:rPr lang="en-US" sz="1000" dirty="0"/>
              <a:t>="#cptsr1" </a:t>
            </a:r>
            <a:r>
              <a:rPr lang="en-US" sz="1000" dirty="0" err="1"/>
              <a:t>srsDimension</a:t>
            </a:r>
            <a:r>
              <a:rPr lang="en-US" sz="1000" dirty="0"/>
              <a:t>="1"&gt;</a:t>
            </a:r>
            <a:br>
              <a:rPr lang="en-US" sz="1000" dirty="0"/>
            </a:br>
            <a:r>
              <a:rPr lang="en-US" sz="1000" dirty="0"/>
              <a:t>              &lt;</a:t>
            </a:r>
            <a:r>
              <a:rPr lang="en-US" sz="1000" dirty="0" err="1"/>
              <a:t>gml:posList</a:t>
            </a:r>
            <a:r>
              <a:rPr lang="en-US" sz="1000" dirty="0"/>
              <a:t>&gt;8 9&lt;/</a:t>
            </a:r>
            <a:r>
              <a:rPr lang="en-US" sz="1000" dirty="0" err="1"/>
              <a:t>gml:posList</a:t>
            </a:r>
            <a:r>
              <a:rPr lang="en-US" sz="1000" dirty="0"/>
              <a:t>&gt;</a:t>
            </a:r>
            <a:br>
              <a:rPr lang="en-US" sz="1000" dirty="0"/>
            </a:br>
            <a:r>
              <a:rPr lang="en-US" sz="1000" dirty="0"/>
              <a:t>            &lt;/</a:t>
            </a:r>
            <a:r>
              <a:rPr lang="en-US" sz="1000" dirty="0" err="1"/>
              <a:t>LinearExtent</a:t>
            </a:r>
            <a:r>
              <a:rPr lang="en-US" sz="1000" dirty="0"/>
              <a:t>&gt;</a:t>
            </a:r>
            <a:br>
              <a:rPr lang="en-US" sz="1000" dirty="0"/>
            </a:br>
            <a:r>
              <a:rPr lang="en-US" sz="1000" dirty="0"/>
              <a:t> &lt;/</a:t>
            </a:r>
            <a:r>
              <a:rPr lang="en-US" sz="1000" dirty="0" err="1"/>
              <a:t>sampleLocation</a:t>
            </a:r>
            <a:r>
              <a:rPr lang="en-US" sz="1000" dirty="0"/>
              <a:t>&gt;</a:t>
            </a:r>
            <a:br>
              <a:rPr lang="en-US" sz="1000" dirty="0"/>
            </a:br>
            <a:endParaRPr lang="en-US" sz="1000" dirty="0"/>
          </a:p>
        </p:txBody>
      </p:sp>
    </p:spTree>
    <p:extLst>
      <p:ext uri="{BB962C8B-B14F-4D97-AF65-F5344CB8AC3E}">
        <p14:creationId xmlns:p14="http://schemas.microsoft.com/office/powerpoint/2010/main" val="282523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500"/>
                                        <p:tgtEl>
                                          <p:spTgt spid="4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500"/>
                                        <p:tgtEl>
                                          <p:spTgt spid="4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500"/>
                                        <p:tgtEl>
                                          <p:spTgt spid="44"/>
                                        </p:tgtEl>
                                      </p:cBhvr>
                                    </p:animEffect>
                                  </p:childTnLst>
                                </p:cTn>
                              </p:par>
                              <p:par>
                                <p:cTn id="50" presetID="10" presetClass="exit" presetSubtype="0" fill="hold" grpId="1" nodeType="withEffect">
                                  <p:stCondLst>
                                    <p:cond delay="0"/>
                                  </p:stCondLst>
                                  <p:childTnLst>
                                    <p:animEffect transition="out" filter="fade">
                                      <p:cBhvr>
                                        <p:cTn id="51" dur="500"/>
                                        <p:tgtEl>
                                          <p:spTgt spid="30"/>
                                        </p:tgtEl>
                                      </p:cBhvr>
                                    </p:animEffect>
                                    <p:set>
                                      <p:cBhvr>
                                        <p:cTn id="52" dur="1" fill="hold">
                                          <p:stCondLst>
                                            <p:cond delay="499"/>
                                          </p:stCondLst>
                                        </p:cTn>
                                        <p:tgtEl>
                                          <p:spTgt spid="30"/>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22"/>
                                        </p:tgtEl>
                                      </p:cBhvr>
                                    </p:animEffect>
                                    <p:set>
                                      <p:cBhvr>
                                        <p:cTn id="55" dur="1" fill="hold">
                                          <p:stCondLst>
                                            <p:cond delay="499"/>
                                          </p:stCondLst>
                                        </p:cTn>
                                        <p:tgtEl>
                                          <p:spTgt spid="22"/>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19"/>
                                        </p:tgtEl>
                                      </p:cBhvr>
                                    </p:animEffect>
                                    <p:set>
                                      <p:cBhvr>
                                        <p:cTn id="58" dur="1" fill="hold">
                                          <p:stCondLst>
                                            <p:cond delay="499"/>
                                          </p:stCondLst>
                                        </p:cTn>
                                        <p:tgtEl>
                                          <p:spTgt spid="1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30" grpId="0"/>
      <p:bldP spid="30" grpId="1"/>
      <p:bldP spid="35" grpId="0" animBg="1"/>
      <p:bldP spid="40" grpId="0" animBg="1"/>
      <p:bldP spid="41" grpId="0"/>
      <p:bldP spid="42" grpId="0" animBg="1"/>
      <p:bldP spid="43" grpId="0"/>
      <p:bldP spid="10" grpId="0"/>
      <p:bldP spid="19" grpId="0" animBg="1"/>
      <p:bldP spid="19" grpId="1" animBg="1"/>
      <p:bldP spid="22" grpId="0"/>
      <p:bldP spid="22" grpId="1"/>
      <p:bldP spid="44" grpId="0" animBg="1"/>
      <p:bldP spid="45"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8998-B3FB-3F5A-7E59-DC9C4E300ECD}"/>
              </a:ext>
            </a:extLst>
          </p:cNvPr>
          <p:cNvSpPr>
            <a:spLocks noGrp="1"/>
          </p:cNvSpPr>
          <p:nvPr>
            <p:ph type="title"/>
          </p:nvPr>
        </p:nvSpPr>
        <p:spPr>
          <a:xfrm>
            <a:off x="509666" y="637774"/>
            <a:ext cx="8229600" cy="1066800"/>
          </a:xfrm>
        </p:spPr>
        <p:txBody>
          <a:bodyPr/>
          <a:lstStyle/>
          <a:p>
            <a:r>
              <a:rPr lang="en-US" dirty="0"/>
              <a:t>Geometry Definitions for 2D and 3D Sampling Features</a:t>
            </a:r>
          </a:p>
        </p:txBody>
      </p:sp>
      <p:sp>
        <p:nvSpPr>
          <p:cNvPr id="3" name="Content Placeholder 2">
            <a:extLst>
              <a:ext uri="{FF2B5EF4-FFF2-40B4-BE49-F238E27FC236}">
                <a16:creationId xmlns:a16="http://schemas.microsoft.com/office/drawing/2014/main" id="{98E3EACE-9862-48AE-66A5-58DB8D9F122B}"/>
              </a:ext>
            </a:extLst>
          </p:cNvPr>
          <p:cNvSpPr>
            <a:spLocks noGrp="1"/>
          </p:cNvSpPr>
          <p:nvPr>
            <p:ph idx="1"/>
          </p:nvPr>
        </p:nvSpPr>
        <p:spPr>
          <a:xfrm>
            <a:off x="457200" y="1670154"/>
            <a:ext cx="8229600" cy="4324350"/>
          </a:xfrm>
        </p:spPr>
        <p:txBody>
          <a:bodyPr/>
          <a:lstStyle/>
          <a:p>
            <a:r>
              <a:rPr lang="en-US" dirty="0"/>
              <a:t>2D</a:t>
            </a:r>
          </a:p>
          <a:p>
            <a:pPr lvl="1"/>
            <a:r>
              <a:rPr lang="en-US" dirty="0" err="1"/>
              <a:t>referencePoint</a:t>
            </a:r>
            <a:r>
              <a:rPr lang="en-US" dirty="0"/>
              <a:t> (</a:t>
            </a:r>
            <a:r>
              <a:rPr lang="en-US" dirty="0" err="1"/>
              <a:t>PointLocation</a:t>
            </a:r>
            <a:r>
              <a:rPr lang="en-US" dirty="0"/>
              <a:t> as before)</a:t>
            </a:r>
          </a:p>
          <a:p>
            <a:pPr lvl="1"/>
            <a:r>
              <a:rPr lang="en-US" dirty="0" err="1"/>
              <a:t>featureExtent</a:t>
            </a:r>
            <a:r>
              <a:rPr lang="en-US" dirty="0"/>
              <a:t> (</a:t>
            </a:r>
            <a:r>
              <a:rPr lang="en-US" dirty="0" err="1"/>
              <a:t>PlanarSurface</a:t>
            </a:r>
            <a:r>
              <a:rPr lang="en-US" dirty="0"/>
              <a:t>, </a:t>
            </a:r>
            <a:r>
              <a:rPr lang="en-US" dirty="0" err="1"/>
              <a:t>MultiPlanarSurface</a:t>
            </a:r>
            <a:r>
              <a:rPr lang="en-US" dirty="0"/>
              <a:t>)</a:t>
            </a:r>
          </a:p>
        </p:txBody>
      </p:sp>
      <mc:AlternateContent xmlns:mc="http://schemas.openxmlformats.org/markup-compatibility/2006">
        <mc:Choice xmlns:am3d="http://schemas.microsoft.com/office/drawing/2017/model3d" Requires="am3d">
          <p:graphicFrame>
            <p:nvGraphicFramePr>
              <p:cNvPr id="6" name="3D Model 5">
                <a:extLst>
                  <a:ext uri="{FF2B5EF4-FFF2-40B4-BE49-F238E27FC236}">
                    <a16:creationId xmlns:a16="http://schemas.microsoft.com/office/drawing/2014/main" id="{1F449CAB-9DCC-1F1C-1537-1652B127791F}"/>
                  </a:ext>
                </a:extLst>
              </p:cNvPr>
              <p:cNvGraphicFramePr>
                <a:graphicFrameLocks noChangeAspect="1"/>
              </p:cNvGraphicFramePr>
              <p:nvPr>
                <p:extLst>
                  <p:ext uri="{D42A27DB-BD31-4B8C-83A1-F6EECF244321}">
                    <p14:modId xmlns:p14="http://schemas.microsoft.com/office/powerpoint/2010/main" val="3280124988"/>
                  </p:ext>
                </p:extLst>
              </p:nvPr>
            </p:nvGraphicFramePr>
            <p:xfrm>
              <a:off x="1068192" y="2696319"/>
              <a:ext cx="2195771" cy="2079953"/>
            </p:xfrm>
            <a:graphic>
              <a:graphicData uri="http://schemas.microsoft.com/office/drawing/2017/model3d">
                <am3d:model3d r:embed="rId2">
                  <am3d:spPr>
                    <a:xfrm>
                      <a:off x="0" y="0"/>
                      <a:ext cx="2195771" cy="2079953"/>
                    </a:xfrm>
                    <a:prstGeom prst="rect">
                      <a:avLst/>
                    </a:prstGeom>
                  </am3d:spPr>
                  <am3d:camera>
                    <am3d:pos x="0" y="0" z="70862262"/>
                    <am3d:up dx="0" dy="36000000" dz="0"/>
                    <am3d:lookAt x="0" y="0" z="0"/>
                    <am3d:perspective fov="2700000"/>
                  </am3d:camera>
                  <am3d:trans>
                    <am3d:meterPerModelUnit n="196850" d="1000000"/>
                    <am3d:preTrans dx="-3259842" dy="-4209268" dz="-10275591"/>
                    <am3d:scale>
                      <am3d:sx n="1000000" d="1000000"/>
                      <am3d:sy n="1000000" d="1000000"/>
                      <am3d:sz n="1000000" d="1000000"/>
                    </am3d:scale>
                    <am3d:rot/>
                    <am3d:postTrans dx="0" dy="0" dz="0"/>
                  </am3d:trans>
                  <am3d:raster rName="Office3DRenderer" rVer="16.0.8326">
                    <am3d:blip r:embed="rId3"/>
                  </am3d:raster>
                  <am3d:objViewport viewportSz="406399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a:extLst>
                  <a:ext uri="{FF2B5EF4-FFF2-40B4-BE49-F238E27FC236}">
                    <a16:creationId xmlns:a16="http://schemas.microsoft.com/office/drawing/2014/main" id="{1F449CAB-9DCC-1F1C-1537-1652B127791F}"/>
                  </a:ext>
                </a:extLst>
              </p:cNvPr>
              <p:cNvPicPr>
                <a:picLocks noGrp="1" noRot="1" noChangeAspect="1" noMove="1" noResize="1" noEditPoints="1" noAdjustHandles="1" noChangeArrowheads="1" noChangeShapeType="1" noCrop="1"/>
              </p:cNvPicPr>
              <p:nvPr/>
            </p:nvPicPr>
            <p:blipFill>
              <a:blip r:embed="rId3"/>
              <a:stretch>
                <a:fillRect/>
              </a:stretch>
            </p:blipFill>
            <p:spPr>
              <a:xfrm>
                <a:off x="1068192" y="2696319"/>
                <a:ext cx="2195771" cy="207995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a:extLst>
                  <a:ext uri="{FF2B5EF4-FFF2-40B4-BE49-F238E27FC236}">
                    <a16:creationId xmlns:a16="http://schemas.microsoft.com/office/drawing/2014/main" id="{F8A074E9-DDCD-42B6-8306-47BE93E98616}"/>
                  </a:ext>
                </a:extLst>
              </p:cNvPr>
              <p:cNvGraphicFramePr>
                <a:graphicFrameLocks noChangeAspect="1"/>
              </p:cNvGraphicFramePr>
              <p:nvPr>
                <p:extLst>
                  <p:ext uri="{D42A27DB-BD31-4B8C-83A1-F6EECF244321}">
                    <p14:modId xmlns:p14="http://schemas.microsoft.com/office/powerpoint/2010/main" val="3582115215"/>
                  </p:ext>
                </p:extLst>
              </p:nvPr>
            </p:nvGraphicFramePr>
            <p:xfrm>
              <a:off x="4942925" y="1774714"/>
              <a:ext cx="3478147" cy="3478147"/>
            </p:xfrm>
            <a:graphic>
              <a:graphicData uri="http://schemas.microsoft.com/office/drawing/2017/model3d">
                <am3d:model3d r:embed="rId4">
                  <am3d:spPr>
                    <a:xfrm>
                      <a:off x="0" y="0"/>
                      <a:ext cx="3478147" cy="3478147"/>
                    </a:xfrm>
                    <a:prstGeom prst="rect">
                      <a:avLst/>
                    </a:prstGeom>
                  </am3d:spPr>
                  <am3d:camera>
                    <am3d:pos x="0" y="0" z="81469202"/>
                    <am3d:up dx="0" dy="36000000" dz="0"/>
                    <am3d:lookAt x="0" y="0" z="0"/>
                    <am3d:perspective fov="2700000"/>
                  </am3d:camera>
                  <am3d:trans>
                    <am3d:meterPerModelUnit n="240963" d="1000000"/>
                    <am3d:preTrans dx="-16698793" dy="-16698793" dz="-16698793"/>
                    <am3d:scale>
                      <am3d:sx n="1000000" d="1000000"/>
                      <am3d:sy n="1000000" d="1000000"/>
                      <am3d:sz n="1000000" d="1000000"/>
                    </am3d:scale>
                    <am3d:rot/>
                    <am3d:postTrans dx="0" dy="0" dz="0"/>
                  </am3d:trans>
                  <am3d:raster rName="Office3DRenderer" rVer="16.0.8326">
                    <am3d:blip r:embed="rId5"/>
                  </am3d:raster>
                  <am3d:objViewport viewportSz="508000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a:extLst>
                  <a:ext uri="{FF2B5EF4-FFF2-40B4-BE49-F238E27FC236}">
                    <a16:creationId xmlns:a16="http://schemas.microsoft.com/office/drawing/2014/main" id="{F8A074E9-DDCD-42B6-8306-47BE93E98616}"/>
                  </a:ext>
                </a:extLst>
              </p:cNvPr>
              <p:cNvPicPr>
                <a:picLocks noGrp="1" noRot="1" noChangeAspect="1" noMove="1" noResize="1" noEditPoints="1" noAdjustHandles="1" noChangeArrowheads="1" noChangeShapeType="1" noCrop="1"/>
              </p:cNvPicPr>
              <p:nvPr/>
            </p:nvPicPr>
            <p:blipFill>
              <a:blip r:embed="rId5"/>
              <a:stretch>
                <a:fillRect/>
              </a:stretch>
            </p:blipFill>
            <p:spPr>
              <a:xfrm>
                <a:off x="4942925" y="1774714"/>
                <a:ext cx="3478147" cy="3478147"/>
              </a:xfrm>
              <a:prstGeom prst="rect">
                <a:avLst/>
              </a:prstGeom>
            </p:spPr>
          </p:pic>
        </mc:Fallback>
      </mc:AlternateContent>
      <p:sp>
        <p:nvSpPr>
          <p:cNvPr id="8" name="TextBox 7">
            <a:extLst>
              <a:ext uri="{FF2B5EF4-FFF2-40B4-BE49-F238E27FC236}">
                <a16:creationId xmlns:a16="http://schemas.microsoft.com/office/drawing/2014/main" id="{96F68BE1-BAA3-4A08-E2BE-5DDB67A75388}"/>
              </a:ext>
            </a:extLst>
          </p:cNvPr>
          <p:cNvSpPr txBox="1"/>
          <p:nvPr/>
        </p:nvSpPr>
        <p:spPr>
          <a:xfrm>
            <a:off x="1139253" y="5348173"/>
            <a:ext cx="1646605" cy="646331"/>
          </a:xfrm>
          <a:prstGeom prst="rect">
            <a:avLst/>
          </a:prstGeom>
          <a:noFill/>
        </p:spPr>
        <p:txBody>
          <a:bodyPr wrap="none" rtlCol="0">
            <a:spAutoFit/>
          </a:bodyPr>
          <a:lstStyle/>
          <a:p>
            <a:r>
              <a:rPr lang="en-US" dirty="0" err="1"/>
              <a:t>PlanarSurface</a:t>
            </a:r>
            <a:endParaRPr lang="en-US" dirty="0"/>
          </a:p>
          <a:p>
            <a:endParaRPr lang="en-US" dirty="0"/>
          </a:p>
        </p:txBody>
      </p:sp>
      <p:sp>
        <p:nvSpPr>
          <p:cNvPr id="9" name="TextBox 8">
            <a:extLst>
              <a:ext uri="{FF2B5EF4-FFF2-40B4-BE49-F238E27FC236}">
                <a16:creationId xmlns:a16="http://schemas.microsoft.com/office/drawing/2014/main" id="{C3843942-8C15-E227-21E9-7440598B5249}"/>
              </a:ext>
            </a:extLst>
          </p:cNvPr>
          <p:cNvSpPr txBox="1"/>
          <p:nvPr/>
        </p:nvSpPr>
        <p:spPr>
          <a:xfrm>
            <a:off x="5728741" y="5323002"/>
            <a:ext cx="2210862" cy="646331"/>
          </a:xfrm>
          <a:prstGeom prst="rect">
            <a:avLst/>
          </a:prstGeom>
          <a:noFill/>
        </p:spPr>
        <p:txBody>
          <a:bodyPr wrap="none" rtlCol="0">
            <a:spAutoFit/>
          </a:bodyPr>
          <a:lstStyle/>
          <a:p>
            <a:r>
              <a:rPr lang="en-US" dirty="0"/>
              <a:t>Multi-</a:t>
            </a:r>
            <a:r>
              <a:rPr lang="en-US" dirty="0" err="1"/>
              <a:t>PlanarSurface</a:t>
            </a:r>
            <a:endParaRPr lang="en-US" dirty="0"/>
          </a:p>
          <a:p>
            <a:endParaRPr lang="en-US" dirty="0"/>
          </a:p>
        </p:txBody>
      </p:sp>
      <p:sp>
        <p:nvSpPr>
          <p:cNvPr id="10" name="TextBox 9">
            <a:extLst>
              <a:ext uri="{FF2B5EF4-FFF2-40B4-BE49-F238E27FC236}">
                <a16:creationId xmlns:a16="http://schemas.microsoft.com/office/drawing/2014/main" id="{FEF6CE9D-4F06-CEEA-60E8-47D5FAF48B9C}"/>
              </a:ext>
            </a:extLst>
          </p:cNvPr>
          <p:cNvSpPr txBox="1"/>
          <p:nvPr/>
        </p:nvSpPr>
        <p:spPr>
          <a:xfrm>
            <a:off x="178680" y="5804709"/>
            <a:ext cx="5134739" cy="923330"/>
          </a:xfrm>
          <a:prstGeom prst="rect">
            <a:avLst/>
          </a:prstGeom>
          <a:noFill/>
        </p:spPr>
        <p:txBody>
          <a:bodyPr wrap="none" rtlCol="0">
            <a:spAutoFit/>
          </a:bodyPr>
          <a:lstStyle/>
          <a:p>
            <a:r>
              <a:rPr lang="en-US" dirty="0"/>
              <a:t>Can define coordinates in spatial CRS or in local</a:t>
            </a:r>
          </a:p>
          <a:p>
            <a:r>
              <a:rPr lang="en-US" dirty="0"/>
              <a:t>Cartesian SRS with spatially located axis-origin</a:t>
            </a:r>
          </a:p>
          <a:p>
            <a:r>
              <a:rPr lang="en-US" dirty="0"/>
              <a:t> and axis-orientations</a:t>
            </a:r>
          </a:p>
        </p:txBody>
      </p:sp>
    </p:spTree>
    <p:extLst>
      <p:ext uri="{BB962C8B-B14F-4D97-AF65-F5344CB8AC3E}">
        <p14:creationId xmlns:p14="http://schemas.microsoft.com/office/powerpoint/2010/main" val="540727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8D4B4-78D1-1308-AFD8-D17484C1A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9E1BC-0216-3163-DB31-AF601B1EB922}"/>
              </a:ext>
            </a:extLst>
          </p:cNvPr>
          <p:cNvSpPr>
            <a:spLocks noGrp="1"/>
          </p:cNvSpPr>
          <p:nvPr>
            <p:ph type="title"/>
          </p:nvPr>
        </p:nvSpPr>
        <p:spPr>
          <a:xfrm>
            <a:off x="509666" y="637774"/>
            <a:ext cx="8229600" cy="1066800"/>
          </a:xfrm>
        </p:spPr>
        <p:txBody>
          <a:bodyPr/>
          <a:lstStyle/>
          <a:p>
            <a:r>
              <a:rPr lang="en-US" dirty="0"/>
              <a:t>Geometry Definitions for 2D and 3D Sampling Features</a:t>
            </a:r>
          </a:p>
        </p:txBody>
      </p:sp>
      <p:sp>
        <p:nvSpPr>
          <p:cNvPr id="3" name="Content Placeholder 2">
            <a:extLst>
              <a:ext uri="{FF2B5EF4-FFF2-40B4-BE49-F238E27FC236}">
                <a16:creationId xmlns:a16="http://schemas.microsoft.com/office/drawing/2014/main" id="{3E0DEA82-3ACA-A440-F72F-459F3D4E8863}"/>
              </a:ext>
            </a:extLst>
          </p:cNvPr>
          <p:cNvSpPr>
            <a:spLocks noGrp="1"/>
          </p:cNvSpPr>
          <p:nvPr>
            <p:ph idx="1"/>
          </p:nvPr>
        </p:nvSpPr>
        <p:spPr>
          <a:xfrm>
            <a:off x="457200" y="1670154"/>
            <a:ext cx="8229600" cy="4324350"/>
          </a:xfrm>
        </p:spPr>
        <p:txBody>
          <a:bodyPr/>
          <a:lstStyle/>
          <a:p>
            <a:r>
              <a:rPr lang="en-US" dirty="0"/>
              <a:t>2D</a:t>
            </a:r>
          </a:p>
          <a:p>
            <a:pPr lvl="1"/>
            <a:r>
              <a:rPr lang="en-US" dirty="0" err="1"/>
              <a:t>referencePoint</a:t>
            </a:r>
            <a:r>
              <a:rPr lang="en-US" dirty="0"/>
              <a:t> (</a:t>
            </a:r>
            <a:r>
              <a:rPr lang="en-US" dirty="0" err="1"/>
              <a:t>PointLocation</a:t>
            </a:r>
            <a:r>
              <a:rPr lang="en-US" dirty="0"/>
              <a:t> as before)</a:t>
            </a:r>
          </a:p>
          <a:p>
            <a:pPr lvl="1"/>
            <a:r>
              <a:rPr lang="en-US" dirty="0" err="1"/>
              <a:t>featureExtent</a:t>
            </a:r>
            <a:r>
              <a:rPr lang="en-US" dirty="0"/>
              <a:t> (</a:t>
            </a:r>
            <a:r>
              <a:rPr lang="en-US" dirty="0" err="1"/>
              <a:t>PlanarSurface</a:t>
            </a:r>
            <a:r>
              <a:rPr lang="en-US" dirty="0"/>
              <a:t>, </a:t>
            </a:r>
            <a:r>
              <a:rPr lang="en-US" dirty="0" err="1"/>
              <a:t>MultiPlanarSurface</a:t>
            </a:r>
            <a:r>
              <a:rPr lang="en-US" dirty="0"/>
              <a:t>)</a:t>
            </a:r>
          </a:p>
        </p:txBody>
      </p:sp>
      <mc:AlternateContent xmlns:mc="http://schemas.openxmlformats.org/markup-compatibility/2006">
        <mc:Choice xmlns:am3d="http://schemas.microsoft.com/office/drawing/2017/model3d" Requires="am3d">
          <p:graphicFrame>
            <p:nvGraphicFramePr>
              <p:cNvPr id="6" name="3D Model 5">
                <a:extLst>
                  <a:ext uri="{FF2B5EF4-FFF2-40B4-BE49-F238E27FC236}">
                    <a16:creationId xmlns:a16="http://schemas.microsoft.com/office/drawing/2014/main" id="{6934B9A0-950F-9B8C-36B9-AD9FA47FC9CF}"/>
                  </a:ext>
                </a:extLst>
              </p:cNvPr>
              <p:cNvGraphicFramePr>
                <a:graphicFrameLocks noChangeAspect="1"/>
              </p:cNvGraphicFramePr>
              <p:nvPr>
                <p:extLst>
                  <p:ext uri="{D42A27DB-BD31-4B8C-83A1-F6EECF244321}">
                    <p14:modId xmlns:p14="http://schemas.microsoft.com/office/powerpoint/2010/main" val="3629703705"/>
                  </p:ext>
                </p:extLst>
              </p:nvPr>
            </p:nvGraphicFramePr>
            <p:xfrm>
              <a:off x="658906" y="2021782"/>
              <a:ext cx="3014305" cy="3428983"/>
            </p:xfrm>
            <a:graphic>
              <a:graphicData uri="http://schemas.microsoft.com/office/drawing/2017/model3d">
                <am3d:model3d r:embed="rId2">
                  <am3d:spPr>
                    <a:xfrm>
                      <a:off x="0" y="0"/>
                      <a:ext cx="3014305" cy="3428983"/>
                    </a:xfrm>
                    <a:prstGeom prst="rect">
                      <a:avLst/>
                    </a:prstGeom>
                  </am3d:spPr>
                  <am3d:camera>
                    <am3d:pos x="0" y="0" z="70862262"/>
                    <am3d:up dx="0" dy="36000000" dz="0"/>
                    <am3d:lookAt x="0" y="0" z="0"/>
                    <am3d:perspective fov="2700000"/>
                  </am3d:camera>
                  <am3d:trans>
                    <am3d:meterPerModelUnit n="196850" d="1000000"/>
                    <am3d:preTrans dx="-3259842" dy="-4209268" dz="-10275591"/>
                    <am3d:scale>
                      <am3d:sx n="1000000" d="1000000"/>
                      <am3d:sy n="1000000" d="1000000"/>
                      <am3d:sz n="1000000" d="1000000"/>
                    </am3d:scale>
                    <am3d:rot ax="18000000" az="1800000"/>
                    <am3d:postTrans dx="0" dy="0" dz="0"/>
                  </am3d:trans>
                  <am3d:raster rName="Office3DRenderer" rVer="16.0.8326">
                    <am3d:blip r:embed="rId3"/>
                  </am3d:raster>
                  <am3d:objViewport viewportSz="40639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a:extLst>
                  <a:ext uri="{FF2B5EF4-FFF2-40B4-BE49-F238E27FC236}">
                    <a16:creationId xmlns:a16="http://schemas.microsoft.com/office/drawing/2014/main" id="{6934B9A0-950F-9B8C-36B9-AD9FA47FC9CF}"/>
                  </a:ext>
                </a:extLst>
              </p:cNvPr>
              <p:cNvPicPr>
                <a:picLocks noGrp="1" noRot="1" noChangeAspect="1" noMove="1" noResize="1" noEditPoints="1" noAdjustHandles="1" noChangeArrowheads="1" noChangeShapeType="1" noCrop="1"/>
              </p:cNvPicPr>
              <p:nvPr/>
            </p:nvPicPr>
            <p:blipFill>
              <a:blip r:embed="rId3"/>
              <a:stretch>
                <a:fillRect/>
              </a:stretch>
            </p:blipFill>
            <p:spPr>
              <a:xfrm>
                <a:off x="658906" y="2021782"/>
                <a:ext cx="3014305" cy="342898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a:extLst>
                  <a:ext uri="{FF2B5EF4-FFF2-40B4-BE49-F238E27FC236}">
                    <a16:creationId xmlns:a16="http://schemas.microsoft.com/office/drawing/2014/main" id="{EAEF1491-1A02-67F6-4415-B0042D7C0B57}"/>
                  </a:ext>
                </a:extLst>
              </p:cNvPr>
              <p:cNvGraphicFramePr>
                <a:graphicFrameLocks noChangeAspect="1"/>
              </p:cNvGraphicFramePr>
              <p:nvPr>
                <p:extLst>
                  <p:ext uri="{D42A27DB-BD31-4B8C-83A1-F6EECF244321}">
                    <p14:modId xmlns:p14="http://schemas.microsoft.com/office/powerpoint/2010/main" val="2231527993"/>
                  </p:ext>
                </p:extLst>
              </p:nvPr>
            </p:nvGraphicFramePr>
            <p:xfrm>
              <a:off x="4398640" y="1086215"/>
              <a:ext cx="4566680" cy="4855109"/>
            </p:xfrm>
            <a:graphic>
              <a:graphicData uri="http://schemas.microsoft.com/office/drawing/2017/model3d">
                <am3d:model3d r:embed="rId4">
                  <am3d:spPr>
                    <a:xfrm>
                      <a:off x="0" y="0"/>
                      <a:ext cx="4566680" cy="4855109"/>
                    </a:xfrm>
                    <a:prstGeom prst="rect">
                      <a:avLst/>
                    </a:prstGeom>
                  </am3d:spPr>
                  <am3d:camera>
                    <am3d:pos x="0" y="0" z="81469202"/>
                    <am3d:up dx="0" dy="36000000" dz="0"/>
                    <am3d:lookAt x="0" y="0" z="0"/>
                    <am3d:perspective fov="2700000"/>
                  </am3d:camera>
                  <am3d:trans>
                    <am3d:meterPerModelUnit n="240963" d="1000000"/>
                    <am3d:preTrans dx="-16698793" dy="-16698793" dz="-16698793"/>
                    <am3d:scale>
                      <am3d:sx n="1000000" d="1000000"/>
                      <am3d:sy n="1000000" d="1000000"/>
                      <am3d:sz n="1000000" d="1000000"/>
                    </am3d:scale>
                    <am3d:rot ax="18000000" az="1800000"/>
                    <am3d:postTrans dx="0" dy="0" dz="0"/>
                  </am3d:trans>
                  <am3d:raster rName="Office3DRenderer" rVer="16.0.8326">
                    <am3d:blip r:embed="rId5"/>
                  </am3d:raster>
                  <am3d:objViewport viewportSz="507998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a:extLst>
                  <a:ext uri="{FF2B5EF4-FFF2-40B4-BE49-F238E27FC236}">
                    <a16:creationId xmlns:a16="http://schemas.microsoft.com/office/drawing/2014/main" id="{EAEF1491-1A02-67F6-4415-B0042D7C0B57}"/>
                  </a:ext>
                </a:extLst>
              </p:cNvPr>
              <p:cNvPicPr>
                <a:picLocks noGrp="1" noRot="1" noChangeAspect="1" noMove="1" noResize="1" noEditPoints="1" noAdjustHandles="1" noChangeArrowheads="1" noChangeShapeType="1" noCrop="1"/>
              </p:cNvPicPr>
              <p:nvPr/>
            </p:nvPicPr>
            <p:blipFill>
              <a:blip r:embed="rId5"/>
              <a:stretch>
                <a:fillRect/>
              </a:stretch>
            </p:blipFill>
            <p:spPr>
              <a:xfrm>
                <a:off x="4398640" y="1086215"/>
                <a:ext cx="4566680" cy="4855109"/>
              </a:xfrm>
              <a:prstGeom prst="rect">
                <a:avLst/>
              </a:prstGeom>
            </p:spPr>
          </p:pic>
        </mc:Fallback>
      </mc:AlternateContent>
      <p:sp>
        <p:nvSpPr>
          <p:cNvPr id="8" name="TextBox 7">
            <a:extLst>
              <a:ext uri="{FF2B5EF4-FFF2-40B4-BE49-F238E27FC236}">
                <a16:creationId xmlns:a16="http://schemas.microsoft.com/office/drawing/2014/main" id="{F1C0B24C-4F7D-F1BE-1A7F-AB0004BAFFAA}"/>
              </a:ext>
            </a:extLst>
          </p:cNvPr>
          <p:cNvSpPr txBox="1"/>
          <p:nvPr/>
        </p:nvSpPr>
        <p:spPr>
          <a:xfrm>
            <a:off x="1139253" y="5348173"/>
            <a:ext cx="1646605" cy="646331"/>
          </a:xfrm>
          <a:prstGeom prst="rect">
            <a:avLst/>
          </a:prstGeom>
          <a:noFill/>
        </p:spPr>
        <p:txBody>
          <a:bodyPr wrap="none" rtlCol="0">
            <a:spAutoFit/>
          </a:bodyPr>
          <a:lstStyle/>
          <a:p>
            <a:r>
              <a:rPr lang="en-US" dirty="0" err="1"/>
              <a:t>PlanarSurface</a:t>
            </a:r>
            <a:endParaRPr lang="en-US" dirty="0"/>
          </a:p>
          <a:p>
            <a:endParaRPr lang="en-US" dirty="0"/>
          </a:p>
        </p:txBody>
      </p:sp>
      <p:sp>
        <p:nvSpPr>
          <p:cNvPr id="9" name="TextBox 8">
            <a:extLst>
              <a:ext uri="{FF2B5EF4-FFF2-40B4-BE49-F238E27FC236}">
                <a16:creationId xmlns:a16="http://schemas.microsoft.com/office/drawing/2014/main" id="{ACD00680-369B-1F86-E384-2143C2BDDB0D}"/>
              </a:ext>
            </a:extLst>
          </p:cNvPr>
          <p:cNvSpPr txBox="1"/>
          <p:nvPr/>
        </p:nvSpPr>
        <p:spPr>
          <a:xfrm>
            <a:off x="5728741" y="5323002"/>
            <a:ext cx="2210862" cy="646331"/>
          </a:xfrm>
          <a:prstGeom prst="rect">
            <a:avLst/>
          </a:prstGeom>
          <a:noFill/>
        </p:spPr>
        <p:txBody>
          <a:bodyPr wrap="none" rtlCol="0">
            <a:spAutoFit/>
          </a:bodyPr>
          <a:lstStyle/>
          <a:p>
            <a:r>
              <a:rPr lang="en-US" dirty="0"/>
              <a:t>Multi-</a:t>
            </a:r>
            <a:r>
              <a:rPr lang="en-US" dirty="0" err="1"/>
              <a:t>PlanarSurface</a:t>
            </a:r>
            <a:endParaRPr lang="en-US" dirty="0"/>
          </a:p>
          <a:p>
            <a:endParaRPr lang="en-US" dirty="0"/>
          </a:p>
        </p:txBody>
      </p:sp>
      <p:sp>
        <p:nvSpPr>
          <p:cNvPr id="4" name="TextBox 3">
            <a:extLst>
              <a:ext uri="{FF2B5EF4-FFF2-40B4-BE49-F238E27FC236}">
                <a16:creationId xmlns:a16="http://schemas.microsoft.com/office/drawing/2014/main" id="{FE596E45-0090-526B-5E44-7E311896B260}"/>
              </a:ext>
            </a:extLst>
          </p:cNvPr>
          <p:cNvSpPr txBox="1"/>
          <p:nvPr/>
        </p:nvSpPr>
        <p:spPr>
          <a:xfrm>
            <a:off x="178680" y="5804709"/>
            <a:ext cx="5134739" cy="923330"/>
          </a:xfrm>
          <a:prstGeom prst="rect">
            <a:avLst/>
          </a:prstGeom>
          <a:noFill/>
        </p:spPr>
        <p:txBody>
          <a:bodyPr wrap="none" rtlCol="0">
            <a:spAutoFit/>
          </a:bodyPr>
          <a:lstStyle/>
          <a:p>
            <a:r>
              <a:rPr lang="en-US" dirty="0"/>
              <a:t>Can define coordinates in spatial CRS or in local</a:t>
            </a:r>
          </a:p>
          <a:p>
            <a:r>
              <a:rPr lang="en-US" dirty="0"/>
              <a:t>Cartesian SRS with spatially located axis-origin</a:t>
            </a:r>
          </a:p>
          <a:p>
            <a:r>
              <a:rPr lang="en-US" dirty="0"/>
              <a:t> and axis-orientations</a:t>
            </a:r>
          </a:p>
        </p:txBody>
      </p:sp>
    </p:spTree>
    <p:extLst>
      <p:ext uri="{BB962C8B-B14F-4D97-AF65-F5344CB8AC3E}">
        <p14:creationId xmlns:p14="http://schemas.microsoft.com/office/powerpoint/2010/main" val="4357587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F9D4-EB24-EB2B-8844-5479137AA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F5985-12F7-9CC9-0086-103331546DEB}"/>
              </a:ext>
            </a:extLst>
          </p:cNvPr>
          <p:cNvSpPr>
            <a:spLocks noGrp="1"/>
          </p:cNvSpPr>
          <p:nvPr>
            <p:ph type="title"/>
          </p:nvPr>
        </p:nvSpPr>
        <p:spPr>
          <a:xfrm>
            <a:off x="509666" y="637774"/>
            <a:ext cx="8229600" cy="1066800"/>
          </a:xfrm>
        </p:spPr>
        <p:txBody>
          <a:bodyPr/>
          <a:lstStyle/>
          <a:p>
            <a:r>
              <a:rPr lang="en-US" dirty="0"/>
              <a:t>Geometry Definitions for 2D and 3D Sampling Features</a:t>
            </a:r>
          </a:p>
        </p:txBody>
      </p:sp>
      <p:sp>
        <p:nvSpPr>
          <p:cNvPr id="3" name="Content Placeholder 2">
            <a:extLst>
              <a:ext uri="{FF2B5EF4-FFF2-40B4-BE49-F238E27FC236}">
                <a16:creationId xmlns:a16="http://schemas.microsoft.com/office/drawing/2014/main" id="{9EBC1C9D-103A-E282-7B1F-68F113F2F03D}"/>
              </a:ext>
            </a:extLst>
          </p:cNvPr>
          <p:cNvSpPr>
            <a:spLocks noGrp="1"/>
          </p:cNvSpPr>
          <p:nvPr>
            <p:ph idx="1"/>
          </p:nvPr>
        </p:nvSpPr>
        <p:spPr>
          <a:xfrm>
            <a:off x="457200" y="1670154"/>
            <a:ext cx="8229600" cy="4324350"/>
          </a:xfrm>
        </p:spPr>
        <p:txBody>
          <a:bodyPr/>
          <a:lstStyle/>
          <a:p>
            <a:r>
              <a:rPr lang="en-US" dirty="0"/>
              <a:t>2D</a:t>
            </a:r>
          </a:p>
          <a:p>
            <a:pPr lvl="1"/>
            <a:r>
              <a:rPr lang="en-US" dirty="0" err="1"/>
              <a:t>referencePoint</a:t>
            </a:r>
            <a:r>
              <a:rPr lang="en-US" dirty="0"/>
              <a:t> (</a:t>
            </a:r>
            <a:r>
              <a:rPr lang="en-US" dirty="0" err="1"/>
              <a:t>PointLocation</a:t>
            </a:r>
            <a:r>
              <a:rPr lang="en-US" dirty="0"/>
              <a:t> as before)</a:t>
            </a:r>
          </a:p>
          <a:p>
            <a:pPr lvl="1"/>
            <a:r>
              <a:rPr lang="en-US" dirty="0" err="1"/>
              <a:t>featureExtent</a:t>
            </a:r>
            <a:r>
              <a:rPr lang="en-US" dirty="0"/>
              <a:t> (Solid)</a:t>
            </a:r>
          </a:p>
        </p:txBody>
      </p:sp>
      <p:sp>
        <p:nvSpPr>
          <p:cNvPr id="9" name="TextBox 8">
            <a:extLst>
              <a:ext uri="{FF2B5EF4-FFF2-40B4-BE49-F238E27FC236}">
                <a16:creationId xmlns:a16="http://schemas.microsoft.com/office/drawing/2014/main" id="{7DFC43E7-7501-1FCF-397A-7E45EA14C3BE}"/>
              </a:ext>
            </a:extLst>
          </p:cNvPr>
          <p:cNvSpPr txBox="1"/>
          <p:nvPr/>
        </p:nvSpPr>
        <p:spPr>
          <a:xfrm>
            <a:off x="3637613" y="5394121"/>
            <a:ext cx="697627" cy="646331"/>
          </a:xfrm>
          <a:prstGeom prst="rect">
            <a:avLst/>
          </a:prstGeom>
          <a:noFill/>
        </p:spPr>
        <p:txBody>
          <a:bodyPr wrap="none" rtlCol="0">
            <a:spAutoFit/>
          </a:bodyPr>
          <a:lstStyle/>
          <a:p>
            <a:r>
              <a:rPr lang="en-US" dirty="0"/>
              <a:t>Solid</a:t>
            </a:r>
          </a:p>
          <a:p>
            <a:endParaRPr lang="en-US" dirty="0"/>
          </a:p>
        </p:txBody>
      </p:sp>
      <p:sp>
        <p:nvSpPr>
          <p:cNvPr id="4" name="TextBox 3">
            <a:extLst>
              <a:ext uri="{FF2B5EF4-FFF2-40B4-BE49-F238E27FC236}">
                <a16:creationId xmlns:a16="http://schemas.microsoft.com/office/drawing/2014/main" id="{40F7D6B4-49CA-9070-E720-090351499A45}"/>
              </a:ext>
            </a:extLst>
          </p:cNvPr>
          <p:cNvSpPr txBox="1"/>
          <p:nvPr/>
        </p:nvSpPr>
        <p:spPr>
          <a:xfrm>
            <a:off x="178680" y="5804709"/>
            <a:ext cx="4673074" cy="369332"/>
          </a:xfrm>
          <a:prstGeom prst="rect">
            <a:avLst/>
          </a:prstGeom>
          <a:noFill/>
        </p:spPr>
        <p:txBody>
          <a:bodyPr wrap="none" rtlCol="0">
            <a:spAutoFit/>
          </a:bodyPr>
          <a:lstStyle/>
          <a:p>
            <a:r>
              <a:rPr lang="en-US" dirty="0"/>
              <a:t>Each face is defined as a 2D surface (Shell)</a:t>
            </a:r>
          </a:p>
        </p:txBody>
      </p:sp>
      <mc:AlternateContent xmlns:mc="http://schemas.openxmlformats.org/markup-compatibility/2006">
        <mc:Choice xmlns:am3d="http://schemas.microsoft.com/office/drawing/2017/model3d" Requires="am3d">
          <p:graphicFrame>
            <p:nvGraphicFramePr>
              <p:cNvPr id="13" name="3D Model 12">
                <a:extLst>
                  <a:ext uri="{FF2B5EF4-FFF2-40B4-BE49-F238E27FC236}">
                    <a16:creationId xmlns:a16="http://schemas.microsoft.com/office/drawing/2014/main" id="{3598258B-6498-836F-11C3-4A5A4E938156}"/>
                  </a:ext>
                </a:extLst>
              </p:cNvPr>
              <p:cNvGraphicFramePr>
                <a:graphicFrameLocks noChangeAspect="1"/>
              </p:cNvGraphicFramePr>
              <p:nvPr>
                <p:extLst>
                  <p:ext uri="{D42A27DB-BD31-4B8C-83A1-F6EECF244321}">
                    <p14:modId xmlns:p14="http://schemas.microsoft.com/office/powerpoint/2010/main" val="1560368166"/>
                  </p:ext>
                </p:extLst>
              </p:nvPr>
            </p:nvGraphicFramePr>
            <p:xfrm>
              <a:off x="2616071" y="2554607"/>
              <a:ext cx="2877534" cy="2962988"/>
            </p:xfrm>
            <a:graphic>
              <a:graphicData uri="http://schemas.microsoft.com/office/drawing/2017/model3d">
                <am3d:model3d r:embed="rId3">
                  <am3d:spPr>
                    <a:xfrm>
                      <a:off x="0" y="0"/>
                      <a:ext cx="2877534" cy="2962988"/>
                    </a:xfrm>
                    <a:prstGeom prst="rect">
                      <a:avLst/>
                    </a:prstGeom>
                  </am3d:spPr>
                  <am3d:camera>
                    <am3d:pos x="0" y="0" z="81469202"/>
                    <am3d:up dx="0" dy="36000000" dz="0"/>
                    <am3d:lookAt x="0" y="0" z="0"/>
                    <am3d:perspective fov="2700000"/>
                  </am3d:camera>
                  <am3d:trans>
                    <am3d:meterPerModelUnit n="240963" d="1000000"/>
                    <am3d:preTrans dx="-16698793" dy="-16698793" dz="-16698793"/>
                    <am3d:scale>
                      <am3d:sx n="1000000" d="1000000"/>
                      <am3d:sy n="1000000" d="1000000"/>
                      <am3d:sz n="1000000" d="1000000"/>
                    </am3d:scale>
                    <am3d:rot ax="2094411" ay="-1497889" az="-984606"/>
                    <am3d:postTrans dx="0" dy="0" dz="0"/>
                  </am3d:trans>
                  <am3d:raster rName="Office3DRenderer" rVer="16.0.8326">
                    <am3d:blip r:embed="rId4"/>
                  </am3d:raster>
                  <am3d:objViewport viewportSz="406400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3D Model 12">
                <a:extLst>
                  <a:ext uri="{FF2B5EF4-FFF2-40B4-BE49-F238E27FC236}">
                    <a16:creationId xmlns:a16="http://schemas.microsoft.com/office/drawing/2014/main" id="{3598258B-6498-836F-11C3-4A5A4E938156}"/>
                  </a:ext>
                </a:extLst>
              </p:cNvPr>
              <p:cNvPicPr>
                <a:picLocks noGrp="1" noRot="1" noChangeAspect="1" noMove="1" noResize="1" noEditPoints="1" noAdjustHandles="1" noChangeArrowheads="1" noChangeShapeType="1" noCrop="1"/>
              </p:cNvPicPr>
              <p:nvPr/>
            </p:nvPicPr>
            <p:blipFill>
              <a:blip r:embed="rId4"/>
              <a:stretch>
                <a:fillRect/>
              </a:stretch>
            </p:blipFill>
            <p:spPr>
              <a:xfrm>
                <a:off x="2616071" y="2554607"/>
                <a:ext cx="2877534" cy="2962988"/>
              </a:xfrm>
              <a:prstGeom prst="rect">
                <a:avLst/>
              </a:prstGeom>
            </p:spPr>
          </p:pic>
        </mc:Fallback>
      </mc:AlternateContent>
    </p:spTree>
    <p:extLst>
      <p:ext uri="{BB962C8B-B14F-4D97-AF65-F5344CB8AC3E}">
        <p14:creationId xmlns:p14="http://schemas.microsoft.com/office/powerpoint/2010/main" val="1489900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A31E1-3BF3-9F2C-50BD-4A9E0E623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30F99-5F54-5929-F757-E5615BCE68B1}"/>
              </a:ext>
            </a:extLst>
          </p:cNvPr>
          <p:cNvSpPr>
            <a:spLocks noGrp="1"/>
          </p:cNvSpPr>
          <p:nvPr>
            <p:ph type="title"/>
          </p:nvPr>
        </p:nvSpPr>
        <p:spPr>
          <a:xfrm>
            <a:off x="509666" y="637774"/>
            <a:ext cx="8229600" cy="1066800"/>
          </a:xfrm>
        </p:spPr>
        <p:txBody>
          <a:bodyPr/>
          <a:lstStyle/>
          <a:p>
            <a:r>
              <a:rPr lang="en-US" dirty="0"/>
              <a:t>Geometry Definitions for 2D and 3D Sampling Features</a:t>
            </a:r>
          </a:p>
        </p:txBody>
      </p:sp>
      <p:sp>
        <p:nvSpPr>
          <p:cNvPr id="3" name="Content Placeholder 2">
            <a:extLst>
              <a:ext uri="{FF2B5EF4-FFF2-40B4-BE49-F238E27FC236}">
                <a16:creationId xmlns:a16="http://schemas.microsoft.com/office/drawing/2014/main" id="{85AAD00D-6E0E-0191-650E-FFB0E69122FB}"/>
              </a:ext>
            </a:extLst>
          </p:cNvPr>
          <p:cNvSpPr>
            <a:spLocks noGrp="1"/>
          </p:cNvSpPr>
          <p:nvPr>
            <p:ph idx="1"/>
          </p:nvPr>
        </p:nvSpPr>
        <p:spPr>
          <a:xfrm>
            <a:off x="457200" y="1670154"/>
            <a:ext cx="8229600" cy="4324350"/>
          </a:xfrm>
        </p:spPr>
        <p:txBody>
          <a:bodyPr/>
          <a:lstStyle/>
          <a:p>
            <a:r>
              <a:rPr lang="en-US" dirty="0"/>
              <a:t>2D</a:t>
            </a:r>
          </a:p>
          <a:p>
            <a:pPr lvl="1"/>
            <a:r>
              <a:rPr lang="en-US" dirty="0" err="1"/>
              <a:t>referencePoint</a:t>
            </a:r>
            <a:r>
              <a:rPr lang="en-US" dirty="0"/>
              <a:t> (</a:t>
            </a:r>
            <a:r>
              <a:rPr lang="en-US" dirty="0" err="1"/>
              <a:t>PointLocation</a:t>
            </a:r>
            <a:r>
              <a:rPr lang="en-US" dirty="0"/>
              <a:t> as before)</a:t>
            </a:r>
          </a:p>
          <a:p>
            <a:pPr lvl="1"/>
            <a:r>
              <a:rPr lang="en-US" dirty="0" err="1"/>
              <a:t>featureExtent</a:t>
            </a:r>
            <a:r>
              <a:rPr lang="en-US" dirty="0"/>
              <a:t> (Solid)</a:t>
            </a:r>
          </a:p>
        </p:txBody>
      </p:sp>
      <p:sp>
        <p:nvSpPr>
          <p:cNvPr id="9" name="TextBox 8">
            <a:extLst>
              <a:ext uri="{FF2B5EF4-FFF2-40B4-BE49-F238E27FC236}">
                <a16:creationId xmlns:a16="http://schemas.microsoft.com/office/drawing/2014/main" id="{CC37EF32-4667-A524-02CF-1D7EDBDE2E36}"/>
              </a:ext>
            </a:extLst>
          </p:cNvPr>
          <p:cNvSpPr txBox="1"/>
          <p:nvPr/>
        </p:nvSpPr>
        <p:spPr>
          <a:xfrm>
            <a:off x="3637613" y="5394121"/>
            <a:ext cx="697627" cy="646331"/>
          </a:xfrm>
          <a:prstGeom prst="rect">
            <a:avLst/>
          </a:prstGeom>
          <a:noFill/>
        </p:spPr>
        <p:txBody>
          <a:bodyPr wrap="none" rtlCol="0">
            <a:spAutoFit/>
          </a:bodyPr>
          <a:lstStyle/>
          <a:p>
            <a:r>
              <a:rPr lang="en-US" dirty="0"/>
              <a:t>Solid</a:t>
            </a:r>
          </a:p>
          <a:p>
            <a:endParaRPr lang="en-US" dirty="0"/>
          </a:p>
        </p:txBody>
      </p:sp>
      <p:sp>
        <p:nvSpPr>
          <p:cNvPr id="4" name="TextBox 3">
            <a:extLst>
              <a:ext uri="{FF2B5EF4-FFF2-40B4-BE49-F238E27FC236}">
                <a16:creationId xmlns:a16="http://schemas.microsoft.com/office/drawing/2014/main" id="{9C0C4568-2102-3948-7DF0-F33BB1273477}"/>
              </a:ext>
            </a:extLst>
          </p:cNvPr>
          <p:cNvSpPr txBox="1"/>
          <p:nvPr/>
        </p:nvSpPr>
        <p:spPr>
          <a:xfrm>
            <a:off x="178680" y="5804709"/>
            <a:ext cx="4673074" cy="369332"/>
          </a:xfrm>
          <a:prstGeom prst="rect">
            <a:avLst/>
          </a:prstGeom>
          <a:noFill/>
        </p:spPr>
        <p:txBody>
          <a:bodyPr wrap="none" rtlCol="0">
            <a:spAutoFit/>
          </a:bodyPr>
          <a:lstStyle/>
          <a:p>
            <a:r>
              <a:rPr lang="en-US" dirty="0"/>
              <a:t>Each face is defined as a 2D surface (Shell)</a:t>
            </a:r>
          </a:p>
        </p:txBody>
      </p:sp>
      <mc:AlternateContent xmlns:mc="http://schemas.openxmlformats.org/markup-compatibility/2006">
        <mc:Choice xmlns:am3d="http://schemas.microsoft.com/office/drawing/2017/model3d" Requires="am3d">
          <p:graphicFrame>
            <p:nvGraphicFramePr>
              <p:cNvPr id="13" name="3D Model 12">
                <a:extLst>
                  <a:ext uri="{FF2B5EF4-FFF2-40B4-BE49-F238E27FC236}">
                    <a16:creationId xmlns:a16="http://schemas.microsoft.com/office/drawing/2014/main" id="{BC9FAEA9-E8AE-34D7-B99B-065D269F6066}"/>
                  </a:ext>
                </a:extLst>
              </p:cNvPr>
              <p:cNvGraphicFramePr>
                <a:graphicFrameLocks noChangeAspect="1"/>
              </p:cNvGraphicFramePr>
              <p:nvPr>
                <p:extLst>
                  <p:ext uri="{D42A27DB-BD31-4B8C-83A1-F6EECF244321}">
                    <p14:modId xmlns:p14="http://schemas.microsoft.com/office/powerpoint/2010/main" val="3115250"/>
                  </p:ext>
                </p:extLst>
              </p:nvPr>
            </p:nvGraphicFramePr>
            <p:xfrm>
              <a:off x="2273420" y="2042201"/>
              <a:ext cx="3562835" cy="3987800"/>
            </p:xfrm>
            <a:graphic>
              <a:graphicData uri="http://schemas.microsoft.com/office/drawing/2017/model3d">
                <am3d:model3d r:embed="rId3">
                  <am3d:spPr>
                    <a:xfrm>
                      <a:off x="0" y="0"/>
                      <a:ext cx="3562835" cy="3987800"/>
                    </a:xfrm>
                    <a:prstGeom prst="rect">
                      <a:avLst/>
                    </a:prstGeom>
                  </am3d:spPr>
                  <am3d:camera>
                    <am3d:pos x="0" y="0" z="81469202"/>
                    <am3d:up dx="0" dy="36000000" dz="0"/>
                    <am3d:lookAt x="0" y="0" z="0"/>
                    <am3d:perspective fov="2700000"/>
                  </am3d:camera>
                  <am3d:trans>
                    <am3d:meterPerModelUnit n="240963" d="1000000"/>
                    <am3d:preTrans dx="-16698793" dy="-16698793" dz="-16698793"/>
                    <am3d:scale>
                      <am3d:sx n="1000000" d="1000000"/>
                      <am3d:sy n="1000000" d="1000000"/>
                      <am3d:sz n="1000000" d="1000000"/>
                    </am3d:scale>
                    <am3d:rot ax="-8877095" ay="1771485" az="-9771220"/>
                    <am3d:postTrans dx="0" dy="0" dz="0"/>
                  </am3d:trans>
                  <am3d:raster rName="Office3DRenderer" rVer="16.0.8326">
                    <am3d:blip r:embed="rId4"/>
                  </am3d:raster>
                  <am3d:objViewport viewportSz="406400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3D Model 12">
                <a:extLst>
                  <a:ext uri="{FF2B5EF4-FFF2-40B4-BE49-F238E27FC236}">
                    <a16:creationId xmlns:a16="http://schemas.microsoft.com/office/drawing/2014/main" id="{BC9FAEA9-E8AE-34D7-B99B-065D269F6066}"/>
                  </a:ext>
                </a:extLst>
              </p:cNvPr>
              <p:cNvPicPr>
                <a:picLocks noGrp="1" noRot="1" noChangeAspect="1" noMove="1" noResize="1" noEditPoints="1" noAdjustHandles="1" noChangeArrowheads="1" noChangeShapeType="1" noCrop="1"/>
              </p:cNvPicPr>
              <p:nvPr/>
            </p:nvPicPr>
            <p:blipFill>
              <a:blip r:embed="rId4"/>
              <a:stretch>
                <a:fillRect/>
              </a:stretch>
            </p:blipFill>
            <p:spPr>
              <a:xfrm>
                <a:off x="2273420" y="2042201"/>
                <a:ext cx="3562835" cy="3987800"/>
              </a:xfrm>
              <a:prstGeom prst="rect">
                <a:avLst/>
              </a:prstGeom>
            </p:spPr>
          </p:pic>
        </mc:Fallback>
      </mc:AlternateContent>
    </p:spTree>
    <p:extLst>
      <p:ext uri="{BB962C8B-B14F-4D97-AF65-F5344CB8AC3E}">
        <p14:creationId xmlns:p14="http://schemas.microsoft.com/office/powerpoint/2010/main" val="35107720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D6587-F890-2EF0-94E3-D90EFB5DD480}"/>
              </a:ext>
            </a:extLst>
          </p:cNvPr>
          <p:cNvSpPr>
            <a:spLocks noGrp="1"/>
          </p:cNvSpPr>
          <p:nvPr>
            <p:ph type="title"/>
          </p:nvPr>
        </p:nvSpPr>
        <p:spPr>
          <a:xfrm>
            <a:off x="547141" y="505918"/>
            <a:ext cx="8229600" cy="1066800"/>
          </a:xfrm>
        </p:spPr>
        <p:txBody>
          <a:bodyPr/>
          <a:lstStyle/>
          <a:p>
            <a:r>
              <a:rPr lang="en-US" dirty="0"/>
              <a:t>What SF’s might be required for R-I?</a:t>
            </a:r>
          </a:p>
        </p:txBody>
      </p:sp>
      <p:sp>
        <p:nvSpPr>
          <p:cNvPr id="3" name="Content Placeholder 2">
            <a:extLst>
              <a:ext uri="{FF2B5EF4-FFF2-40B4-BE49-F238E27FC236}">
                <a16:creationId xmlns:a16="http://schemas.microsoft.com/office/drawing/2014/main" id="{F2180A3D-526F-4748-D647-B7BEE72A2CEC}"/>
              </a:ext>
            </a:extLst>
          </p:cNvPr>
          <p:cNvSpPr>
            <a:spLocks noGrp="1"/>
          </p:cNvSpPr>
          <p:nvPr>
            <p:ph idx="1"/>
          </p:nvPr>
        </p:nvSpPr>
        <p:spPr>
          <a:xfrm>
            <a:off x="269823" y="1266825"/>
            <a:ext cx="8229600" cy="4324350"/>
          </a:xfrm>
        </p:spPr>
        <p:txBody>
          <a:bodyPr/>
          <a:lstStyle/>
          <a:p>
            <a:r>
              <a:rPr lang="en-US" dirty="0"/>
              <a:t>R-I element options:</a:t>
            </a:r>
          </a:p>
          <a:p>
            <a:pPr marL="925512" lvl="1" indent="-514350">
              <a:buFont typeface="+mj-lt"/>
              <a:buAutoNum type="arabicParenR"/>
            </a:pPr>
            <a:r>
              <a:rPr lang="en-US" dirty="0"/>
              <a:t>Specialized linear SF with R-I construction properties contained within the SF (</a:t>
            </a:r>
            <a:r>
              <a:rPr lang="en-US" dirty="0" err="1"/>
              <a:t>eg.</a:t>
            </a:r>
            <a:r>
              <a:rPr lang="en-US" dirty="0"/>
              <a:t> Borehole)</a:t>
            </a:r>
          </a:p>
          <a:p>
            <a:pPr marL="925512" lvl="1" indent="-514350">
              <a:buFont typeface="+mj-lt"/>
              <a:buAutoNum type="arabicParenR"/>
            </a:pPr>
            <a:r>
              <a:rPr lang="en-US" dirty="0"/>
              <a:t>Borehole with </a:t>
            </a:r>
            <a:r>
              <a:rPr lang="en-US" dirty="0" err="1"/>
              <a:t>ConstructionActivity</a:t>
            </a:r>
            <a:r>
              <a:rPr lang="en-US" dirty="0"/>
              <a:t> within the borehole. (</a:t>
            </a:r>
            <a:r>
              <a:rPr lang="en-US" dirty="0" err="1"/>
              <a:t>eg.</a:t>
            </a:r>
            <a:r>
              <a:rPr lang="en-US" dirty="0"/>
              <a:t> grouting)</a:t>
            </a:r>
          </a:p>
          <a:p>
            <a:pPr marL="925512" lvl="1" indent="-514350">
              <a:buFont typeface="+mj-lt"/>
              <a:buAutoNum type="arabicParenR"/>
            </a:pPr>
            <a:r>
              <a:rPr lang="en-US" dirty="0"/>
              <a:t>As Installation in a Borehole (</a:t>
            </a:r>
            <a:r>
              <a:rPr lang="en-US" dirty="0" err="1"/>
              <a:t>eg.</a:t>
            </a:r>
            <a:r>
              <a:rPr lang="en-US" dirty="0"/>
              <a:t> pile) </a:t>
            </a:r>
          </a:p>
          <a:p>
            <a:r>
              <a:rPr lang="en-US" dirty="0"/>
              <a:t>Load Transfer Platform options</a:t>
            </a:r>
          </a:p>
          <a:p>
            <a:pPr lvl="1"/>
            <a:r>
              <a:rPr lang="en-US" dirty="0"/>
              <a:t>Is a SF describing LTP necessary?</a:t>
            </a:r>
          </a:p>
          <a:p>
            <a:pPr lvl="1"/>
            <a:r>
              <a:rPr lang="en-US" dirty="0"/>
              <a:t>Pseudo-1D, 2D or 3D SF?</a:t>
            </a:r>
          </a:p>
          <a:p>
            <a:r>
              <a:rPr lang="en-US" dirty="0"/>
              <a:t>Specialized R-I collection (as a single SF) or SF group?</a:t>
            </a:r>
          </a:p>
          <a:p>
            <a:pPr lvl="1"/>
            <a:r>
              <a:rPr lang="en-US" dirty="0"/>
              <a:t>To tie RI and LTP </a:t>
            </a:r>
            <a:r>
              <a:rPr lang="en-US" dirty="0" err="1"/>
              <a:t>elementstogether</a:t>
            </a:r>
            <a:r>
              <a:rPr lang="en-US" dirty="0"/>
              <a:t> cleanly (</a:t>
            </a:r>
            <a:r>
              <a:rPr lang="en-US" dirty="0" err="1"/>
              <a:t>eg.</a:t>
            </a:r>
            <a:r>
              <a:rPr lang="en-US" dirty="0"/>
              <a:t> </a:t>
            </a:r>
            <a:r>
              <a:rPr lang="en-US" dirty="0" err="1"/>
              <a:t>GP_Multitrack</a:t>
            </a:r>
            <a:r>
              <a:rPr lang="en-US" dirty="0"/>
              <a:t>)</a:t>
            </a:r>
          </a:p>
          <a:p>
            <a:pPr lvl="1"/>
            <a:r>
              <a:rPr lang="en-US" dirty="0"/>
              <a:t>	</a:t>
            </a:r>
          </a:p>
        </p:txBody>
      </p:sp>
    </p:spTree>
    <p:extLst>
      <p:ext uri="{BB962C8B-B14F-4D97-AF65-F5344CB8AC3E}">
        <p14:creationId xmlns:p14="http://schemas.microsoft.com/office/powerpoint/2010/main" val="1999565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733D-7266-3194-C91D-61FBB4665BC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A9FAAF9-F7A5-1679-FE4D-88C2B7F6578C}"/>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803148"/>
            <a:ext cx="8642840" cy="6063644"/>
          </a:xfrm>
          <a:prstGeom prst="rect">
            <a:avLst/>
          </a:prstGeom>
        </p:spPr>
      </p:pic>
      <p:sp>
        <p:nvSpPr>
          <p:cNvPr id="2" name="Title 1">
            <a:extLst>
              <a:ext uri="{FF2B5EF4-FFF2-40B4-BE49-F238E27FC236}">
                <a16:creationId xmlns:a16="http://schemas.microsoft.com/office/drawing/2014/main" id="{23A46117-0438-8B5A-22AE-3C1C0319F54F}"/>
              </a:ext>
            </a:extLst>
          </p:cNvPr>
          <p:cNvSpPr>
            <a:spLocks noGrp="1"/>
          </p:cNvSpPr>
          <p:nvPr>
            <p:ph type="title"/>
          </p:nvPr>
        </p:nvSpPr>
        <p:spPr>
          <a:xfrm>
            <a:off x="376178" y="190555"/>
            <a:ext cx="8229600" cy="1066800"/>
          </a:xfrm>
        </p:spPr>
        <p:txBody>
          <a:bodyPr/>
          <a:lstStyle/>
          <a:p>
            <a:r>
              <a:rPr lang="en-US" dirty="0"/>
              <a:t>DIGGS Data Model</a:t>
            </a:r>
          </a:p>
        </p:txBody>
      </p:sp>
      <p:sp>
        <p:nvSpPr>
          <p:cNvPr id="3" name="Content Placeholder 2">
            <a:extLst>
              <a:ext uri="{FF2B5EF4-FFF2-40B4-BE49-F238E27FC236}">
                <a16:creationId xmlns:a16="http://schemas.microsoft.com/office/drawing/2014/main" id="{318FD4EC-F633-F19E-7E0F-9D6F013D4F40}"/>
              </a:ext>
            </a:extLst>
          </p:cNvPr>
          <p:cNvSpPr>
            <a:spLocks noGrp="1"/>
          </p:cNvSpPr>
          <p:nvPr>
            <p:ph idx="1"/>
          </p:nvPr>
        </p:nvSpPr>
        <p:spPr/>
        <p:txBody>
          <a:bodyPr/>
          <a:lstStyle/>
          <a:p>
            <a:endParaRPr lang="en-US" dirty="0"/>
          </a:p>
        </p:txBody>
      </p:sp>
      <p:sp>
        <p:nvSpPr>
          <p:cNvPr id="7" name="Rectangle 6">
            <a:extLst>
              <a:ext uri="{FF2B5EF4-FFF2-40B4-BE49-F238E27FC236}">
                <a16:creationId xmlns:a16="http://schemas.microsoft.com/office/drawing/2014/main" id="{03CFC14B-24F0-0BE8-2657-25FFBB57A503}"/>
              </a:ext>
            </a:extLst>
          </p:cNvPr>
          <p:cNvSpPr/>
          <p:nvPr/>
        </p:nvSpPr>
        <p:spPr>
          <a:xfrm>
            <a:off x="1143000" y="2883877"/>
            <a:ext cx="2031023" cy="870438"/>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294A97-5866-1D82-4EEC-6D6372A9CDC3}"/>
              </a:ext>
            </a:extLst>
          </p:cNvPr>
          <p:cNvSpPr txBox="1"/>
          <p:nvPr/>
        </p:nvSpPr>
        <p:spPr>
          <a:xfrm>
            <a:off x="294359" y="1716755"/>
            <a:ext cx="1999265" cy="461665"/>
          </a:xfrm>
          <a:prstGeom prst="rect">
            <a:avLst/>
          </a:prstGeom>
          <a:noFill/>
        </p:spPr>
        <p:txBody>
          <a:bodyPr wrap="none" rtlCol="0">
            <a:spAutoFit/>
          </a:bodyPr>
          <a:lstStyle/>
          <a:p>
            <a:r>
              <a:rPr lang="en-US" sz="2400" dirty="0"/>
              <a:t>Observations</a:t>
            </a:r>
          </a:p>
        </p:txBody>
      </p:sp>
      <p:sp>
        <p:nvSpPr>
          <p:cNvPr id="11" name="Right Arrow 10">
            <a:extLst>
              <a:ext uri="{FF2B5EF4-FFF2-40B4-BE49-F238E27FC236}">
                <a16:creationId xmlns:a16="http://schemas.microsoft.com/office/drawing/2014/main" id="{F67E846E-EE8A-A773-40AA-DBAA56164B6C}"/>
              </a:ext>
            </a:extLst>
          </p:cNvPr>
          <p:cNvSpPr/>
          <p:nvPr/>
        </p:nvSpPr>
        <p:spPr>
          <a:xfrm rot="2700000">
            <a:off x="1306900" y="2462030"/>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Tree>
    <p:extLst>
      <p:ext uri="{BB962C8B-B14F-4D97-AF65-F5344CB8AC3E}">
        <p14:creationId xmlns:p14="http://schemas.microsoft.com/office/powerpoint/2010/main" val="868238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457200"/>
          </a:xfrm>
        </p:spPr>
        <p:txBody>
          <a:bodyPr/>
          <a:lstStyle/>
          <a:p>
            <a:r>
              <a:rPr lang="en-US" dirty="0">
                <a:latin typeface="Calibri" charset="0"/>
              </a:rPr>
              <a:t>DIGGS Data Model</a:t>
            </a:r>
          </a:p>
        </p:txBody>
      </p:sp>
      <p:sp>
        <p:nvSpPr>
          <p:cNvPr id="3" name="Content Placeholder 2">
            <a:extLst>
              <a:ext uri="{FF2B5EF4-FFF2-40B4-BE49-F238E27FC236}">
                <a16:creationId xmlns:a16="http://schemas.microsoft.com/office/drawing/2014/main" id="{DA4DB702-1B73-3249-AFFF-A2B910ED7E65}"/>
              </a:ext>
            </a:extLst>
          </p:cNvPr>
          <p:cNvSpPr>
            <a:spLocks noGrp="1"/>
          </p:cNvSpPr>
          <p:nvPr>
            <p:ph idx="1"/>
          </p:nvPr>
        </p:nvSpPr>
        <p:spPr>
          <a:xfrm>
            <a:off x="373116" y="1177159"/>
            <a:ext cx="8581697" cy="5680841"/>
          </a:xfrm>
          <a:solidFill>
            <a:schemeClr val="bg1"/>
          </a:solidFill>
        </p:spPr>
        <p:txBody>
          <a:bodyPr/>
          <a:lstStyle/>
          <a:p>
            <a:r>
              <a:rPr lang="en-US" dirty="0"/>
              <a:t>Observation (ISO 19156)</a:t>
            </a:r>
          </a:p>
          <a:p>
            <a:pPr lvl="1"/>
            <a:r>
              <a:rPr lang="en-US" dirty="0"/>
              <a:t>An observation is an act associated with a discrete time instant or period through which a number, term or other symbol is assigned to a characteristic. This act involves application of a specified procedure, such as a sensor, instrument, algorithm or process chain. The procedure may be applied in-situ, remotely, or ex-situ with respect to the sampling location. The result of an observation is an estimate of the value of a property of some feature; an observation is a property-value-provider for a feature-of-interest. Use of a common model allows observation data using different procedures to be combined unambiguously</a:t>
            </a:r>
          </a:p>
          <a:p>
            <a:pPr lvl="1"/>
            <a:endParaRPr lang="en-US" dirty="0"/>
          </a:p>
        </p:txBody>
      </p:sp>
      <p:pic>
        <p:nvPicPr>
          <p:cNvPr id="2" name="Picture 19">
            <a:extLst>
              <a:ext uri="{FF2B5EF4-FFF2-40B4-BE49-F238E27FC236}">
                <a16:creationId xmlns:a16="http://schemas.microsoft.com/office/drawing/2014/main" id="{27435612-4E1F-D253-B5A5-701DB28F90C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121012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457200"/>
          </a:xfrm>
        </p:spPr>
        <p:txBody>
          <a:bodyPr/>
          <a:lstStyle/>
          <a:p>
            <a:r>
              <a:rPr lang="en-US" dirty="0">
                <a:latin typeface="Calibri" charset="0"/>
              </a:rPr>
              <a:t>DIGGS Data Model</a:t>
            </a:r>
          </a:p>
        </p:txBody>
      </p:sp>
      <p:sp>
        <p:nvSpPr>
          <p:cNvPr id="3" name="Content Placeholder 2">
            <a:extLst>
              <a:ext uri="{FF2B5EF4-FFF2-40B4-BE49-F238E27FC236}">
                <a16:creationId xmlns:a16="http://schemas.microsoft.com/office/drawing/2014/main" id="{DA4DB702-1B73-3249-AFFF-A2B910ED7E65}"/>
              </a:ext>
            </a:extLst>
          </p:cNvPr>
          <p:cNvSpPr>
            <a:spLocks noGrp="1"/>
          </p:cNvSpPr>
          <p:nvPr>
            <p:ph idx="1"/>
          </p:nvPr>
        </p:nvSpPr>
        <p:spPr>
          <a:xfrm>
            <a:off x="373116" y="1177159"/>
            <a:ext cx="8581697" cy="5680841"/>
          </a:xfrm>
          <a:solidFill>
            <a:schemeClr val="bg1"/>
          </a:solidFill>
        </p:spPr>
        <p:txBody>
          <a:bodyPr/>
          <a:lstStyle/>
          <a:p>
            <a:r>
              <a:rPr lang="en-US" dirty="0"/>
              <a:t>DIGGS considers two types of Observations:</a:t>
            </a:r>
          </a:p>
          <a:p>
            <a:pPr lvl="1"/>
            <a:r>
              <a:rPr lang="en-US" dirty="0"/>
              <a:t>Observation Systems </a:t>
            </a:r>
          </a:p>
          <a:p>
            <a:pPr lvl="1"/>
            <a:r>
              <a:rPr lang="en-US" dirty="0"/>
              <a:t>Measurements</a:t>
            </a:r>
          </a:p>
          <a:p>
            <a:r>
              <a:rPr lang="en-US" dirty="0"/>
              <a:t>DIGGS Observation Systems</a:t>
            </a:r>
          </a:p>
          <a:p>
            <a:pPr lvl="1"/>
            <a:r>
              <a:rPr lang="en-US" sz="2000" dirty="0"/>
              <a:t>Collection of spatially associated observations with the same set of property-value results</a:t>
            </a:r>
          </a:p>
          <a:p>
            <a:pPr lvl="1"/>
            <a:r>
              <a:rPr lang="en-US" sz="2000" dirty="0"/>
              <a:t>Results derives from direct human interaction, judgment or analysis.</a:t>
            </a:r>
          </a:p>
          <a:p>
            <a:pPr lvl="2"/>
            <a:r>
              <a:rPr lang="en-US" sz="2000" dirty="0"/>
              <a:t>Typically subjective; often qualitative, category based</a:t>
            </a:r>
          </a:p>
          <a:p>
            <a:pPr lvl="1"/>
            <a:r>
              <a:rPr lang="en-US" sz="2000" dirty="0"/>
              <a:t>Types of DIGGS observations:</a:t>
            </a:r>
          </a:p>
          <a:p>
            <a:pPr lvl="2"/>
            <a:r>
              <a:rPr lang="en-US" sz="2000" dirty="0"/>
              <a:t>Descriptive (</a:t>
            </a:r>
            <a:r>
              <a:rPr lang="en-US" sz="2000" dirty="0" err="1"/>
              <a:t>eg.</a:t>
            </a:r>
            <a:r>
              <a:rPr lang="en-US" sz="2000" dirty="0"/>
              <a:t> color, soil classification, field observations)</a:t>
            </a:r>
          </a:p>
          <a:p>
            <a:pPr lvl="2"/>
            <a:r>
              <a:rPr lang="en-US" sz="2000" dirty="0"/>
              <a:t>Interpretive/Generalization/Modeled</a:t>
            </a:r>
          </a:p>
          <a:p>
            <a:pPr lvl="3"/>
            <a:r>
              <a:rPr lang="en-US" sz="2000" dirty="0"/>
              <a:t>Genesis (</a:t>
            </a:r>
            <a:r>
              <a:rPr lang="en-US" sz="2000" dirty="0" err="1"/>
              <a:t>eg.</a:t>
            </a:r>
            <a:r>
              <a:rPr lang="en-US" sz="2000" dirty="0"/>
              <a:t> alluvium, beach sand)</a:t>
            </a:r>
          </a:p>
          <a:p>
            <a:pPr lvl="3"/>
            <a:r>
              <a:rPr lang="en-US" sz="2000" dirty="0"/>
              <a:t>Formation assignment (time or spatial ordering)</a:t>
            </a:r>
          </a:p>
          <a:p>
            <a:pPr lvl="3"/>
            <a:r>
              <a:rPr lang="en-US" sz="2000" dirty="0"/>
              <a:t>Modeled data (</a:t>
            </a:r>
            <a:r>
              <a:rPr lang="en-US" sz="2000" dirty="0" err="1"/>
              <a:t>eg.</a:t>
            </a:r>
            <a:r>
              <a:rPr lang="en-US" sz="2000" dirty="0"/>
              <a:t> velocity layering) </a:t>
            </a:r>
          </a:p>
          <a:p>
            <a:pPr lvl="1"/>
            <a:endParaRPr lang="en-US" dirty="0"/>
          </a:p>
        </p:txBody>
      </p:sp>
      <p:pic>
        <p:nvPicPr>
          <p:cNvPr id="2" name="Picture 19">
            <a:extLst>
              <a:ext uri="{FF2B5EF4-FFF2-40B4-BE49-F238E27FC236}">
                <a16:creationId xmlns:a16="http://schemas.microsoft.com/office/drawing/2014/main" id="{9DE2C9C0-5229-FE5D-42D6-C590B89372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73800" y="6061335"/>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390196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457200"/>
          </a:xfrm>
        </p:spPr>
        <p:txBody>
          <a:bodyPr/>
          <a:lstStyle/>
          <a:p>
            <a:r>
              <a:rPr lang="en-US" dirty="0">
                <a:latin typeface="Calibri" charset="0"/>
              </a:rPr>
              <a:t>DIGGS Data Model</a:t>
            </a:r>
          </a:p>
        </p:txBody>
      </p:sp>
      <p:pic>
        <p:nvPicPr>
          <p:cNvPr id="3074" name="Picture 2">
            <a:extLst>
              <a:ext uri="{FF2B5EF4-FFF2-40B4-BE49-F238E27FC236}">
                <a16:creationId xmlns:a16="http://schemas.microsoft.com/office/drawing/2014/main" id="{8393C81A-A249-C949-BF1D-E88CA3832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457200" y="1308521"/>
            <a:ext cx="8484433" cy="2031157"/>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6CE436B0-761D-8A41-9FED-7D6F3A49B605}"/>
              </a:ext>
            </a:extLst>
          </p:cNvPr>
          <p:cNvSpPr txBox="1">
            <a:spLocks/>
          </p:cNvSpPr>
          <p:nvPr/>
        </p:nvSpPr>
        <p:spPr bwMode="auto">
          <a:xfrm>
            <a:off x="373116" y="3657600"/>
            <a:ext cx="8581697" cy="3200400"/>
          </a:xfrm>
          <a:prstGeom prst="rect">
            <a:avLst/>
          </a:prstGeom>
          <a:solidFill>
            <a:schemeClr val="bg1"/>
          </a:solid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65125" indent="-255588" algn="l" rtl="0" eaLnBrk="0" fontAlgn="base" hangingPunct="0">
              <a:spcBef>
                <a:spcPts val="300"/>
              </a:spcBef>
              <a:spcAft>
                <a:spcPct val="0"/>
              </a:spcAft>
              <a:buClr>
                <a:srgbClr val="A04DA3"/>
              </a:buClr>
              <a:buFont typeface="Georgia" charset="0"/>
              <a:buChar char="•"/>
              <a:defRPr sz="2800" kern="1200">
                <a:solidFill>
                  <a:schemeClr val="tx1"/>
                </a:solidFill>
                <a:latin typeface="+mn-lt"/>
                <a:ea typeface="ＭＳ Ｐゴシック" charset="0"/>
                <a:cs typeface="ＭＳ Ｐゴシック" charset="0"/>
              </a:defRPr>
            </a:lvl1pPr>
            <a:lvl2pPr marL="657225" indent="-246063" algn="l" rtl="0" eaLnBrk="0" fontAlgn="base" hangingPunct="0">
              <a:spcBef>
                <a:spcPts val="300"/>
              </a:spcBef>
              <a:spcAft>
                <a:spcPct val="0"/>
              </a:spcAft>
              <a:buClr>
                <a:schemeClr val="accent2"/>
              </a:buClr>
              <a:buFont typeface="Georgia" charset="0"/>
              <a:buChar char="▫"/>
              <a:defRPr sz="2600" kern="1200">
                <a:solidFill>
                  <a:schemeClr val="accent2"/>
                </a:solidFill>
                <a:latin typeface="+mn-lt"/>
                <a:ea typeface="ＭＳ Ｐゴシック" charset="0"/>
                <a:cs typeface="+mn-cs"/>
              </a:defRPr>
            </a:lvl2pPr>
            <a:lvl3pPr marL="922338" indent="-219075" algn="l" rtl="0" eaLnBrk="0" fontAlgn="base" hangingPunct="0">
              <a:spcBef>
                <a:spcPts val="300"/>
              </a:spcBef>
              <a:spcAft>
                <a:spcPct val="0"/>
              </a:spcAft>
              <a:buClr>
                <a:schemeClr val="accent1"/>
              </a:buClr>
              <a:buFont typeface="Wingdings 2" charset="0"/>
              <a:buChar char=""/>
              <a:defRPr sz="2400" kern="1200">
                <a:solidFill>
                  <a:schemeClr val="accent1"/>
                </a:solidFill>
                <a:latin typeface="+mn-lt"/>
                <a:ea typeface="ＭＳ Ｐゴシック" charset="0"/>
                <a:cs typeface="+mn-cs"/>
              </a:defRPr>
            </a:lvl3pPr>
            <a:lvl4pPr marL="1179513" indent="-200025" algn="l" rtl="0" eaLnBrk="0" fontAlgn="base" hangingPunct="0">
              <a:spcBef>
                <a:spcPts val="300"/>
              </a:spcBef>
              <a:spcAft>
                <a:spcPct val="0"/>
              </a:spcAft>
              <a:buClr>
                <a:schemeClr val="accent1"/>
              </a:buClr>
              <a:buFont typeface="Wingdings 2" charset="0"/>
              <a:buChar char=""/>
              <a:defRPr sz="2200" kern="1200">
                <a:solidFill>
                  <a:schemeClr val="accent1"/>
                </a:solidFill>
                <a:latin typeface="+mn-lt"/>
                <a:ea typeface="ＭＳ Ｐゴシック" charset="0"/>
                <a:cs typeface="+mn-cs"/>
              </a:defRPr>
            </a:lvl4pPr>
            <a:lvl5pPr marL="1389063" indent="-182563" algn="l" rtl="0" eaLnBrk="0" fontAlgn="base" hangingPunct="0">
              <a:spcBef>
                <a:spcPts val="300"/>
              </a:spcBef>
              <a:spcAft>
                <a:spcPct val="0"/>
              </a:spcAft>
              <a:buClr>
                <a:srgbClr val="A04DA3"/>
              </a:buClr>
              <a:buFont typeface="Georgia" charset="0"/>
              <a:buChar char="▫"/>
              <a:defRPr sz="2000" kern="1200">
                <a:solidFill>
                  <a:srgbClr val="A04DA3"/>
                </a:solidFill>
                <a:latin typeface="+mn-lt"/>
                <a:ea typeface="ＭＳ Ｐゴシック" charset="0"/>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dirty="0"/>
              <a:t>Observation systems are include a collection of “observation” objects where each object contains properties that are observed at a specific location.</a:t>
            </a:r>
          </a:p>
          <a:p>
            <a:r>
              <a:rPr lang="en-US" dirty="0">
                <a:solidFill>
                  <a:schemeClr val="accent2"/>
                </a:solidFill>
              </a:rPr>
              <a:t>The observation procedure is specified within the observation system</a:t>
            </a:r>
          </a:p>
          <a:p>
            <a:pPr lvl="2"/>
            <a:endParaRPr lang="en-US" dirty="0">
              <a:solidFill>
                <a:srgbClr val="FF0000"/>
              </a:solidFill>
            </a:endParaRPr>
          </a:p>
        </p:txBody>
      </p:sp>
    </p:spTree>
    <p:extLst>
      <p:ext uri="{BB962C8B-B14F-4D97-AF65-F5344CB8AC3E}">
        <p14:creationId xmlns:p14="http://schemas.microsoft.com/office/powerpoint/2010/main" val="233244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1" name="Group 11"/>
          <p:cNvGrpSpPr>
            <a:grpSpLocks/>
          </p:cNvGrpSpPr>
          <p:nvPr/>
        </p:nvGrpSpPr>
        <p:grpSpPr bwMode="auto">
          <a:xfrm>
            <a:off x="339725" y="2209800"/>
            <a:ext cx="377825" cy="4343400"/>
            <a:chOff x="4572000" y="3429000"/>
            <a:chExt cx="228600" cy="2628900"/>
          </a:xfrm>
        </p:grpSpPr>
        <p:pic>
          <p:nvPicPr>
            <p:cNvPr id="46125" name="Picture 7"/>
            <p:cNvPicPr>
              <a:picLocks noChangeAspect="1"/>
            </p:cNvPicPr>
            <p:nvPr/>
          </p:nvPicPr>
          <p:blipFill>
            <a:blip r:embed="rId2">
              <a:extLst>
                <a:ext uri="{28A0092B-C50C-407E-A947-70E740481C1C}">
                  <a14:useLocalDpi xmlns:a14="http://schemas.microsoft.com/office/drawing/2010/main" val="0"/>
                </a:ext>
              </a:extLst>
            </a:blip>
            <a:srcRect l="31847" t="34076" r="64331"/>
            <a:stretch>
              <a:fillRect/>
            </a:stretch>
          </p:blipFill>
          <p:spPr bwMode="auto">
            <a:xfrm>
              <a:off x="4572000" y="3429000"/>
              <a:ext cx="228600" cy="2628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Rectangle 9"/>
            <p:cNvSpPr/>
            <p:nvPr/>
          </p:nvSpPr>
          <p:spPr>
            <a:xfrm>
              <a:off x="4572000" y="3429000"/>
              <a:ext cx="228600" cy="259046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46082" name="Title 1"/>
          <p:cNvSpPr>
            <a:spLocks noGrp="1"/>
          </p:cNvSpPr>
          <p:nvPr>
            <p:ph type="title"/>
          </p:nvPr>
        </p:nvSpPr>
        <p:spPr>
          <a:xfrm>
            <a:off x="435671" y="417742"/>
            <a:ext cx="8229600" cy="1066800"/>
          </a:xfrm>
        </p:spPr>
        <p:txBody>
          <a:bodyPr/>
          <a:lstStyle/>
          <a:p>
            <a:pPr eaLnBrk="1" hangingPunct="1"/>
            <a:r>
              <a:rPr lang="en-US" sz="2400" i="1" dirty="0" err="1"/>
              <a:t>ObservationSystems</a:t>
            </a:r>
            <a:r>
              <a:rPr lang="en-US" sz="2400" i="1" dirty="0"/>
              <a:t> </a:t>
            </a:r>
            <a:r>
              <a:rPr lang="en-US" sz="2400" dirty="0"/>
              <a:t>contain one or more </a:t>
            </a:r>
            <a:r>
              <a:rPr lang="en-US" sz="2400" i="1" dirty="0"/>
              <a:t>Observation</a:t>
            </a:r>
            <a:r>
              <a:rPr lang="en-US" sz="2400" dirty="0"/>
              <a:t> objects, each assigned to a region of a sampling feature</a:t>
            </a:r>
            <a:endParaRPr lang="en-US" sz="2400" i="1" dirty="0"/>
          </a:p>
        </p:txBody>
      </p:sp>
      <p:sp>
        <p:nvSpPr>
          <p:cNvPr id="46084" name="TextBox 15"/>
          <p:cNvSpPr txBox="1">
            <a:spLocks noChangeArrowheads="1"/>
          </p:cNvSpPr>
          <p:nvPr/>
        </p:nvSpPr>
        <p:spPr bwMode="auto">
          <a:xfrm>
            <a:off x="34925" y="6488113"/>
            <a:ext cx="11430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Borehole</a:t>
            </a:r>
          </a:p>
        </p:txBody>
      </p:sp>
      <p:cxnSp>
        <p:nvCxnSpPr>
          <p:cNvPr id="4" name="Straight Connector 3"/>
          <p:cNvCxnSpPr/>
          <p:nvPr/>
        </p:nvCxnSpPr>
        <p:spPr>
          <a:xfrm>
            <a:off x="720725" y="2219325"/>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720725" y="3429000"/>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20725" y="4724400"/>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720725" y="6553200"/>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720725" y="2667000"/>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873125" y="2209800"/>
            <a:ext cx="0" cy="4572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873125" y="2667000"/>
            <a:ext cx="0" cy="7620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873125" y="3429000"/>
            <a:ext cx="0" cy="12954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873125" y="4724400"/>
            <a:ext cx="0" cy="18288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46094" name="TextBox 24"/>
          <p:cNvSpPr txBox="1">
            <a:spLocks noChangeArrowheads="1"/>
          </p:cNvSpPr>
          <p:nvPr/>
        </p:nvSpPr>
        <p:spPr bwMode="auto">
          <a:xfrm>
            <a:off x="827971" y="2895600"/>
            <a:ext cx="45402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a:t>SM</a:t>
            </a:r>
          </a:p>
        </p:txBody>
      </p:sp>
      <p:sp>
        <p:nvSpPr>
          <p:cNvPr id="46095" name="Rectangle 26"/>
          <p:cNvSpPr>
            <a:spLocks noChangeArrowheads="1"/>
          </p:cNvSpPr>
          <p:nvPr/>
        </p:nvSpPr>
        <p:spPr bwMode="auto">
          <a:xfrm>
            <a:off x="861308" y="2286000"/>
            <a:ext cx="41592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CL</a:t>
            </a:r>
          </a:p>
        </p:txBody>
      </p:sp>
      <p:sp>
        <p:nvSpPr>
          <p:cNvPr id="46096" name="TextBox 57"/>
          <p:cNvSpPr txBox="1">
            <a:spLocks noChangeArrowheads="1"/>
          </p:cNvSpPr>
          <p:nvPr/>
        </p:nvSpPr>
        <p:spPr bwMode="auto">
          <a:xfrm>
            <a:off x="827971" y="3962400"/>
            <a:ext cx="439737"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a:t>GP</a:t>
            </a:r>
          </a:p>
        </p:txBody>
      </p:sp>
      <p:sp>
        <p:nvSpPr>
          <p:cNvPr id="46097" name="TextBox 58"/>
          <p:cNvSpPr txBox="1">
            <a:spLocks noChangeArrowheads="1"/>
          </p:cNvSpPr>
          <p:nvPr/>
        </p:nvSpPr>
        <p:spPr bwMode="auto">
          <a:xfrm>
            <a:off x="827971" y="5410200"/>
            <a:ext cx="45402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a:t>GC</a:t>
            </a:r>
          </a:p>
        </p:txBody>
      </p:sp>
      <p:cxnSp>
        <p:nvCxnSpPr>
          <p:cNvPr id="60" name="Straight Connector 59"/>
          <p:cNvCxnSpPr/>
          <p:nvPr/>
        </p:nvCxnSpPr>
        <p:spPr>
          <a:xfrm>
            <a:off x="2155825" y="2219325"/>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2155825" y="2667000"/>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2155825" y="3048000"/>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2155825" y="3577529"/>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2155825" y="4152697"/>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2155825" y="6553200"/>
            <a:ext cx="838200" cy="0"/>
          </a:xfrm>
          <a:prstGeom prst="line">
            <a:avLst/>
          </a:prstGeom>
        </p:spPr>
        <p:style>
          <a:lnRef idx="2">
            <a:schemeClr val="accent1"/>
          </a:lnRef>
          <a:fillRef idx="0">
            <a:schemeClr val="accent1"/>
          </a:fillRef>
          <a:effectRef idx="1">
            <a:schemeClr val="accent1"/>
          </a:effectRef>
          <a:fontRef idx="minor">
            <a:schemeClr val="tx1"/>
          </a:fontRef>
        </p:style>
      </p:cxnSp>
      <p:sp>
        <p:nvSpPr>
          <p:cNvPr id="46105" name="Rectangle 66"/>
          <p:cNvSpPr>
            <a:spLocks noChangeArrowheads="1"/>
          </p:cNvSpPr>
          <p:nvPr/>
        </p:nvSpPr>
        <p:spPr bwMode="auto">
          <a:xfrm>
            <a:off x="2080435" y="2286000"/>
            <a:ext cx="933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10YR 4/2</a:t>
            </a:r>
          </a:p>
        </p:txBody>
      </p:sp>
      <p:sp>
        <p:nvSpPr>
          <p:cNvPr id="46106" name="Rectangle 67"/>
          <p:cNvSpPr>
            <a:spLocks noChangeArrowheads="1"/>
          </p:cNvSpPr>
          <p:nvPr/>
        </p:nvSpPr>
        <p:spPr bwMode="auto">
          <a:xfrm>
            <a:off x="2080435" y="3098800"/>
            <a:ext cx="9842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7.5YR 4/3</a:t>
            </a:r>
          </a:p>
        </p:txBody>
      </p:sp>
      <p:sp>
        <p:nvSpPr>
          <p:cNvPr id="46107" name="Rectangle 68"/>
          <p:cNvSpPr>
            <a:spLocks noChangeArrowheads="1"/>
          </p:cNvSpPr>
          <p:nvPr/>
        </p:nvSpPr>
        <p:spPr bwMode="auto">
          <a:xfrm>
            <a:off x="2080435" y="2743200"/>
            <a:ext cx="933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a:solidFill>
                  <a:srgbClr val="000000"/>
                </a:solidFill>
              </a:rPr>
              <a:t>10YR 3/1</a:t>
            </a:r>
          </a:p>
        </p:txBody>
      </p:sp>
      <p:sp>
        <p:nvSpPr>
          <p:cNvPr id="46108" name="Rectangle 69"/>
          <p:cNvSpPr>
            <a:spLocks noChangeArrowheads="1"/>
          </p:cNvSpPr>
          <p:nvPr/>
        </p:nvSpPr>
        <p:spPr bwMode="auto">
          <a:xfrm>
            <a:off x="2105835" y="3705410"/>
            <a:ext cx="70167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5Y 6/3</a:t>
            </a:r>
          </a:p>
        </p:txBody>
      </p:sp>
      <p:sp>
        <p:nvSpPr>
          <p:cNvPr id="46110" name="Rectangle 71"/>
          <p:cNvSpPr>
            <a:spLocks noChangeArrowheads="1"/>
          </p:cNvSpPr>
          <p:nvPr/>
        </p:nvSpPr>
        <p:spPr bwMode="auto">
          <a:xfrm>
            <a:off x="2067735" y="4483100"/>
            <a:ext cx="933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10YR 6/2</a:t>
            </a:r>
          </a:p>
        </p:txBody>
      </p:sp>
      <p:sp>
        <p:nvSpPr>
          <p:cNvPr id="46111" name="TextBox 36"/>
          <p:cNvSpPr txBox="1">
            <a:spLocks noChangeArrowheads="1"/>
          </p:cNvSpPr>
          <p:nvPr/>
        </p:nvSpPr>
        <p:spPr bwMode="auto">
          <a:xfrm>
            <a:off x="5791200" y="2209800"/>
            <a:ext cx="2954655" cy="1600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i="1" u="sng" dirty="0"/>
              <a:t>Other </a:t>
            </a:r>
            <a:r>
              <a:rPr lang="en-US" sz="1800" i="1" u="sng" dirty="0" err="1"/>
              <a:t>ObservationSystems</a:t>
            </a:r>
            <a:endParaRPr lang="en-US" sz="1800" i="1" u="sng" dirty="0"/>
          </a:p>
          <a:p>
            <a:pPr algn="ctr" eaLnBrk="1" hangingPunct="1"/>
            <a:r>
              <a:rPr lang="en-US" sz="1600" dirty="0" err="1"/>
              <a:t>ConstituentSystem</a:t>
            </a:r>
            <a:endParaRPr lang="en-US" sz="1600" dirty="0"/>
          </a:p>
          <a:p>
            <a:pPr algn="ctr" eaLnBrk="1" hangingPunct="1"/>
            <a:r>
              <a:rPr lang="en-US" sz="1600" dirty="0" err="1"/>
              <a:t>DiscontinuitySystem</a:t>
            </a:r>
            <a:endParaRPr lang="en-US" sz="1600" dirty="0"/>
          </a:p>
          <a:p>
            <a:pPr algn="ctr" eaLnBrk="1" hangingPunct="1"/>
            <a:r>
              <a:rPr lang="en-US" sz="1600" dirty="0" err="1"/>
              <a:t>GeoUnitSystem</a:t>
            </a:r>
            <a:endParaRPr lang="en-US" sz="1600" dirty="0"/>
          </a:p>
          <a:p>
            <a:pPr algn="ctr" eaLnBrk="1" hangingPunct="1"/>
            <a:r>
              <a:rPr lang="en-US" sz="1600" dirty="0" err="1"/>
              <a:t>OrientationSystem</a:t>
            </a:r>
            <a:endParaRPr lang="en-US" sz="1600" dirty="0"/>
          </a:p>
          <a:p>
            <a:pPr algn="ctr" eaLnBrk="1" hangingPunct="1"/>
            <a:r>
              <a:rPr lang="en-US" sz="1600" dirty="0" err="1"/>
              <a:t>OtherDescriptionSystem</a:t>
            </a:r>
            <a:endParaRPr lang="en-US" sz="1600" dirty="0"/>
          </a:p>
        </p:txBody>
      </p:sp>
      <p:cxnSp>
        <p:nvCxnSpPr>
          <p:cNvPr id="101" name="Straight Connector 100"/>
          <p:cNvCxnSpPr/>
          <p:nvPr/>
        </p:nvCxnSpPr>
        <p:spPr>
          <a:xfrm>
            <a:off x="1292225" y="2219325"/>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a:off x="1292225" y="3048000"/>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a:off x="1292225" y="4152696"/>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a:off x="1292225" y="6553200"/>
            <a:ext cx="838200" cy="0"/>
          </a:xfrm>
          <a:prstGeom prst="line">
            <a:avLst/>
          </a:prstGeom>
        </p:spPr>
        <p:style>
          <a:lnRef idx="2">
            <a:schemeClr val="accent1"/>
          </a:lnRef>
          <a:fillRef idx="0">
            <a:schemeClr val="accent1"/>
          </a:fillRef>
          <a:effectRef idx="1">
            <a:schemeClr val="accent1"/>
          </a:effectRef>
          <a:fontRef idx="minor">
            <a:schemeClr val="tx1"/>
          </a:fontRef>
        </p:style>
      </p:cxnSp>
      <p:sp>
        <p:nvSpPr>
          <p:cNvPr id="46116" name="Rectangle 104"/>
          <p:cNvSpPr>
            <a:spLocks noChangeArrowheads="1"/>
          </p:cNvSpPr>
          <p:nvPr/>
        </p:nvSpPr>
        <p:spPr bwMode="auto">
          <a:xfrm>
            <a:off x="1368425" y="2514600"/>
            <a:ext cx="414338"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a:solidFill>
                  <a:srgbClr val="000000"/>
                </a:solidFill>
              </a:rPr>
              <a:t>Fill</a:t>
            </a:r>
          </a:p>
        </p:txBody>
      </p:sp>
      <p:sp>
        <p:nvSpPr>
          <p:cNvPr id="46117" name="Rectangle 105"/>
          <p:cNvSpPr>
            <a:spLocks noChangeArrowheads="1"/>
          </p:cNvSpPr>
          <p:nvPr/>
        </p:nvSpPr>
        <p:spPr bwMode="auto">
          <a:xfrm>
            <a:off x="1257300" y="3505200"/>
            <a:ext cx="8636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a:solidFill>
                  <a:srgbClr val="000000"/>
                </a:solidFill>
              </a:rPr>
              <a:t>Alluvium</a:t>
            </a:r>
          </a:p>
        </p:txBody>
      </p:sp>
      <p:sp>
        <p:nvSpPr>
          <p:cNvPr id="46118" name="Rectangle 106"/>
          <p:cNvSpPr>
            <a:spLocks noChangeArrowheads="1"/>
          </p:cNvSpPr>
          <p:nvPr/>
        </p:nvSpPr>
        <p:spPr bwMode="auto">
          <a:xfrm>
            <a:off x="1344613" y="5410200"/>
            <a:ext cx="693737"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a:solidFill>
                  <a:srgbClr val="000000"/>
                </a:solidFill>
              </a:rPr>
              <a:t>Briggs</a:t>
            </a:r>
          </a:p>
          <a:p>
            <a:r>
              <a:rPr lang="en-US" sz="1400">
                <a:solidFill>
                  <a:srgbClr val="000000"/>
                </a:solidFill>
              </a:rPr>
              <a:t>Fm.</a:t>
            </a:r>
          </a:p>
        </p:txBody>
      </p:sp>
      <p:grpSp>
        <p:nvGrpSpPr>
          <p:cNvPr id="46119" name="Group 8"/>
          <p:cNvGrpSpPr>
            <a:grpSpLocks/>
          </p:cNvGrpSpPr>
          <p:nvPr/>
        </p:nvGrpSpPr>
        <p:grpSpPr bwMode="auto">
          <a:xfrm>
            <a:off x="3159125" y="2209800"/>
            <a:ext cx="2133600" cy="2667000"/>
            <a:chOff x="5867400" y="3429000"/>
            <a:chExt cx="2514600" cy="1689100"/>
          </a:xfrm>
        </p:grpSpPr>
        <p:pic>
          <p:nvPicPr>
            <p:cNvPr id="46123" name="Picture 7"/>
            <p:cNvPicPr>
              <a:picLocks noChangeAspect="1"/>
            </p:cNvPicPr>
            <p:nvPr/>
          </p:nvPicPr>
          <p:blipFill>
            <a:blip r:embed="rId2">
              <a:extLst>
                <a:ext uri="{28A0092B-C50C-407E-A947-70E740481C1C}">
                  <a14:useLocalDpi xmlns:a14="http://schemas.microsoft.com/office/drawing/2010/main" val="0"/>
                </a:ext>
              </a:extLst>
            </a:blip>
            <a:srcRect l="53503" t="34076" r="4459" b="23567"/>
            <a:stretch>
              <a:fillRect/>
            </a:stretch>
          </p:blipFill>
          <p:spPr bwMode="auto">
            <a:xfrm>
              <a:off x="5867400" y="3429000"/>
              <a:ext cx="2514600" cy="168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4" name="Rectangle 113"/>
            <p:cNvSpPr/>
            <p:nvPr/>
          </p:nvSpPr>
          <p:spPr>
            <a:xfrm>
              <a:off x="5867400" y="3429000"/>
              <a:ext cx="2514600" cy="167603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46120" name="TextBox 15"/>
          <p:cNvSpPr txBox="1">
            <a:spLocks noChangeArrowheads="1"/>
          </p:cNvSpPr>
          <p:nvPr/>
        </p:nvSpPr>
        <p:spPr bwMode="auto">
          <a:xfrm>
            <a:off x="3505200" y="4953000"/>
            <a:ext cx="1371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TrenchWall</a:t>
            </a:r>
          </a:p>
        </p:txBody>
      </p:sp>
      <p:sp>
        <p:nvSpPr>
          <p:cNvPr id="77" name="Freeform 76"/>
          <p:cNvSpPr/>
          <p:nvPr/>
        </p:nvSpPr>
        <p:spPr>
          <a:xfrm>
            <a:off x="3127375" y="2581034"/>
            <a:ext cx="2139950" cy="173432"/>
          </a:xfrm>
          <a:custGeom>
            <a:avLst/>
            <a:gdLst>
              <a:gd name="connsiteX0" fmla="*/ 0 w 2153920"/>
              <a:gd name="connsiteY0" fmla="*/ 233680 h 326790"/>
              <a:gd name="connsiteX1" fmla="*/ 213360 w 2153920"/>
              <a:gd name="connsiteY1" fmla="*/ 264160 h 326790"/>
              <a:gd name="connsiteX2" fmla="*/ 487680 w 2153920"/>
              <a:gd name="connsiteY2" fmla="*/ 325120 h 326790"/>
              <a:gd name="connsiteX3" fmla="*/ 721360 w 2153920"/>
              <a:gd name="connsiteY3" fmla="*/ 304800 h 326790"/>
              <a:gd name="connsiteX4" fmla="*/ 1026160 w 2153920"/>
              <a:gd name="connsiteY4" fmla="*/ 254000 h 326790"/>
              <a:gd name="connsiteX5" fmla="*/ 1330960 w 2153920"/>
              <a:gd name="connsiteY5" fmla="*/ 162560 h 326790"/>
              <a:gd name="connsiteX6" fmla="*/ 1656080 w 2153920"/>
              <a:gd name="connsiteY6" fmla="*/ 101600 h 326790"/>
              <a:gd name="connsiteX7" fmla="*/ 1940560 w 2153920"/>
              <a:gd name="connsiteY7" fmla="*/ 30480 h 326790"/>
              <a:gd name="connsiteX8" fmla="*/ 2153920 w 2153920"/>
              <a:gd name="connsiteY8" fmla="*/ 0 h 326790"/>
              <a:gd name="connsiteX0" fmla="*/ 0 w 2166627"/>
              <a:gd name="connsiteY0" fmla="*/ 0 h 461145"/>
              <a:gd name="connsiteX1" fmla="*/ 226067 w 2166627"/>
              <a:gd name="connsiteY1" fmla="*/ 398515 h 461145"/>
              <a:gd name="connsiteX2" fmla="*/ 500387 w 2166627"/>
              <a:gd name="connsiteY2" fmla="*/ 459475 h 461145"/>
              <a:gd name="connsiteX3" fmla="*/ 734067 w 2166627"/>
              <a:gd name="connsiteY3" fmla="*/ 439155 h 461145"/>
              <a:gd name="connsiteX4" fmla="*/ 1038867 w 2166627"/>
              <a:gd name="connsiteY4" fmla="*/ 388355 h 461145"/>
              <a:gd name="connsiteX5" fmla="*/ 1343667 w 2166627"/>
              <a:gd name="connsiteY5" fmla="*/ 296915 h 461145"/>
              <a:gd name="connsiteX6" fmla="*/ 1668787 w 2166627"/>
              <a:gd name="connsiteY6" fmla="*/ 235955 h 461145"/>
              <a:gd name="connsiteX7" fmla="*/ 1953267 w 2166627"/>
              <a:gd name="connsiteY7" fmla="*/ 164835 h 461145"/>
              <a:gd name="connsiteX8" fmla="*/ 2166627 w 2166627"/>
              <a:gd name="connsiteY8" fmla="*/ 134355 h 461145"/>
              <a:gd name="connsiteX0" fmla="*/ 0 w 2166627"/>
              <a:gd name="connsiteY0" fmla="*/ 0 h 484566"/>
              <a:gd name="connsiteX1" fmla="*/ 391265 w 2166627"/>
              <a:gd name="connsiteY1" fmla="*/ 68553 h 484566"/>
              <a:gd name="connsiteX2" fmla="*/ 500387 w 2166627"/>
              <a:gd name="connsiteY2" fmla="*/ 459475 h 484566"/>
              <a:gd name="connsiteX3" fmla="*/ 734067 w 2166627"/>
              <a:gd name="connsiteY3" fmla="*/ 439155 h 484566"/>
              <a:gd name="connsiteX4" fmla="*/ 1038867 w 2166627"/>
              <a:gd name="connsiteY4" fmla="*/ 388355 h 484566"/>
              <a:gd name="connsiteX5" fmla="*/ 1343667 w 2166627"/>
              <a:gd name="connsiteY5" fmla="*/ 296915 h 484566"/>
              <a:gd name="connsiteX6" fmla="*/ 1668787 w 2166627"/>
              <a:gd name="connsiteY6" fmla="*/ 235955 h 484566"/>
              <a:gd name="connsiteX7" fmla="*/ 1953267 w 2166627"/>
              <a:gd name="connsiteY7" fmla="*/ 164835 h 484566"/>
              <a:gd name="connsiteX8" fmla="*/ 2166627 w 2166627"/>
              <a:gd name="connsiteY8" fmla="*/ 134355 h 484566"/>
              <a:gd name="connsiteX0" fmla="*/ 0 w 2166627"/>
              <a:gd name="connsiteY0" fmla="*/ 0 h 459002"/>
              <a:gd name="connsiteX1" fmla="*/ 391265 w 2166627"/>
              <a:gd name="connsiteY1" fmla="*/ 68553 h 459002"/>
              <a:gd name="connsiteX2" fmla="*/ 741829 w 2166627"/>
              <a:gd name="connsiteY2" fmla="*/ 40677 h 459002"/>
              <a:gd name="connsiteX3" fmla="*/ 734067 w 2166627"/>
              <a:gd name="connsiteY3" fmla="*/ 439155 h 459002"/>
              <a:gd name="connsiteX4" fmla="*/ 1038867 w 2166627"/>
              <a:gd name="connsiteY4" fmla="*/ 388355 h 459002"/>
              <a:gd name="connsiteX5" fmla="*/ 1343667 w 2166627"/>
              <a:gd name="connsiteY5" fmla="*/ 296915 h 459002"/>
              <a:gd name="connsiteX6" fmla="*/ 1668787 w 2166627"/>
              <a:gd name="connsiteY6" fmla="*/ 235955 h 459002"/>
              <a:gd name="connsiteX7" fmla="*/ 1953267 w 2166627"/>
              <a:gd name="connsiteY7" fmla="*/ 164835 h 459002"/>
              <a:gd name="connsiteX8" fmla="*/ 2166627 w 2166627"/>
              <a:gd name="connsiteY8" fmla="*/ 134355 h 459002"/>
              <a:gd name="connsiteX0" fmla="*/ 0 w 2166627"/>
              <a:gd name="connsiteY0" fmla="*/ 0 h 397189"/>
              <a:gd name="connsiteX1" fmla="*/ 391265 w 2166627"/>
              <a:gd name="connsiteY1" fmla="*/ 68553 h 397189"/>
              <a:gd name="connsiteX2" fmla="*/ 741829 w 2166627"/>
              <a:gd name="connsiteY2" fmla="*/ 40677 h 397189"/>
              <a:gd name="connsiteX3" fmla="*/ 1064461 w 2166627"/>
              <a:gd name="connsiteY3" fmla="*/ 58430 h 397189"/>
              <a:gd name="connsiteX4" fmla="*/ 1038867 w 2166627"/>
              <a:gd name="connsiteY4" fmla="*/ 388355 h 397189"/>
              <a:gd name="connsiteX5" fmla="*/ 1343667 w 2166627"/>
              <a:gd name="connsiteY5" fmla="*/ 296915 h 397189"/>
              <a:gd name="connsiteX6" fmla="*/ 1668787 w 2166627"/>
              <a:gd name="connsiteY6" fmla="*/ 235955 h 397189"/>
              <a:gd name="connsiteX7" fmla="*/ 1953267 w 2166627"/>
              <a:gd name="connsiteY7" fmla="*/ 164835 h 397189"/>
              <a:gd name="connsiteX8" fmla="*/ 2166627 w 2166627"/>
              <a:gd name="connsiteY8" fmla="*/ 134355 h 397189"/>
              <a:gd name="connsiteX0" fmla="*/ 0 w 2166627"/>
              <a:gd name="connsiteY0" fmla="*/ 0 h 305739"/>
              <a:gd name="connsiteX1" fmla="*/ 391265 w 2166627"/>
              <a:gd name="connsiteY1" fmla="*/ 68553 h 305739"/>
              <a:gd name="connsiteX2" fmla="*/ 741829 w 2166627"/>
              <a:gd name="connsiteY2" fmla="*/ 40677 h 305739"/>
              <a:gd name="connsiteX3" fmla="*/ 1064461 w 2166627"/>
              <a:gd name="connsiteY3" fmla="*/ 58430 h 305739"/>
              <a:gd name="connsiteX4" fmla="*/ 1293017 w 2166627"/>
              <a:gd name="connsiteY4" fmla="*/ 33011 h 305739"/>
              <a:gd name="connsiteX5" fmla="*/ 1343667 w 2166627"/>
              <a:gd name="connsiteY5" fmla="*/ 296915 h 305739"/>
              <a:gd name="connsiteX6" fmla="*/ 1668787 w 2166627"/>
              <a:gd name="connsiteY6" fmla="*/ 235955 h 305739"/>
              <a:gd name="connsiteX7" fmla="*/ 1953267 w 2166627"/>
              <a:gd name="connsiteY7" fmla="*/ 164835 h 305739"/>
              <a:gd name="connsiteX8" fmla="*/ 2166627 w 2166627"/>
              <a:gd name="connsiteY8" fmla="*/ 134355 h 305739"/>
              <a:gd name="connsiteX0" fmla="*/ 0 w 2166627"/>
              <a:gd name="connsiteY0" fmla="*/ 77242 h 322766"/>
              <a:gd name="connsiteX1" fmla="*/ 391265 w 2166627"/>
              <a:gd name="connsiteY1" fmla="*/ 145795 h 322766"/>
              <a:gd name="connsiteX2" fmla="*/ 741829 w 2166627"/>
              <a:gd name="connsiteY2" fmla="*/ 117919 h 322766"/>
              <a:gd name="connsiteX3" fmla="*/ 1064461 w 2166627"/>
              <a:gd name="connsiteY3" fmla="*/ 135672 h 322766"/>
              <a:gd name="connsiteX4" fmla="*/ 1293017 w 2166627"/>
              <a:gd name="connsiteY4" fmla="*/ 110253 h 322766"/>
              <a:gd name="connsiteX5" fmla="*/ 1445327 w 2166627"/>
              <a:gd name="connsiteY5" fmla="*/ 6122 h 322766"/>
              <a:gd name="connsiteX6" fmla="*/ 1668787 w 2166627"/>
              <a:gd name="connsiteY6" fmla="*/ 313197 h 322766"/>
              <a:gd name="connsiteX7" fmla="*/ 1953267 w 2166627"/>
              <a:gd name="connsiteY7" fmla="*/ 242077 h 322766"/>
              <a:gd name="connsiteX8" fmla="*/ 2166627 w 2166627"/>
              <a:gd name="connsiteY8" fmla="*/ 211597 h 322766"/>
              <a:gd name="connsiteX0" fmla="*/ 0 w 2166627"/>
              <a:gd name="connsiteY0" fmla="*/ 110408 h 276110"/>
              <a:gd name="connsiteX1" fmla="*/ 391265 w 2166627"/>
              <a:gd name="connsiteY1" fmla="*/ 178961 h 276110"/>
              <a:gd name="connsiteX2" fmla="*/ 741829 w 2166627"/>
              <a:gd name="connsiteY2" fmla="*/ 151085 h 276110"/>
              <a:gd name="connsiteX3" fmla="*/ 1064461 w 2166627"/>
              <a:gd name="connsiteY3" fmla="*/ 168838 h 276110"/>
              <a:gd name="connsiteX4" fmla="*/ 1293017 w 2166627"/>
              <a:gd name="connsiteY4" fmla="*/ 143419 h 276110"/>
              <a:gd name="connsiteX5" fmla="*/ 1445327 w 2166627"/>
              <a:gd name="connsiteY5" fmla="*/ 39288 h 276110"/>
              <a:gd name="connsiteX6" fmla="*/ 1681495 w 2166627"/>
              <a:gd name="connsiteY6" fmla="*/ 16400 h 276110"/>
              <a:gd name="connsiteX7" fmla="*/ 1953267 w 2166627"/>
              <a:gd name="connsiteY7" fmla="*/ 275243 h 276110"/>
              <a:gd name="connsiteX8" fmla="*/ 2166627 w 2166627"/>
              <a:gd name="connsiteY8" fmla="*/ 244763 h 276110"/>
              <a:gd name="connsiteX0" fmla="*/ 0 w 2166627"/>
              <a:gd name="connsiteY0" fmla="*/ 102488 h 236843"/>
              <a:gd name="connsiteX1" fmla="*/ 391265 w 2166627"/>
              <a:gd name="connsiteY1" fmla="*/ 171041 h 236843"/>
              <a:gd name="connsiteX2" fmla="*/ 741829 w 2166627"/>
              <a:gd name="connsiteY2" fmla="*/ 143165 h 236843"/>
              <a:gd name="connsiteX3" fmla="*/ 1064461 w 2166627"/>
              <a:gd name="connsiteY3" fmla="*/ 160918 h 236843"/>
              <a:gd name="connsiteX4" fmla="*/ 1293017 w 2166627"/>
              <a:gd name="connsiteY4" fmla="*/ 135499 h 236843"/>
              <a:gd name="connsiteX5" fmla="*/ 1445327 w 2166627"/>
              <a:gd name="connsiteY5" fmla="*/ 31368 h 236843"/>
              <a:gd name="connsiteX6" fmla="*/ 1681495 w 2166627"/>
              <a:gd name="connsiteY6" fmla="*/ 8480 h 236843"/>
              <a:gd name="connsiteX7" fmla="*/ 1927852 w 2166627"/>
              <a:gd name="connsiteY7" fmla="*/ 814 h 236843"/>
              <a:gd name="connsiteX8" fmla="*/ 2166627 w 2166627"/>
              <a:gd name="connsiteY8" fmla="*/ 236843 h 236843"/>
              <a:gd name="connsiteX0" fmla="*/ 0 w 2141212"/>
              <a:gd name="connsiteY0" fmla="*/ 103838 h 173308"/>
              <a:gd name="connsiteX1" fmla="*/ 391265 w 2141212"/>
              <a:gd name="connsiteY1" fmla="*/ 172391 h 173308"/>
              <a:gd name="connsiteX2" fmla="*/ 741829 w 2141212"/>
              <a:gd name="connsiteY2" fmla="*/ 144515 h 173308"/>
              <a:gd name="connsiteX3" fmla="*/ 1064461 w 2141212"/>
              <a:gd name="connsiteY3" fmla="*/ 162268 h 173308"/>
              <a:gd name="connsiteX4" fmla="*/ 1293017 w 2141212"/>
              <a:gd name="connsiteY4" fmla="*/ 136849 h 173308"/>
              <a:gd name="connsiteX5" fmla="*/ 1445327 w 2141212"/>
              <a:gd name="connsiteY5" fmla="*/ 32718 h 173308"/>
              <a:gd name="connsiteX6" fmla="*/ 1681495 w 2141212"/>
              <a:gd name="connsiteY6" fmla="*/ 9830 h 173308"/>
              <a:gd name="connsiteX7" fmla="*/ 1927852 w 2141212"/>
              <a:gd name="connsiteY7" fmla="*/ 2164 h 173308"/>
              <a:gd name="connsiteX8" fmla="*/ 2141212 w 2141212"/>
              <a:gd name="connsiteY8" fmla="*/ 73211 h 17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41212" h="173308">
                <a:moveTo>
                  <a:pt x="0" y="103838"/>
                </a:moveTo>
                <a:cubicBezTo>
                  <a:pt x="66040" y="111458"/>
                  <a:pt x="267627" y="165612"/>
                  <a:pt x="391265" y="172391"/>
                </a:cubicBezTo>
                <a:cubicBezTo>
                  <a:pt x="514903" y="179170"/>
                  <a:pt x="629630" y="146202"/>
                  <a:pt x="741829" y="144515"/>
                </a:cubicBezTo>
                <a:cubicBezTo>
                  <a:pt x="854028" y="142828"/>
                  <a:pt x="972596" y="163546"/>
                  <a:pt x="1064461" y="162268"/>
                </a:cubicBezTo>
                <a:cubicBezTo>
                  <a:pt x="1156326" y="160990"/>
                  <a:pt x="1229539" y="158441"/>
                  <a:pt x="1293017" y="136849"/>
                </a:cubicBezTo>
                <a:cubicBezTo>
                  <a:pt x="1356495" y="115257"/>
                  <a:pt x="1380581" y="53888"/>
                  <a:pt x="1445327" y="32718"/>
                </a:cubicBezTo>
                <a:cubicBezTo>
                  <a:pt x="1510073" y="11548"/>
                  <a:pt x="1601074" y="14922"/>
                  <a:pt x="1681495" y="9830"/>
                </a:cubicBezTo>
                <a:cubicBezTo>
                  <a:pt x="1761916" y="4738"/>
                  <a:pt x="1844879" y="19097"/>
                  <a:pt x="1927852" y="2164"/>
                </a:cubicBezTo>
                <a:cubicBezTo>
                  <a:pt x="2010825" y="-14769"/>
                  <a:pt x="2141212" y="73211"/>
                  <a:pt x="2141212" y="73211"/>
                </a:cubicBezTo>
              </a:path>
            </a:pathLst>
          </a:custGeom>
          <a:ln>
            <a:solidFill>
              <a:srgbClr val="FFFFFF"/>
            </a:solidFill>
          </a:ln>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79" name="Freeform 78"/>
          <p:cNvSpPr/>
          <p:nvPr/>
        </p:nvSpPr>
        <p:spPr>
          <a:xfrm>
            <a:off x="3116263" y="3835399"/>
            <a:ext cx="2146300" cy="424028"/>
          </a:xfrm>
          <a:custGeom>
            <a:avLst/>
            <a:gdLst>
              <a:gd name="connsiteX0" fmla="*/ 0 w 2164080"/>
              <a:gd name="connsiteY0" fmla="*/ 325120 h 335442"/>
              <a:gd name="connsiteX1" fmla="*/ 142240 w 2164080"/>
              <a:gd name="connsiteY1" fmla="*/ 223520 h 335442"/>
              <a:gd name="connsiteX2" fmla="*/ 274320 w 2164080"/>
              <a:gd name="connsiteY2" fmla="*/ 203200 h 335442"/>
              <a:gd name="connsiteX3" fmla="*/ 406400 w 2164080"/>
              <a:gd name="connsiteY3" fmla="*/ 274320 h 335442"/>
              <a:gd name="connsiteX4" fmla="*/ 650240 w 2164080"/>
              <a:gd name="connsiteY4" fmla="*/ 314960 h 335442"/>
              <a:gd name="connsiteX5" fmla="*/ 904240 w 2164080"/>
              <a:gd name="connsiteY5" fmla="*/ 335280 h 335442"/>
              <a:gd name="connsiteX6" fmla="*/ 1209040 w 2164080"/>
              <a:gd name="connsiteY6" fmla="*/ 304800 h 335442"/>
              <a:gd name="connsiteX7" fmla="*/ 1381760 w 2164080"/>
              <a:gd name="connsiteY7" fmla="*/ 203200 h 335442"/>
              <a:gd name="connsiteX8" fmla="*/ 1503680 w 2164080"/>
              <a:gd name="connsiteY8" fmla="*/ 101600 h 335442"/>
              <a:gd name="connsiteX9" fmla="*/ 1767840 w 2164080"/>
              <a:gd name="connsiteY9" fmla="*/ 30480 h 335442"/>
              <a:gd name="connsiteX10" fmla="*/ 2032000 w 2164080"/>
              <a:gd name="connsiteY10" fmla="*/ 20320 h 335442"/>
              <a:gd name="connsiteX11" fmla="*/ 2164080 w 2164080"/>
              <a:gd name="connsiteY11" fmla="*/ 0 h 335442"/>
              <a:gd name="connsiteX0" fmla="*/ 0 w 2143760"/>
              <a:gd name="connsiteY0" fmla="*/ 447040 h 457362"/>
              <a:gd name="connsiteX1" fmla="*/ 142240 w 2143760"/>
              <a:gd name="connsiteY1" fmla="*/ 345440 h 457362"/>
              <a:gd name="connsiteX2" fmla="*/ 274320 w 2143760"/>
              <a:gd name="connsiteY2" fmla="*/ 325120 h 457362"/>
              <a:gd name="connsiteX3" fmla="*/ 406400 w 2143760"/>
              <a:gd name="connsiteY3" fmla="*/ 396240 h 457362"/>
              <a:gd name="connsiteX4" fmla="*/ 650240 w 2143760"/>
              <a:gd name="connsiteY4" fmla="*/ 436880 h 457362"/>
              <a:gd name="connsiteX5" fmla="*/ 904240 w 2143760"/>
              <a:gd name="connsiteY5" fmla="*/ 457200 h 457362"/>
              <a:gd name="connsiteX6" fmla="*/ 1209040 w 2143760"/>
              <a:gd name="connsiteY6" fmla="*/ 426720 h 457362"/>
              <a:gd name="connsiteX7" fmla="*/ 1381760 w 2143760"/>
              <a:gd name="connsiteY7" fmla="*/ 325120 h 457362"/>
              <a:gd name="connsiteX8" fmla="*/ 1503680 w 2143760"/>
              <a:gd name="connsiteY8" fmla="*/ 223520 h 457362"/>
              <a:gd name="connsiteX9" fmla="*/ 1767840 w 2143760"/>
              <a:gd name="connsiteY9" fmla="*/ 152400 h 457362"/>
              <a:gd name="connsiteX10" fmla="*/ 2032000 w 2143760"/>
              <a:gd name="connsiteY10" fmla="*/ 142240 h 457362"/>
              <a:gd name="connsiteX11" fmla="*/ 2143760 w 2143760"/>
              <a:gd name="connsiteY11" fmla="*/ 0 h 457362"/>
              <a:gd name="connsiteX0" fmla="*/ 0 w 2143760"/>
              <a:gd name="connsiteY0" fmla="*/ 447040 h 457362"/>
              <a:gd name="connsiteX1" fmla="*/ 142240 w 2143760"/>
              <a:gd name="connsiteY1" fmla="*/ 345440 h 457362"/>
              <a:gd name="connsiteX2" fmla="*/ 274320 w 2143760"/>
              <a:gd name="connsiteY2" fmla="*/ 325120 h 457362"/>
              <a:gd name="connsiteX3" fmla="*/ 406400 w 2143760"/>
              <a:gd name="connsiteY3" fmla="*/ 396240 h 457362"/>
              <a:gd name="connsiteX4" fmla="*/ 650240 w 2143760"/>
              <a:gd name="connsiteY4" fmla="*/ 436880 h 457362"/>
              <a:gd name="connsiteX5" fmla="*/ 904240 w 2143760"/>
              <a:gd name="connsiteY5" fmla="*/ 457200 h 457362"/>
              <a:gd name="connsiteX6" fmla="*/ 1209040 w 2143760"/>
              <a:gd name="connsiteY6" fmla="*/ 426720 h 457362"/>
              <a:gd name="connsiteX7" fmla="*/ 1381760 w 2143760"/>
              <a:gd name="connsiteY7" fmla="*/ 325120 h 457362"/>
              <a:gd name="connsiteX8" fmla="*/ 1503680 w 2143760"/>
              <a:gd name="connsiteY8" fmla="*/ 223520 h 457362"/>
              <a:gd name="connsiteX9" fmla="*/ 1767840 w 2143760"/>
              <a:gd name="connsiteY9" fmla="*/ 152400 h 457362"/>
              <a:gd name="connsiteX10" fmla="*/ 1950720 w 2143760"/>
              <a:gd name="connsiteY10" fmla="*/ 101600 h 457362"/>
              <a:gd name="connsiteX11" fmla="*/ 2143760 w 2143760"/>
              <a:gd name="connsiteY11" fmla="*/ 0 h 457362"/>
              <a:gd name="connsiteX0" fmla="*/ 0 w 2143760"/>
              <a:gd name="connsiteY0" fmla="*/ 447040 h 457362"/>
              <a:gd name="connsiteX1" fmla="*/ 162560 w 2143760"/>
              <a:gd name="connsiteY1" fmla="*/ 406400 h 457362"/>
              <a:gd name="connsiteX2" fmla="*/ 274320 w 2143760"/>
              <a:gd name="connsiteY2" fmla="*/ 325120 h 457362"/>
              <a:gd name="connsiteX3" fmla="*/ 406400 w 2143760"/>
              <a:gd name="connsiteY3" fmla="*/ 396240 h 457362"/>
              <a:gd name="connsiteX4" fmla="*/ 650240 w 2143760"/>
              <a:gd name="connsiteY4" fmla="*/ 436880 h 457362"/>
              <a:gd name="connsiteX5" fmla="*/ 904240 w 2143760"/>
              <a:gd name="connsiteY5" fmla="*/ 457200 h 457362"/>
              <a:gd name="connsiteX6" fmla="*/ 1209040 w 2143760"/>
              <a:gd name="connsiteY6" fmla="*/ 426720 h 457362"/>
              <a:gd name="connsiteX7" fmla="*/ 1381760 w 2143760"/>
              <a:gd name="connsiteY7" fmla="*/ 325120 h 457362"/>
              <a:gd name="connsiteX8" fmla="*/ 1503680 w 2143760"/>
              <a:gd name="connsiteY8" fmla="*/ 223520 h 457362"/>
              <a:gd name="connsiteX9" fmla="*/ 1767840 w 2143760"/>
              <a:gd name="connsiteY9" fmla="*/ 152400 h 457362"/>
              <a:gd name="connsiteX10" fmla="*/ 1950720 w 2143760"/>
              <a:gd name="connsiteY10" fmla="*/ 101600 h 457362"/>
              <a:gd name="connsiteX11" fmla="*/ 2143760 w 2143760"/>
              <a:gd name="connsiteY11" fmla="*/ 0 h 457362"/>
              <a:gd name="connsiteX0" fmla="*/ 0 w 2143760"/>
              <a:gd name="connsiteY0" fmla="*/ 447040 h 457362"/>
              <a:gd name="connsiteX1" fmla="*/ 162560 w 2143760"/>
              <a:gd name="connsiteY1" fmla="*/ 406400 h 457362"/>
              <a:gd name="connsiteX2" fmla="*/ 274320 w 2143760"/>
              <a:gd name="connsiteY2" fmla="*/ 396240 h 457362"/>
              <a:gd name="connsiteX3" fmla="*/ 406400 w 2143760"/>
              <a:gd name="connsiteY3" fmla="*/ 396240 h 457362"/>
              <a:gd name="connsiteX4" fmla="*/ 650240 w 2143760"/>
              <a:gd name="connsiteY4" fmla="*/ 436880 h 457362"/>
              <a:gd name="connsiteX5" fmla="*/ 904240 w 2143760"/>
              <a:gd name="connsiteY5" fmla="*/ 457200 h 457362"/>
              <a:gd name="connsiteX6" fmla="*/ 1209040 w 2143760"/>
              <a:gd name="connsiteY6" fmla="*/ 426720 h 457362"/>
              <a:gd name="connsiteX7" fmla="*/ 1381760 w 2143760"/>
              <a:gd name="connsiteY7" fmla="*/ 325120 h 457362"/>
              <a:gd name="connsiteX8" fmla="*/ 1503680 w 2143760"/>
              <a:gd name="connsiteY8" fmla="*/ 223520 h 457362"/>
              <a:gd name="connsiteX9" fmla="*/ 1767840 w 2143760"/>
              <a:gd name="connsiteY9" fmla="*/ 152400 h 457362"/>
              <a:gd name="connsiteX10" fmla="*/ 1950720 w 2143760"/>
              <a:gd name="connsiteY10" fmla="*/ 101600 h 457362"/>
              <a:gd name="connsiteX11" fmla="*/ 2143760 w 2143760"/>
              <a:gd name="connsiteY11" fmla="*/ 0 h 457362"/>
              <a:gd name="connsiteX0" fmla="*/ 0 w 2133600"/>
              <a:gd name="connsiteY0" fmla="*/ 497840 h 508162"/>
              <a:gd name="connsiteX1" fmla="*/ 162560 w 2133600"/>
              <a:gd name="connsiteY1" fmla="*/ 457200 h 508162"/>
              <a:gd name="connsiteX2" fmla="*/ 274320 w 2133600"/>
              <a:gd name="connsiteY2" fmla="*/ 447040 h 508162"/>
              <a:gd name="connsiteX3" fmla="*/ 406400 w 2133600"/>
              <a:gd name="connsiteY3" fmla="*/ 447040 h 508162"/>
              <a:gd name="connsiteX4" fmla="*/ 650240 w 2133600"/>
              <a:gd name="connsiteY4" fmla="*/ 487680 h 508162"/>
              <a:gd name="connsiteX5" fmla="*/ 904240 w 2133600"/>
              <a:gd name="connsiteY5" fmla="*/ 508000 h 508162"/>
              <a:gd name="connsiteX6" fmla="*/ 1209040 w 2133600"/>
              <a:gd name="connsiteY6" fmla="*/ 477520 h 508162"/>
              <a:gd name="connsiteX7" fmla="*/ 1381760 w 2133600"/>
              <a:gd name="connsiteY7" fmla="*/ 375920 h 508162"/>
              <a:gd name="connsiteX8" fmla="*/ 1503680 w 2133600"/>
              <a:gd name="connsiteY8" fmla="*/ 274320 h 508162"/>
              <a:gd name="connsiteX9" fmla="*/ 1767840 w 2133600"/>
              <a:gd name="connsiteY9" fmla="*/ 203200 h 508162"/>
              <a:gd name="connsiteX10" fmla="*/ 1950720 w 2133600"/>
              <a:gd name="connsiteY10" fmla="*/ 152400 h 508162"/>
              <a:gd name="connsiteX11" fmla="*/ 2133600 w 2133600"/>
              <a:gd name="connsiteY11" fmla="*/ 0 h 508162"/>
              <a:gd name="connsiteX0" fmla="*/ 0 w 2133600"/>
              <a:gd name="connsiteY0" fmla="*/ 497840 h 508162"/>
              <a:gd name="connsiteX1" fmla="*/ 162560 w 2133600"/>
              <a:gd name="connsiteY1" fmla="*/ 457200 h 508162"/>
              <a:gd name="connsiteX2" fmla="*/ 274320 w 2133600"/>
              <a:gd name="connsiteY2" fmla="*/ 447040 h 508162"/>
              <a:gd name="connsiteX3" fmla="*/ 406400 w 2133600"/>
              <a:gd name="connsiteY3" fmla="*/ 447040 h 508162"/>
              <a:gd name="connsiteX4" fmla="*/ 650240 w 2133600"/>
              <a:gd name="connsiteY4" fmla="*/ 487680 h 508162"/>
              <a:gd name="connsiteX5" fmla="*/ 904240 w 2133600"/>
              <a:gd name="connsiteY5" fmla="*/ 508000 h 508162"/>
              <a:gd name="connsiteX6" fmla="*/ 1209040 w 2133600"/>
              <a:gd name="connsiteY6" fmla="*/ 477520 h 508162"/>
              <a:gd name="connsiteX7" fmla="*/ 1381760 w 2133600"/>
              <a:gd name="connsiteY7" fmla="*/ 375920 h 508162"/>
              <a:gd name="connsiteX8" fmla="*/ 1503680 w 2133600"/>
              <a:gd name="connsiteY8" fmla="*/ 274320 h 508162"/>
              <a:gd name="connsiteX9" fmla="*/ 1767840 w 2133600"/>
              <a:gd name="connsiteY9" fmla="*/ 203200 h 508162"/>
              <a:gd name="connsiteX10" fmla="*/ 1910080 w 2133600"/>
              <a:gd name="connsiteY10" fmla="*/ 81280 h 508162"/>
              <a:gd name="connsiteX11" fmla="*/ 2133600 w 2133600"/>
              <a:gd name="connsiteY11" fmla="*/ 0 h 508162"/>
              <a:gd name="connsiteX0" fmla="*/ 0 w 2133600"/>
              <a:gd name="connsiteY0" fmla="*/ 497840 h 508162"/>
              <a:gd name="connsiteX1" fmla="*/ 162560 w 2133600"/>
              <a:gd name="connsiteY1" fmla="*/ 457200 h 508162"/>
              <a:gd name="connsiteX2" fmla="*/ 274320 w 2133600"/>
              <a:gd name="connsiteY2" fmla="*/ 447040 h 508162"/>
              <a:gd name="connsiteX3" fmla="*/ 406400 w 2133600"/>
              <a:gd name="connsiteY3" fmla="*/ 447040 h 508162"/>
              <a:gd name="connsiteX4" fmla="*/ 650240 w 2133600"/>
              <a:gd name="connsiteY4" fmla="*/ 487680 h 508162"/>
              <a:gd name="connsiteX5" fmla="*/ 904240 w 2133600"/>
              <a:gd name="connsiteY5" fmla="*/ 508000 h 508162"/>
              <a:gd name="connsiteX6" fmla="*/ 1209040 w 2133600"/>
              <a:gd name="connsiteY6" fmla="*/ 477520 h 508162"/>
              <a:gd name="connsiteX7" fmla="*/ 1381760 w 2133600"/>
              <a:gd name="connsiteY7" fmla="*/ 375920 h 508162"/>
              <a:gd name="connsiteX8" fmla="*/ 1503680 w 2133600"/>
              <a:gd name="connsiteY8" fmla="*/ 274320 h 508162"/>
              <a:gd name="connsiteX9" fmla="*/ 1696720 w 2133600"/>
              <a:gd name="connsiteY9" fmla="*/ 132080 h 508162"/>
              <a:gd name="connsiteX10" fmla="*/ 1910080 w 2133600"/>
              <a:gd name="connsiteY10" fmla="*/ 81280 h 508162"/>
              <a:gd name="connsiteX11" fmla="*/ 2133600 w 2133600"/>
              <a:gd name="connsiteY11" fmla="*/ 0 h 508162"/>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50240 w 2133600"/>
              <a:gd name="connsiteY4" fmla="*/ 487680 h 497840"/>
              <a:gd name="connsiteX5" fmla="*/ 967740 w 2133600"/>
              <a:gd name="connsiteY5" fmla="*/ 380959 h 497840"/>
              <a:gd name="connsiteX6" fmla="*/ 1209040 w 2133600"/>
              <a:gd name="connsiteY6" fmla="*/ 477520 h 497840"/>
              <a:gd name="connsiteX7" fmla="*/ 1381760 w 2133600"/>
              <a:gd name="connsiteY7" fmla="*/ 375920 h 497840"/>
              <a:gd name="connsiteX8" fmla="*/ 1503680 w 2133600"/>
              <a:gd name="connsiteY8" fmla="*/ 274320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50240 w 2133600"/>
              <a:gd name="connsiteY4" fmla="*/ 487680 h 497840"/>
              <a:gd name="connsiteX5" fmla="*/ 967740 w 2133600"/>
              <a:gd name="connsiteY5" fmla="*/ 380959 h 497840"/>
              <a:gd name="connsiteX6" fmla="*/ 1196340 w 2133600"/>
              <a:gd name="connsiteY6" fmla="*/ 312368 h 497840"/>
              <a:gd name="connsiteX7" fmla="*/ 1381760 w 2133600"/>
              <a:gd name="connsiteY7" fmla="*/ 375920 h 497840"/>
              <a:gd name="connsiteX8" fmla="*/ 1503680 w 2133600"/>
              <a:gd name="connsiteY8" fmla="*/ 274320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50240 w 2133600"/>
              <a:gd name="connsiteY4" fmla="*/ 487680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03680 w 2133600"/>
              <a:gd name="connsiteY8" fmla="*/ 274320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50240 w 2133600"/>
              <a:gd name="connsiteY4" fmla="*/ 487680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88340 w 2133600"/>
              <a:gd name="connsiteY4" fmla="*/ 424159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82600 w 2133600"/>
              <a:gd name="connsiteY3" fmla="*/ 383519 h 497840"/>
              <a:gd name="connsiteX4" fmla="*/ 688340 w 2133600"/>
              <a:gd name="connsiteY4" fmla="*/ 424159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61620 w 2133600"/>
              <a:gd name="connsiteY2" fmla="*/ 345407 h 497840"/>
              <a:gd name="connsiteX3" fmla="*/ 482600 w 2133600"/>
              <a:gd name="connsiteY3" fmla="*/ 383519 h 497840"/>
              <a:gd name="connsiteX4" fmla="*/ 688340 w 2133600"/>
              <a:gd name="connsiteY4" fmla="*/ 424159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24460 w 2133600"/>
              <a:gd name="connsiteY1" fmla="*/ 330159 h 497840"/>
              <a:gd name="connsiteX2" fmla="*/ 261620 w 2133600"/>
              <a:gd name="connsiteY2" fmla="*/ 345407 h 497840"/>
              <a:gd name="connsiteX3" fmla="*/ 482600 w 2133600"/>
              <a:gd name="connsiteY3" fmla="*/ 383519 h 497840"/>
              <a:gd name="connsiteX4" fmla="*/ 688340 w 2133600"/>
              <a:gd name="connsiteY4" fmla="*/ 424159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46300"/>
              <a:gd name="connsiteY0" fmla="*/ 332687 h 424163"/>
              <a:gd name="connsiteX1" fmla="*/ 137160 w 2146300"/>
              <a:gd name="connsiteY1" fmla="*/ 330159 h 424163"/>
              <a:gd name="connsiteX2" fmla="*/ 274320 w 2146300"/>
              <a:gd name="connsiteY2" fmla="*/ 345407 h 424163"/>
              <a:gd name="connsiteX3" fmla="*/ 495300 w 2146300"/>
              <a:gd name="connsiteY3" fmla="*/ 383519 h 424163"/>
              <a:gd name="connsiteX4" fmla="*/ 701040 w 2146300"/>
              <a:gd name="connsiteY4" fmla="*/ 424159 h 424163"/>
              <a:gd name="connsiteX5" fmla="*/ 980440 w 2146300"/>
              <a:gd name="connsiteY5" fmla="*/ 380959 h 424163"/>
              <a:gd name="connsiteX6" fmla="*/ 1209040 w 2146300"/>
              <a:gd name="connsiteY6" fmla="*/ 312368 h 424163"/>
              <a:gd name="connsiteX7" fmla="*/ 1369060 w 2146300"/>
              <a:gd name="connsiteY7" fmla="*/ 210767 h 424163"/>
              <a:gd name="connsiteX8" fmla="*/ 1554480 w 2146300"/>
              <a:gd name="connsiteY8" fmla="*/ 147279 h 424163"/>
              <a:gd name="connsiteX9" fmla="*/ 1709420 w 2146300"/>
              <a:gd name="connsiteY9" fmla="*/ 132080 h 424163"/>
              <a:gd name="connsiteX10" fmla="*/ 1922780 w 2146300"/>
              <a:gd name="connsiteY10" fmla="*/ 81280 h 424163"/>
              <a:gd name="connsiteX11" fmla="*/ 2146300 w 2146300"/>
              <a:gd name="connsiteY11" fmla="*/ 0 h 42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6300" h="424163">
                <a:moveTo>
                  <a:pt x="0" y="332687"/>
                </a:moveTo>
                <a:cubicBezTo>
                  <a:pt x="48260" y="292047"/>
                  <a:pt x="91440" y="328039"/>
                  <a:pt x="137160" y="330159"/>
                </a:cubicBezTo>
                <a:cubicBezTo>
                  <a:pt x="182880" y="332279"/>
                  <a:pt x="214630" y="336514"/>
                  <a:pt x="274320" y="345407"/>
                </a:cubicBezTo>
                <a:cubicBezTo>
                  <a:pt x="334010" y="354300"/>
                  <a:pt x="424180" y="370394"/>
                  <a:pt x="495300" y="383519"/>
                </a:cubicBezTo>
                <a:cubicBezTo>
                  <a:pt x="566420" y="396644"/>
                  <a:pt x="620183" y="424586"/>
                  <a:pt x="701040" y="424159"/>
                </a:cubicBezTo>
                <a:cubicBezTo>
                  <a:pt x="781897" y="423732"/>
                  <a:pt x="895773" y="399591"/>
                  <a:pt x="980440" y="380959"/>
                </a:cubicBezTo>
                <a:cubicBezTo>
                  <a:pt x="1065107" y="362327"/>
                  <a:pt x="1144270" y="340733"/>
                  <a:pt x="1209040" y="312368"/>
                </a:cubicBezTo>
                <a:cubicBezTo>
                  <a:pt x="1273810" y="284003"/>
                  <a:pt x="1311487" y="238282"/>
                  <a:pt x="1369060" y="210767"/>
                </a:cubicBezTo>
                <a:cubicBezTo>
                  <a:pt x="1426633" y="183252"/>
                  <a:pt x="1497753" y="160394"/>
                  <a:pt x="1554480" y="147279"/>
                </a:cubicBezTo>
                <a:cubicBezTo>
                  <a:pt x="1611207" y="134165"/>
                  <a:pt x="1648037" y="143080"/>
                  <a:pt x="1709420" y="132080"/>
                </a:cubicBezTo>
                <a:cubicBezTo>
                  <a:pt x="1770803" y="121080"/>
                  <a:pt x="1849967" y="103293"/>
                  <a:pt x="1922780" y="81280"/>
                </a:cubicBezTo>
                <a:cubicBezTo>
                  <a:pt x="1995593" y="59267"/>
                  <a:pt x="2146300" y="0"/>
                  <a:pt x="2146300" y="0"/>
                </a:cubicBezTo>
              </a:path>
            </a:pathLst>
          </a:custGeom>
          <a:ln>
            <a:solidFill>
              <a:srgbClr val="FFFFFF"/>
            </a:solidFill>
          </a:ln>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2" name="Freeform 1"/>
          <p:cNvSpPr/>
          <p:nvPr/>
        </p:nvSpPr>
        <p:spPr>
          <a:xfrm>
            <a:off x="3136900" y="2794000"/>
            <a:ext cx="2159000" cy="317500"/>
          </a:xfrm>
          <a:custGeom>
            <a:avLst/>
            <a:gdLst>
              <a:gd name="connsiteX0" fmla="*/ 0 w 2159000"/>
              <a:gd name="connsiteY0" fmla="*/ 266700 h 317500"/>
              <a:gd name="connsiteX1" fmla="*/ 304800 w 2159000"/>
              <a:gd name="connsiteY1" fmla="*/ 304800 h 317500"/>
              <a:gd name="connsiteX2" fmla="*/ 635000 w 2159000"/>
              <a:gd name="connsiteY2" fmla="*/ 317500 h 317500"/>
              <a:gd name="connsiteX3" fmla="*/ 965200 w 2159000"/>
              <a:gd name="connsiteY3" fmla="*/ 304800 h 317500"/>
              <a:gd name="connsiteX4" fmla="*/ 1155700 w 2159000"/>
              <a:gd name="connsiteY4" fmla="*/ 241300 h 317500"/>
              <a:gd name="connsiteX5" fmla="*/ 1371600 w 2159000"/>
              <a:gd name="connsiteY5" fmla="*/ 152400 h 317500"/>
              <a:gd name="connsiteX6" fmla="*/ 1676400 w 2159000"/>
              <a:gd name="connsiteY6" fmla="*/ 114300 h 317500"/>
              <a:gd name="connsiteX7" fmla="*/ 1841500 w 2159000"/>
              <a:gd name="connsiteY7" fmla="*/ 38100 h 317500"/>
              <a:gd name="connsiteX8" fmla="*/ 2159000 w 2159000"/>
              <a:gd name="connsiteY8" fmla="*/ 0 h 31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9000" h="317500">
                <a:moveTo>
                  <a:pt x="0" y="266700"/>
                </a:moveTo>
                <a:cubicBezTo>
                  <a:pt x="99483" y="281516"/>
                  <a:pt x="198967" y="296333"/>
                  <a:pt x="304800" y="304800"/>
                </a:cubicBezTo>
                <a:cubicBezTo>
                  <a:pt x="410633" y="313267"/>
                  <a:pt x="524933" y="317500"/>
                  <a:pt x="635000" y="317500"/>
                </a:cubicBezTo>
                <a:cubicBezTo>
                  <a:pt x="745067" y="317500"/>
                  <a:pt x="878417" y="317500"/>
                  <a:pt x="965200" y="304800"/>
                </a:cubicBezTo>
                <a:cubicBezTo>
                  <a:pt x="1051983" y="292100"/>
                  <a:pt x="1087967" y="266700"/>
                  <a:pt x="1155700" y="241300"/>
                </a:cubicBezTo>
                <a:cubicBezTo>
                  <a:pt x="1223433" y="215900"/>
                  <a:pt x="1284817" y="173567"/>
                  <a:pt x="1371600" y="152400"/>
                </a:cubicBezTo>
                <a:cubicBezTo>
                  <a:pt x="1458383" y="131233"/>
                  <a:pt x="1598083" y="133350"/>
                  <a:pt x="1676400" y="114300"/>
                </a:cubicBezTo>
                <a:cubicBezTo>
                  <a:pt x="1754717" y="95250"/>
                  <a:pt x="1761067" y="57150"/>
                  <a:pt x="1841500" y="38100"/>
                </a:cubicBezTo>
                <a:cubicBezTo>
                  <a:pt x="1921933" y="19050"/>
                  <a:pt x="2159000" y="0"/>
                  <a:pt x="2159000" y="0"/>
                </a:cubicBezTo>
              </a:path>
            </a:pathLst>
          </a:custGeom>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Freeform 2"/>
          <p:cNvSpPr/>
          <p:nvPr/>
        </p:nvSpPr>
        <p:spPr>
          <a:xfrm>
            <a:off x="3149600" y="3441700"/>
            <a:ext cx="2133600" cy="130353"/>
          </a:xfrm>
          <a:custGeom>
            <a:avLst/>
            <a:gdLst>
              <a:gd name="connsiteX0" fmla="*/ 0 w 2133600"/>
              <a:gd name="connsiteY0" fmla="*/ 127000 h 130353"/>
              <a:gd name="connsiteX1" fmla="*/ 342900 w 2133600"/>
              <a:gd name="connsiteY1" fmla="*/ 114300 h 130353"/>
              <a:gd name="connsiteX2" fmla="*/ 520700 w 2133600"/>
              <a:gd name="connsiteY2" fmla="*/ 114300 h 130353"/>
              <a:gd name="connsiteX3" fmla="*/ 736600 w 2133600"/>
              <a:gd name="connsiteY3" fmla="*/ 127000 h 130353"/>
              <a:gd name="connsiteX4" fmla="*/ 1016000 w 2133600"/>
              <a:gd name="connsiteY4" fmla="*/ 127000 h 130353"/>
              <a:gd name="connsiteX5" fmla="*/ 1219200 w 2133600"/>
              <a:gd name="connsiteY5" fmla="*/ 88900 h 130353"/>
              <a:gd name="connsiteX6" fmla="*/ 1473200 w 2133600"/>
              <a:gd name="connsiteY6" fmla="*/ 63500 h 130353"/>
              <a:gd name="connsiteX7" fmla="*/ 1663700 w 2133600"/>
              <a:gd name="connsiteY7" fmla="*/ 63500 h 130353"/>
              <a:gd name="connsiteX8" fmla="*/ 1943100 w 2133600"/>
              <a:gd name="connsiteY8" fmla="*/ 38100 h 130353"/>
              <a:gd name="connsiteX9" fmla="*/ 2133600 w 2133600"/>
              <a:gd name="connsiteY9" fmla="*/ 0 h 13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3600" h="130353">
                <a:moveTo>
                  <a:pt x="0" y="127000"/>
                </a:moveTo>
                <a:lnTo>
                  <a:pt x="342900" y="114300"/>
                </a:lnTo>
                <a:cubicBezTo>
                  <a:pt x="429683" y="112183"/>
                  <a:pt x="455083" y="112183"/>
                  <a:pt x="520700" y="114300"/>
                </a:cubicBezTo>
                <a:cubicBezTo>
                  <a:pt x="586317" y="116417"/>
                  <a:pt x="654050" y="124883"/>
                  <a:pt x="736600" y="127000"/>
                </a:cubicBezTo>
                <a:cubicBezTo>
                  <a:pt x="819150" y="129117"/>
                  <a:pt x="935567" y="133350"/>
                  <a:pt x="1016000" y="127000"/>
                </a:cubicBezTo>
                <a:cubicBezTo>
                  <a:pt x="1096433" y="120650"/>
                  <a:pt x="1143000" y="99483"/>
                  <a:pt x="1219200" y="88900"/>
                </a:cubicBezTo>
                <a:cubicBezTo>
                  <a:pt x="1295400" y="78317"/>
                  <a:pt x="1399117" y="67733"/>
                  <a:pt x="1473200" y="63500"/>
                </a:cubicBezTo>
                <a:cubicBezTo>
                  <a:pt x="1547283" y="59267"/>
                  <a:pt x="1585383" y="67733"/>
                  <a:pt x="1663700" y="63500"/>
                </a:cubicBezTo>
                <a:cubicBezTo>
                  <a:pt x="1742017" y="59267"/>
                  <a:pt x="1864783" y="48683"/>
                  <a:pt x="1943100" y="38100"/>
                </a:cubicBezTo>
                <a:cubicBezTo>
                  <a:pt x="2021417" y="27517"/>
                  <a:pt x="2133600" y="0"/>
                  <a:pt x="2133600" y="0"/>
                </a:cubicBezTo>
              </a:path>
            </a:pathLst>
          </a:custGeom>
          <a:ln>
            <a:solidFill>
              <a:srgbClr val="FFFFF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2BA5169-5A45-FB96-6914-87A03CD83924}"/>
              </a:ext>
            </a:extLst>
          </p:cNvPr>
          <p:cNvCxnSpPr/>
          <p:nvPr/>
        </p:nvCxnSpPr>
        <p:spPr>
          <a:xfrm>
            <a:off x="1271359" y="2219987"/>
            <a:ext cx="0" cy="436173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2D9608D-B94F-9EB8-9ED6-19DC9BBF539A}"/>
              </a:ext>
            </a:extLst>
          </p:cNvPr>
          <p:cNvCxnSpPr/>
          <p:nvPr/>
        </p:nvCxnSpPr>
        <p:spPr>
          <a:xfrm>
            <a:off x="2140530" y="2219987"/>
            <a:ext cx="0" cy="436173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3C60F9C-0B50-6489-877B-1D6329582EE3}"/>
              </a:ext>
            </a:extLst>
          </p:cNvPr>
          <p:cNvCxnSpPr/>
          <p:nvPr/>
        </p:nvCxnSpPr>
        <p:spPr>
          <a:xfrm>
            <a:off x="2981580" y="2219987"/>
            <a:ext cx="0" cy="436173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647308C-C909-F446-2B3E-AE68E3DA4EAB}"/>
              </a:ext>
            </a:extLst>
          </p:cNvPr>
          <p:cNvSpPr txBox="1"/>
          <p:nvPr/>
        </p:nvSpPr>
        <p:spPr>
          <a:xfrm rot="19489268">
            <a:off x="694356" y="1594087"/>
            <a:ext cx="1309974" cy="276999"/>
          </a:xfrm>
          <a:prstGeom prst="rect">
            <a:avLst/>
          </a:prstGeom>
          <a:noFill/>
        </p:spPr>
        <p:txBody>
          <a:bodyPr wrap="none" rtlCol="0">
            <a:spAutoFit/>
          </a:bodyPr>
          <a:lstStyle/>
          <a:p>
            <a:r>
              <a:rPr lang="en-US" sz="1200" dirty="0" err="1"/>
              <a:t>LithologySystem</a:t>
            </a:r>
            <a:endParaRPr lang="en-US" sz="1200" dirty="0"/>
          </a:p>
        </p:txBody>
      </p:sp>
      <p:sp>
        <p:nvSpPr>
          <p:cNvPr id="9" name="TextBox 8">
            <a:extLst>
              <a:ext uri="{FF2B5EF4-FFF2-40B4-BE49-F238E27FC236}">
                <a16:creationId xmlns:a16="http://schemas.microsoft.com/office/drawing/2014/main" id="{2A7D487E-A75D-5D98-95C3-73B3518DBA22}"/>
              </a:ext>
            </a:extLst>
          </p:cNvPr>
          <p:cNvSpPr txBox="1"/>
          <p:nvPr/>
        </p:nvSpPr>
        <p:spPr>
          <a:xfrm rot="19617459">
            <a:off x="1413164" y="1569638"/>
            <a:ext cx="1524776" cy="276999"/>
          </a:xfrm>
          <a:prstGeom prst="rect">
            <a:avLst/>
          </a:prstGeom>
          <a:noFill/>
        </p:spPr>
        <p:txBody>
          <a:bodyPr wrap="none" rtlCol="0">
            <a:spAutoFit/>
          </a:bodyPr>
          <a:lstStyle/>
          <a:p>
            <a:r>
              <a:rPr lang="en-US" sz="1200" dirty="0" err="1"/>
              <a:t>StratigraphySystem</a:t>
            </a:r>
            <a:endParaRPr lang="en-US" sz="1200" dirty="0"/>
          </a:p>
        </p:txBody>
      </p:sp>
      <p:sp>
        <p:nvSpPr>
          <p:cNvPr id="11" name="TextBox 10">
            <a:extLst>
              <a:ext uri="{FF2B5EF4-FFF2-40B4-BE49-F238E27FC236}">
                <a16:creationId xmlns:a16="http://schemas.microsoft.com/office/drawing/2014/main" id="{8BB22C9F-D0F6-8911-DF97-29D4E291B28E}"/>
              </a:ext>
            </a:extLst>
          </p:cNvPr>
          <p:cNvSpPr txBox="1"/>
          <p:nvPr/>
        </p:nvSpPr>
        <p:spPr>
          <a:xfrm rot="19599382">
            <a:off x="2410690" y="1672327"/>
            <a:ext cx="1063112" cy="276999"/>
          </a:xfrm>
          <a:prstGeom prst="rect">
            <a:avLst/>
          </a:prstGeom>
          <a:noFill/>
        </p:spPr>
        <p:txBody>
          <a:bodyPr wrap="none" rtlCol="0">
            <a:spAutoFit/>
          </a:bodyPr>
          <a:lstStyle/>
          <a:p>
            <a:r>
              <a:rPr lang="en-US" sz="1200" dirty="0" err="1"/>
              <a:t>ColorSystem</a:t>
            </a:r>
            <a:endParaRPr lang="en-US" sz="1200" dirty="0"/>
          </a:p>
        </p:txBody>
      </p:sp>
    </p:spTree>
    <p:extLst>
      <p:ext uri="{BB962C8B-B14F-4D97-AF65-F5344CB8AC3E}">
        <p14:creationId xmlns:p14="http://schemas.microsoft.com/office/powerpoint/2010/main" val="699774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457200"/>
          </a:xfrm>
        </p:spPr>
        <p:txBody>
          <a:bodyPr/>
          <a:lstStyle/>
          <a:p>
            <a:r>
              <a:rPr lang="en-US" dirty="0">
                <a:latin typeface="Calibri" charset="0"/>
              </a:rPr>
              <a:t>DIGGS Data Model</a:t>
            </a:r>
          </a:p>
        </p:txBody>
      </p:sp>
      <p:sp>
        <p:nvSpPr>
          <p:cNvPr id="3" name="Content Placeholder 2">
            <a:extLst>
              <a:ext uri="{FF2B5EF4-FFF2-40B4-BE49-F238E27FC236}">
                <a16:creationId xmlns:a16="http://schemas.microsoft.com/office/drawing/2014/main" id="{DA4DB702-1B73-3249-AFFF-A2B910ED7E65}"/>
              </a:ext>
            </a:extLst>
          </p:cNvPr>
          <p:cNvSpPr>
            <a:spLocks noGrp="1"/>
          </p:cNvSpPr>
          <p:nvPr>
            <p:ph idx="1"/>
          </p:nvPr>
        </p:nvSpPr>
        <p:spPr>
          <a:xfrm>
            <a:off x="373116" y="1177159"/>
            <a:ext cx="8581697" cy="5680841"/>
          </a:xfrm>
          <a:solidFill>
            <a:schemeClr val="bg1"/>
          </a:solidFill>
        </p:spPr>
        <p:txBody>
          <a:bodyPr/>
          <a:lstStyle/>
          <a:p>
            <a:r>
              <a:rPr lang="en-US" dirty="0"/>
              <a:t>Measurement</a:t>
            </a:r>
          </a:p>
          <a:p>
            <a:pPr lvl="1"/>
            <a:r>
              <a:rPr lang="en-US" dirty="0"/>
              <a:t>Results (property-value pairs) derive principally from the use of testing equipment and/or sensors. </a:t>
            </a:r>
          </a:p>
          <a:p>
            <a:pPr lvl="2"/>
            <a:r>
              <a:rPr lang="en-US" dirty="0"/>
              <a:t>Typically objective with high precision results as long as procedures are followed and equipment is operating appropriately; results are usually numeric values, although category assignments can be calculated numeric results.</a:t>
            </a:r>
          </a:p>
          <a:p>
            <a:pPr lvl="1"/>
            <a:r>
              <a:rPr lang="en-US" dirty="0"/>
              <a:t>Types of DIGGS measurements:</a:t>
            </a:r>
          </a:p>
          <a:p>
            <a:pPr lvl="2"/>
            <a:r>
              <a:rPr lang="en-US" dirty="0"/>
              <a:t>Laboratory tests on samples (</a:t>
            </a:r>
            <a:r>
              <a:rPr lang="en-US" dirty="0" err="1"/>
              <a:t>eg.</a:t>
            </a:r>
            <a:r>
              <a:rPr lang="en-US" dirty="0"/>
              <a:t> Particle size, Atterberg limits)</a:t>
            </a:r>
          </a:p>
          <a:p>
            <a:pPr lvl="2"/>
            <a:r>
              <a:rPr lang="en-US" dirty="0"/>
              <a:t>In-situ tests (CPT, SPT, </a:t>
            </a:r>
            <a:r>
              <a:rPr lang="en-US" dirty="0">
                <a:solidFill>
                  <a:schemeClr val="tx1"/>
                </a:solidFill>
              </a:rPr>
              <a:t>DMT, geophysical tests</a:t>
            </a:r>
            <a:r>
              <a:rPr lang="en-US" dirty="0">
                <a:solidFill>
                  <a:schemeClr val="accent2"/>
                </a:solidFill>
              </a:rPr>
              <a:t>)</a:t>
            </a:r>
          </a:p>
          <a:p>
            <a:pPr lvl="2"/>
            <a:r>
              <a:rPr lang="en-US" dirty="0">
                <a:solidFill>
                  <a:schemeClr val="accent2"/>
                </a:solidFill>
              </a:rPr>
              <a:t>Monitoring Activities (</a:t>
            </a:r>
            <a:r>
              <a:rPr lang="en-US" dirty="0" err="1">
                <a:solidFill>
                  <a:schemeClr val="accent2"/>
                </a:solidFill>
              </a:rPr>
              <a:t>eg.</a:t>
            </a:r>
            <a:r>
              <a:rPr lang="en-US" dirty="0">
                <a:solidFill>
                  <a:schemeClr val="accent2"/>
                </a:solidFill>
              </a:rPr>
              <a:t> piezometer, pumping tests)</a:t>
            </a:r>
          </a:p>
          <a:p>
            <a:pPr lvl="2"/>
            <a:endParaRPr lang="en-US" dirty="0">
              <a:solidFill>
                <a:srgbClr val="FF0000"/>
              </a:solidFill>
            </a:endParaRPr>
          </a:p>
        </p:txBody>
      </p:sp>
    </p:spTree>
    <p:extLst>
      <p:ext uri="{BB962C8B-B14F-4D97-AF65-F5344CB8AC3E}">
        <p14:creationId xmlns:p14="http://schemas.microsoft.com/office/powerpoint/2010/main" val="1287313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a:xfrm>
            <a:off x="431800" y="508000"/>
            <a:ext cx="8229600" cy="609600"/>
          </a:xfrm>
        </p:spPr>
        <p:txBody>
          <a:bodyPr/>
          <a:lstStyle/>
          <a:p>
            <a:r>
              <a:rPr lang="en-US" dirty="0">
                <a:latin typeface="Calibri" charset="0"/>
              </a:rPr>
              <a:t>Measurements</a:t>
            </a:r>
          </a:p>
        </p:txBody>
      </p:sp>
      <p:sp>
        <p:nvSpPr>
          <p:cNvPr id="68610" name="Content Placeholder 2"/>
          <p:cNvSpPr>
            <a:spLocks noGrp="1"/>
          </p:cNvSpPr>
          <p:nvPr>
            <p:ph idx="1"/>
          </p:nvPr>
        </p:nvSpPr>
        <p:spPr>
          <a:xfrm>
            <a:off x="368300" y="1066800"/>
            <a:ext cx="8229600" cy="5049838"/>
          </a:xfrm>
        </p:spPr>
        <p:txBody>
          <a:bodyPr/>
          <a:lstStyle/>
          <a:p>
            <a:pPr marL="109537" indent="0">
              <a:buNone/>
            </a:pPr>
            <a:endParaRPr lang="en-US" sz="2400" dirty="0">
              <a:latin typeface="Calibri" charset="0"/>
            </a:endParaRPr>
          </a:p>
          <a:p>
            <a:r>
              <a:rPr lang="en-US" sz="2200" dirty="0">
                <a:latin typeface="Calibri" charset="0"/>
              </a:rPr>
              <a:t>Four measurement features in DIGGS</a:t>
            </a:r>
          </a:p>
          <a:p>
            <a:pPr lvl="1"/>
            <a:r>
              <a:rPr lang="en-US" sz="2000" dirty="0">
                <a:latin typeface="Calibri" charset="0"/>
              </a:rPr>
              <a:t>Test – measurements over a spatial domain (lab and in-situ tests)</a:t>
            </a:r>
          </a:p>
          <a:p>
            <a:pPr lvl="1"/>
            <a:r>
              <a:rPr lang="en-US" sz="2000" dirty="0">
                <a:latin typeface="Calibri" charset="0"/>
              </a:rPr>
              <a:t>Monitor – measurements over a temporal domain (monitoring activities)</a:t>
            </a:r>
          </a:p>
          <a:p>
            <a:pPr lvl="1"/>
            <a:r>
              <a:rPr lang="en-US" sz="2000" dirty="0" err="1">
                <a:latin typeface="Calibri" charset="0"/>
              </a:rPr>
              <a:t>MaterialTest</a:t>
            </a:r>
            <a:r>
              <a:rPr lang="en-US" sz="2000" dirty="0">
                <a:latin typeface="Calibri" charset="0"/>
              </a:rPr>
              <a:t> – measurement on a physical sample that has no location relevance (</a:t>
            </a:r>
            <a:r>
              <a:rPr lang="en-US" sz="2000" dirty="0" err="1">
                <a:latin typeface="Calibri" charset="0"/>
              </a:rPr>
              <a:t>eg.</a:t>
            </a:r>
            <a:r>
              <a:rPr lang="en-US" sz="2000" dirty="0">
                <a:latin typeface="Calibri" charset="0"/>
              </a:rPr>
              <a:t> lab created or aggregated sample)</a:t>
            </a:r>
          </a:p>
          <a:p>
            <a:pPr lvl="1"/>
            <a:r>
              <a:rPr lang="en-US" sz="2000" dirty="0" err="1">
                <a:latin typeface="Calibri" charset="0"/>
              </a:rPr>
              <a:t>MeasurementWhileDrilling</a:t>
            </a:r>
            <a:r>
              <a:rPr lang="en-US" sz="2000" dirty="0">
                <a:latin typeface="Calibri" charset="0"/>
              </a:rPr>
              <a:t> – time or depth indexed observations of drilling parameters while a borehole is being constructed</a:t>
            </a:r>
          </a:p>
          <a:p>
            <a:r>
              <a:rPr lang="en-US" sz="2200" dirty="0">
                <a:latin typeface="Calibri" charset="0"/>
              </a:rPr>
              <a:t>All measurements are structured very similarly</a:t>
            </a:r>
          </a:p>
          <a:p>
            <a:r>
              <a:rPr lang="en-US" sz="2200" dirty="0">
                <a:latin typeface="Calibri" charset="0"/>
              </a:rPr>
              <a:t>Results are reported in a self-describing fashion for extensibility and to support the wide range of measurement results and procedures used in geotechnical and geoenvironmental studies.</a:t>
            </a:r>
          </a:p>
          <a:p>
            <a:r>
              <a:rPr lang="en-US" sz="2200" dirty="0">
                <a:latin typeface="Calibri" charset="0"/>
              </a:rPr>
              <a:t>Measurements do NOT carry RAW or solely procedural data (</a:t>
            </a:r>
            <a:r>
              <a:rPr lang="en-US" sz="2200" dirty="0" err="1">
                <a:latin typeface="Calibri" charset="0"/>
              </a:rPr>
              <a:t>eg</a:t>
            </a:r>
            <a:r>
              <a:rPr lang="en-US" sz="2200" dirty="0">
                <a:latin typeface="Calibri" charset="0"/>
              </a:rPr>
              <a:t>. tare weights, machine voltages, container ID’s)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6F3E0A-BDF3-EDCC-31AC-F37C92340E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4282" y="1089078"/>
            <a:ext cx="7945258" cy="4679844"/>
          </a:xfrm>
          <a:prstGeom prst="rect">
            <a:avLst/>
          </a:prstGeom>
        </p:spPr>
      </p:pic>
      <p:sp>
        <p:nvSpPr>
          <p:cNvPr id="39937" name="Title 1"/>
          <p:cNvSpPr>
            <a:spLocks noGrp="1"/>
          </p:cNvSpPr>
          <p:nvPr>
            <p:ph type="title"/>
          </p:nvPr>
        </p:nvSpPr>
        <p:spPr>
          <a:xfrm>
            <a:off x="452310" y="650756"/>
            <a:ext cx="8229600" cy="457200"/>
          </a:xfrm>
        </p:spPr>
        <p:txBody>
          <a:bodyPr/>
          <a:lstStyle/>
          <a:p>
            <a:pPr algn="ctr"/>
            <a:r>
              <a:rPr lang="en-US" sz="2400" dirty="0">
                <a:latin typeface="Calibri" charset="0"/>
              </a:rPr>
              <a:t>Structure of a Measurement</a:t>
            </a:r>
          </a:p>
        </p:txBody>
      </p:sp>
      <p:sp>
        <p:nvSpPr>
          <p:cNvPr id="6" name="TextBox 5">
            <a:extLst>
              <a:ext uri="{FF2B5EF4-FFF2-40B4-BE49-F238E27FC236}">
                <a16:creationId xmlns:a16="http://schemas.microsoft.com/office/drawing/2014/main" id="{15ED3127-E1FC-1F42-4A2E-9087B61DD0D9}"/>
              </a:ext>
            </a:extLst>
          </p:cNvPr>
          <p:cNvSpPr txBox="1"/>
          <p:nvPr/>
        </p:nvSpPr>
        <p:spPr>
          <a:xfrm>
            <a:off x="1452247" y="4751557"/>
            <a:ext cx="2184400" cy="1569660"/>
          </a:xfrm>
          <a:prstGeom prst="rect">
            <a:avLst/>
          </a:prstGeom>
          <a:noFill/>
        </p:spPr>
        <p:txBody>
          <a:bodyPr wrap="square" rtlCol="0">
            <a:spAutoFit/>
          </a:bodyPr>
          <a:lstStyle/>
          <a:p>
            <a:pPr algn="ctr"/>
            <a:r>
              <a:rPr lang="en-US" sz="1200" dirty="0"/>
              <a:t>Procedures are specialized according to the specific of the test procedure. They are explicitly defined and may themselves contain observations made to derive the ultimate property-value results of the measurement</a:t>
            </a:r>
          </a:p>
        </p:txBody>
      </p:sp>
      <p:sp>
        <p:nvSpPr>
          <p:cNvPr id="2" name="TextBox 1">
            <a:extLst>
              <a:ext uri="{FF2B5EF4-FFF2-40B4-BE49-F238E27FC236}">
                <a16:creationId xmlns:a16="http://schemas.microsoft.com/office/drawing/2014/main" id="{E0E152C0-6305-D649-5731-927C13DF3304}"/>
              </a:ext>
            </a:extLst>
          </p:cNvPr>
          <p:cNvSpPr txBox="1"/>
          <p:nvPr/>
        </p:nvSpPr>
        <p:spPr>
          <a:xfrm>
            <a:off x="4471234" y="1435415"/>
            <a:ext cx="2184400" cy="461665"/>
          </a:xfrm>
          <a:prstGeom prst="rect">
            <a:avLst/>
          </a:prstGeom>
          <a:noFill/>
        </p:spPr>
        <p:txBody>
          <a:bodyPr wrap="square" rtlCol="0">
            <a:spAutoFit/>
          </a:bodyPr>
          <a:lstStyle/>
          <a:p>
            <a:pPr algn="ctr"/>
            <a:r>
              <a:rPr lang="en-US" sz="1200" dirty="0"/>
              <a:t>Result encoding derives from GML coverage </a:t>
            </a:r>
          </a:p>
        </p:txBody>
      </p:sp>
    </p:spTree>
    <p:extLst>
      <p:ext uri="{BB962C8B-B14F-4D97-AF65-F5344CB8AC3E}">
        <p14:creationId xmlns:p14="http://schemas.microsoft.com/office/powerpoint/2010/main" val="1057556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extBox 6"/>
          <p:cNvSpPr txBox="1">
            <a:spLocks noChangeArrowheads="1"/>
          </p:cNvSpPr>
          <p:nvPr/>
        </p:nvSpPr>
        <p:spPr bwMode="auto">
          <a:xfrm>
            <a:off x="500921" y="382250"/>
            <a:ext cx="7736413" cy="60016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dirty="0"/>
              <a:t>            &lt;outcome&gt;</a:t>
            </a:r>
            <a:br>
              <a:rPr lang="en-US" sz="800" dirty="0"/>
            </a:br>
            <a:r>
              <a:rPr lang="en-US" sz="800" dirty="0"/>
              <a:t>                &lt;</a:t>
            </a:r>
            <a:r>
              <a:rPr lang="en-US" sz="800" dirty="0" err="1"/>
              <a:t>TestResult</a:t>
            </a:r>
            <a:r>
              <a:rPr lang="en-US" sz="800" dirty="0"/>
              <a:t> </a:t>
            </a:r>
            <a:r>
              <a:rPr lang="en-US" sz="800" dirty="0" err="1"/>
              <a:t>gml:id</a:t>
            </a:r>
            <a:r>
              <a:rPr lang="en-US" sz="800" dirty="0"/>
              <a:t>="altr1"&gt;</a:t>
            </a:r>
            <a:br>
              <a:rPr lang="en-US" sz="800" dirty="0"/>
            </a:br>
            <a:r>
              <a:rPr lang="en-US" sz="800" dirty="0"/>
              <a:t>                    &lt;location&gt;</a:t>
            </a:r>
          </a:p>
          <a:p>
            <a:pPr eaLnBrk="1" hangingPunct="1"/>
            <a:r>
              <a:rPr lang="en-US" sz="800" dirty="0"/>
              <a:t>                        &lt;</a:t>
            </a:r>
            <a:r>
              <a:rPr lang="en-US" sz="800" dirty="0" err="1"/>
              <a:t>PointLocation</a:t>
            </a:r>
            <a:r>
              <a:rPr lang="en-US" sz="800" dirty="0"/>
              <a:t> </a:t>
            </a:r>
            <a:r>
              <a:rPr lang="en-US" sz="800" dirty="0" err="1"/>
              <a:t>gml:id</a:t>
            </a:r>
            <a:r>
              <a:rPr lang="en-US" sz="800" dirty="0"/>
              <a:t>="pl2" </a:t>
            </a:r>
            <a:r>
              <a:rPr lang="en-US" sz="800" dirty="0" err="1"/>
              <a:t>srsDimension</a:t>
            </a:r>
            <a:r>
              <a:rPr lang="en-US" sz="800" dirty="0"/>
              <a:t>="1" </a:t>
            </a:r>
            <a:r>
              <a:rPr lang="en-US" sz="800" dirty="0" err="1"/>
              <a:t>srsName</a:t>
            </a:r>
            <a:r>
              <a:rPr lang="en-US" sz="800" dirty="0"/>
              <a:t>="#sr123"&gt;</a:t>
            </a:r>
          </a:p>
          <a:p>
            <a:pPr eaLnBrk="1" hangingPunct="1"/>
            <a:r>
              <a:rPr lang="en-US" sz="800" dirty="0"/>
              <a:t>                            &lt;</a:t>
            </a:r>
            <a:r>
              <a:rPr lang="en-US" sz="800" dirty="0" err="1"/>
              <a:t>gml:pos</a:t>
            </a:r>
            <a:r>
              <a:rPr lang="en-US" sz="800" dirty="0"/>
              <a:t>&gt;32&lt;/</a:t>
            </a:r>
            <a:r>
              <a:rPr lang="en-US" sz="800" dirty="0" err="1"/>
              <a:t>gml:pos</a:t>
            </a:r>
            <a:r>
              <a:rPr lang="en-US" sz="800" dirty="0"/>
              <a:t>&gt;</a:t>
            </a:r>
          </a:p>
          <a:p>
            <a:pPr eaLnBrk="1" hangingPunct="1"/>
            <a:r>
              <a:rPr lang="en-US" sz="800" dirty="0"/>
              <a:t>                        &lt;/</a:t>
            </a:r>
            <a:r>
              <a:rPr lang="en-US" sz="800" dirty="0" err="1"/>
              <a:t>PointLocation</a:t>
            </a:r>
            <a:r>
              <a:rPr lang="en-US" sz="800" dirty="0"/>
              <a:t>&gt;</a:t>
            </a:r>
          </a:p>
          <a:p>
            <a:pPr eaLnBrk="1" hangingPunct="1"/>
            <a:r>
              <a:rPr lang="en-US" sz="800" dirty="0"/>
              <a:t>                    &lt;/location&gt;</a:t>
            </a:r>
          </a:p>
          <a:p>
            <a:pPr eaLnBrk="1" hangingPunct="1"/>
            <a:r>
              <a:rPr lang="en-US" sz="800" dirty="0"/>
              <a:t>                     &lt;results&gt;</a:t>
            </a:r>
            <a:br>
              <a:rPr lang="en-US" sz="800" dirty="0"/>
            </a:br>
            <a:r>
              <a:rPr lang="en-US" sz="800" dirty="0"/>
              <a:t>                        &lt;</a:t>
            </a:r>
            <a:r>
              <a:rPr lang="en-US" sz="800" dirty="0" err="1"/>
              <a:t>ResultSet</a:t>
            </a:r>
            <a:r>
              <a:rPr lang="en-US" sz="800" dirty="0"/>
              <a:t>&gt;</a:t>
            </a:r>
            <a:br>
              <a:rPr lang="en-US" sz="800" dirty="0"/>
            </a:br>
            <a:r>
              <a:rPr lang="en-US" sz="800" dirty="0"/>
              <a:t>                            &lt;parameters&gt;</a:t>
            </a:r>
            <a:br>
              <a:rPr lang="en-US" sz="800" dirty="0"/>
            </a:br>
            <a:r>
              <a:rPr lang="en-US" sz="800" dirty="0"/>
              <a:t>                                &lt;</a:t>
            </a:r>
            <a:r>
              <a:rPr lang="en-US" sz="800" dirty="0" err="1"/>
              <a:t>PropertyParameters</a:t>
            </a:r>
            <a:r>
              <a:rPr lang="en-US" sz="800" dirty="0"/>
              <a:t> </a:t>
            </a:r>
            <a:r>
              <a:rPr lang="en-US" sz="800" dirty="0" err="1"/>
              <a:t>gml:id</a:t>
            </a:r>
            <a:r>
              <a:rPr lang="en-US" sz="800" dirty="0"/>
              <a:t>="pp"&gt;</a:t>
            </a:r>
            <a:br>
              <a:rPr lang="en-US" sz="800" dirty="0"/>
            </a:br>
            <a:r>
              <a:rPr lang="en-US" sz="800" dirty="0"/>
              <a:t>                                    &lt;properties&gt;</a:t>
            </a:r>
            <a:br>
              <a:rPr lang="en-US" sz="800" dirty="0"/>
            </a:br>
            <a:r>
              <a:rPr lang="en-US" sz="800" dirty="0"/>
              <a:t>                                        &lt;Property index="1"&gt;</a:t>
            </a:r>
            <a:br>
              <a:rPr lang="en-US" sz="800" dirty="0"/>
            </a:br>
            <a:r>
              <a:rPr lang="en-US" sz="800" dirty="0"/>
              <a:t>                                            &lt;</a:t>
            </a:r>
            <a:r>
              <a:rPr lang="en-US" sz="800" dirty="0" err="1"/>
              <a:t>propertyName</a:t>
            </a:r>
            <a:r>
              <a:rPr lang="en-US" sz="800" dirty="0"/>
              <a:t>&gt;LL&lt;/</a:t>
            </a:r>
            <a:r>
              <a:rPr lang="en-US" sz="800" dirty="0" err="1"/>
              <a:t>propertyName</a:t>
            </a:r>
            <a:r>
              <a:rPr lang="en-US" sz="800" dirty="0"/>
              <a:t>&gt;</a:t>
            </a:r>
            <a:br>
              <a:rPr lang="en-US" sz="800" dirty="0"/>
            </a:br>
            <a:r>
              <a:rPr lang="en-US" sz="800" dirty="0"/>
              <a:t>                                            &lt;</a:t>
            </a:r>
            <a:r>
              <a:rPr lang="en-US" sz="800" dirty="0" err="1"/>
              <a:t>typeData</a:t>
            </a:r>
            <a:r>
              <a:rPr lang="en-US" sz="800" dirty="0"/>
              <a:t>&gt;integer&lt;/</a:t>
            </a:r>
            <a:r>
              <a:rPr lang="en-US" sz="800" dirty="0" err="1"/>
              <a:t>typeData</a:t>
            </a:r>
            <a:r>
              <a:rPr lang="en-US" sz="800" dirty="0"/>
              <a:t>&gt;</a:t>
            </a:r>
            <a:br>
              <a:rPr lang="en-US" sz="800" dirty="0"/>
            </a:br>
            <a:r>
              <a:rPr lang="en-US" sz="800" dirty="0"/>
              <a:t>                                           </a:t>
            </a:r>
            <a:r>
              <a:rPr lang="en-US" sz="800" dirty="0">
                <a:solidFill>
                  <a:srgbClr val="FF0000"/>
                </a:solidFill>
              </a:rPr>
              <a:t> &lt;</a:t>
            </a:r>
            <a:r>
              <a:rPr lang="en-US" sz="800" dirty="0" err="1"/>
              <a:t>propertyClass</a:t>
            </a:r>
            <a:r>
              <a:rPr lang="en-US" sz="800" dirty="0"/>
              <a:t> </a:t>
            </a:r>
            <a:r>
              <a:rPr lang="en-US" sz="800" dirty="0" err="1"/>
              <a:t>codeSpace</a:t>
            </a:r>
            <a:r>
              <a:rPr lang="en-US" sz="800" dirty="0"/>
              <a:t>=</a:t>
            </a:r>
            <a:r>
              <a:rPr lang="en-US" sz="800" dirty="0">
                <a:hlinkClick r:id="rId3">
                  <a:extLst>
                    <a:ext uri="{A12FA001-AC4F-418D-AE19-62706E023703}">
                      <ahyp:hlinkClr xmlns:ahyp="http://schemas.microsoft.com/office/drawing/2018/hyperlinkcolor" val="tx"/>
                    </a:ext>
                  </a:extLst>
                </a:hlinkClick>
              </a:rPr>
              <a:t>“</a:t>
            </a:r>
            <a:r>
              <a:rPr lang="en-US" sz="800" dirty="0">
                <a:solidFill>
                  <a:schemeClr val="accent4"/>
                </a:solidFill>
                <a:hlinkClick r:id="rId3">
                  <a:extLst>
                    <a:ext uri="{A12FA001-AC4F-418D-AE19-62706E023703}">
                      <ahyp:hlinkClr xmlns:ahyp="http://schemas.microsoft.com/office/drawing/2018/hyperlinkcolor" val="tx"/>
                    </a:ext>
                  </a:extLst>
                </a:hlinkClick>
              </a:rPr>
              <a:t>https://diggsml.org/def/codes/DIGGS/0.1/</a:t>
            </a:r>
            <a:r>
              <a:rPr lang="en-US" sz="800" dirty="0">
                <a:solidFill>
                  <a:schemeClr val="accent4"/>
                </a:solidFill>
              </a:rPr>
              <a:t>properties</a:t>
            </a:r>
            <a:r>
              <a:rPr lang="en-US" sz="800" dirty="0">
                <a:solidFill>
                  <a:schemeClr val="accent4"/>
                </a:solidFill>
                <a:hlinkClick r:id="rId3">
                  <a:extLst>
                    <a:ext uri="{A12FA001-AC4F-418D-AE19-62706E023703}">
                      <ahyp:hlinkClr xmlns:ahyp="http://schemas.microsoft.com/office/drawing/2018/hyperlinkcolor" val="tx"/>
                    </a:ext>
                  </a:extLst>
                </a:hlinkClick>
              </a:rPr>
              <a:t>.xml#liquid_limit</a:t>
            </a:r>
            <a:r>
              <a:rPr lang="en-US" sz="800" dirty="0">
                <a:solidFill>
                  <a:srgbClr val="FF0000"/>
                </a:solidFill>
              </a:rPr>
              <a:t>”&gt;Liquid Limit</a:t>
            </a:r>
            <a:r>
              <a:rPr lang="en-US" sz="800" dirty="0"/>
              <a:t>&lt;/</a:t>
            </a:r>
            <a:r>
              <a:rPr lang="en-US" sz="800" dirty="0" err="1"/>
              <a:t>propertyClass</a:t>
            </a:r>
            <a:r>
              <a:rPr lang="en-US" sz="800" dirty="0"/>
              <a:t>&gt;</a:t>
            </a:r>
            <a:br>
              <a:rPr lang="en-US" sz="800" dirty="0"/>
            </a:br>
            <a:r>
              <a:rPr lang="en-US" sz="800" dirty="0"/>
              <a:t>                                        &lt;/Property&gt;</a:t>
            </a:r>
            <a:br>
              <a:rPr lang="en-US" sz="800" dirty="0"/>
            </a:br>
            <a:r>
              <a:rPr lang="en-US" sz="800" dirty="0"/>
              <a:t>                                        &lt;Property index="2"&gt;</a:t>
            </a:r>
            <a:br>
              <a:rPr lang="en-US" sz="800" dirty="0"/>
            </a:br>
            <a:r>
              <a:rPr lang="en-US" sz="800" dirty="0"/>
              <a:t>                                            &lt;</a:t>
            </a:r>
            <a:r>
              <a:rPr lang="en-US" sz="800" dirty="0" err="1"/>
              <a:t>propertyName</a:t>
            </a:r>
            <a:r>
              <a:rPr lang="en-US" sz="800" dirty="0"/>
              <a:t>&gt;PL&lt;/</a:t>
            </a:r>
            <a:r>
              <a:rPr lang="en-US" sz="800" dirty="0" err="1"/>
              <a:t>propertyName</a:t>
            </a:r>
            <a:r>
              <a:rPr lang="en-US" sz="800" dirty="0"/>
              <a:t>&gt;</a:t>
            </a:r>
            <a:br>
              <a:rPr lang="en-US" sz="800" dirty="0"/>
            </a:br>
            <a:r>
              <a:rPr lang="en-US" sz="800" dirty="0"/>
              <a:t>                                            &lt;</a:t>
            </a:r>
            <a:r>
              <a:rPr lang="en-US" sz="800" dirty="0" err="1"/>
              <a:t>typeData</a:t>
            </a:r>
            <a:r>
              <a:rPr lang="en-US" sz="800" dirty="0"/>
              <a:t>&gt;integer&lt;/</a:t>
            </a:r>
            <a:r>
              <a:rPr lang="en-US" sz="800" dirty="0" err="1"/>
              <a:t>typeData</a:t>
            </a:r>
            <a:r>
              <a:rPr lang="en-US" sz="800" dirty="0"/>
              <a:t>&gt;</a:t>
            </a:r>
            <a:br>
              <a:rPr lang="en-US" sz="800" dirty="0"/>
            </a:br>
            <a:r>
              <a:rPr lang="en-US" sz="800" dirty="0"/>
              <a:t>                                            &lt;</a:t>
            </a:r>
            <a:r>
              <a:rPr lang="en-US" sz="800" dirty="0" err="1"/>
              <a:t>propertyClass</a:t>
            </a:r>
            <a:r>
              <a:rPr lang="en-US" sz="800" dirty="0"/>
              <a:t> </a:t>
            </a:r>
            <a:r>
              <a:rPr lang="en-US" sz="800" dirty="0" err="1"/>
              <a:t>codeSpace</a:t>
            </a:r>
            <a:r>
              <a:rPr lang="en-US" sz="800" dirty="0"/>
              <a:t>=</a:t>
            </a:r>
            <a:r>
              <a:rPr lang="en-US" sz="800" dirty="0">
                <a:solidFill>
                  <a:srgbClr val="FF0000"/>
                </a:solidFill>
              </a:rPr>
              <a:t>"https://</a:t>
            </a:r>
            <a:r>
              <a:rPr lang="en-US" sz="800" dirty="0" err="1">
                <a:solidFill>
                  <a:srgbClr val="FF0000"/>
                </a:solidFill>
              </a:rPr>
              <a:t>diggsml.org</a:t>
            </a:r>
            <a:r>
              <a:rPr lang="en-US" sz="800" dirty="0">
                <a:solidFill>
                  <a:srgbClr val="FF0000"/>
                </a:solidFill>
              </a:rPr>
              <a:t>/def/codes/DIGGS/0.1/</a:t>
            </a:r>
            <a:r>
              <a:rPr lang="en-US" sz="800" dirty="0" err="1">
                <a:solidFill>
                  <a:srgbClr val="FF0000"/>
                </a:solidFill>
              </a:rPr>
              <a:t>properties.xml#plastic_li</a:t>
            </a:r>
            <a:r>
              <a:rPr lang="en-US" sz="800" dirty="0" err="1">
                <a:solidFill>
                  <a:schemeClr val="accent4"/>
                </a:solidFill>
              </a:rPr>
              <a:t>mit</a:t>
            </a:r>
            <a:r>
              <a:rPr lang="en-US" sz="800" dirty="0">
                <a:solidFill>
                  <a:schemeClr val="accent4"/>
                </a:solidFill>
              </a:rPr>
              <a:t>"</a:t>
            </a:r>
            <a:r>
              <a:rPr lang="en-US" sz="800" dirty="0"/>
              <a:t>&gt; "&gt;Plastic Limit&lt;/</a:t>
            </a:r>
            <a:r>
              <a:rPr lang="en-US" sz="800" dirty="0" err="1"/>
              <a:t>propertyClass</a:t>
            </a:r>
            <a:r>
              <a:rPr lang="en-US" sz="800" dirty="0"/>
              <a:t>&gt;</a:t>
            </a:r>
            <a:br>
              <a:rPr lang="en-US" sz="800" dirty="0">
                <a:solidFill>
                  <a:srgbClr val="FF0000"/>
                </a:solidFill>
              </a:rPr>
            </a:br>
            <a:r>
              <a:rPr lang="en-US" sz="800" dirty="0"/>
              <a:t>                                        &lt;/Property&gt;</a:t>
            </a:r>
            <a:br>
              <a:rPr lang="en-US" sz="800" dirty="0"/>
            </a:br>
            <a:r>
              <a:rPr lang="en-US" sz="800" dirty="0"/>
              <a:t>	        &lt;Property index="3"&gt;</a:t>
            </a:r>
          </a:p>
          <a:p>
            <a:pPr eaLnBrk="1" hangingPunct="1"/>
            <a:r>
              <a:rPr lang="en-US" sz="800" dirty="0"/>
              <a:t>                                            &lt;</a:t>
            </a:r>
            <a:r>
              <a:rPr lang="en-US" sz="800" dirty="0" err="1"/>
              <a:t>propertyName</a:t>
            </a:r>
            <a:r>
              <a:rPr lang="en-US" sz="800" dirty="0"/>
              <a:t>&gt;PI&lt;/</a:t>
            </a:r>
            <a:r>
              <a:rPr lang="en-US" sz="800" dirty="0" err="1"/>
              <a:t>propertyName</a:t>
            </a:r>
            <a:r>
              <a:rPr lang="en-US" sz="800" dirty="0"/>
              <a:t>&gt;</a:t>
            </a:r>
          </a:p>
          <a:p>
            <a:pPr eaLnBrk="1" hangingPunct="1"/>
            <a:r>
              <a:rPr lang="en-US" sz="800" dirty="0"/>
              <a:t>                                            &lt;</a:t>
            </a:r>
            <a:r>
              <a:rPr lang="en-US" sz="800" dirty="0" err="1"/>
              <a:t>typeData</a:t>
            </a:r>
            <a:r>
              <a:rPr lang="en-US" sz="800" dirty="0"/>
              <a:t>&gt;integer&lt;/</a:t>
            </a:r>
            <a:r>
              <a:rPr lang="en-US" sz="800" dirty="0" err="1"/>
              <a:t>typeData</a:t>
            </a:r>
            <a:r>
              <a:rPr lang="en-US" sz="800" dirty="0"/>
              <a:t>&gt;</a:t>
            </a:r>
          </a:p>
          <a:p>
            <a:pPr eaLnBrk="1" hangingPunct="1"/>
            <a:r>
              <a:rPr lang="en-US" sz="800" dirty="0"/>
              <a:t>                                            &lt;</a:t>
            </a:r>
            <a:r>
              <a:rPr lang="en-US" sz="800" dirty="0" err="1"/>
              <a:t>propertyClass</a:t>
            </a:r>
            <a:r>
              <a:rPr lang="en-US" sz="800" dirty="0"/>
              <a:t> </a:t>
            </a:r>
            <a:r>
              <a:rPr lang="en-US" sz="800" dirty="0" err="1"/>
              <a:t>codeSpace</a:t>
            </a:r>
            <a:r>
              <a:rPr lang="en-US" sz="800" dirty="0"/>
              <a:t>="</a:t>
            </a:r>
            <a:r>
              <a:rPr lang="en-US" sz="800" dirty="0">
                <a:solidFill>
                  <a:srgbClr val="FF0000"/>
                </a:solidFill>
              </a:rPr>
              <a:t>https://diggsml.org/def/codes/DIGGS/0.1/properties.xml#plasticity_index</a:t>
            </a:r>
            <a:r>
              <a:rPr lang="en-US" sz="800" dirty="0"/>
              <a:t>"&gt;</a:t>
            </a:r>
            <a:r>
              <a:rPr lang="en-US" sz="800" dirty="0">
                <a:hlinkClick r:id="rId4">
                  <a:extLst>
                    <a:ext uri="{A12FA001-AC4F-418D-AE19-62706E023703}">
                      <ahyp:hlinkClr xmlns:ahyp="http://schemas.microsoft.com/office/drawing/2018/hyperlinkcolor" val="tx"/>
                    </a:ext>
                  </a:extLst>
                </a:hlinkClick>
              </a:rPr>
              <a:t>Plasticity</a:t>
            </a:r>
            <a:r>
              <a:rPr lang="en-US" sz="800" dirty="0"/>
              <a:t> Index&lt;/</a:t>
            </a:r>
            <a:r>
              <a:rPr lang="en-US" sz="800" dirty="0" err="1"/>
              <a:t>propertyClass</a:t>
            </a:r>
            <a:r>
              <a:rPr lang="en-US" sz="800" dirty="0"/>
              <a:t>&gt;</a:t>
            </a:r>
          </a:p>
          <a:p>
            <a:pPr eaLnBrk="1" hangingPunct="1"/>
            <a:r>
              <a:rPr lang="en-US" sz="800" dirty="0"/>
              <a:t>                                        &lt;/Property&gt;</a:t>
            </a:r>
          </a:p>
          <a:p>
            <a:pPr eaLnBrk="1" hangingPunct="1"/>
            <a:r>
              <a:rPr lang="en-US" sz="800" dirty="0"/>
              <a:t>                                        &lt;Property index="4"&gt;</a:t>
            </a:r>
          </a:p>
          <a:p>
            <a:pPr eaLnBrk="1" hangingPunct="1"/>
            <a:r>
              <a:rPr lang="en-US" sz="800" dirty="0"/>
              <a:t>                                            &lt;</a:t>
            </a:r>
            <a:r>
              <a:rPr lang="en-US" sz="800" dirty="0" err="1"/>
              <a:t>propertyName</a:t>
            </a:r>
            <a:r>
              <a:rPr lang="en-US" sz="800" dirty="0"/>
              <a:t>&gt;Symbol from plasticity chart&lt;/</a:t>
            </a:r>
            <a:r>
              <a:rPr lang="en-US" sz="800" dirty="0" err="1"/>
              <a:t>propertyName</a:t>
            </a:r>
            <a:r>
              <a:rPr lang="en-US" sz="800" dirty="0"/>
              <a:t>&gt;</a:t>
            </a:r>
          </a:p>
          <a:p>
            <a:pPr eaLnBrk="1" hangingPunct="1"/>
            <a:r>
              <a:rPr lang="en-US" sz="800" dirty="0"/>
              <a:t>                                            &lt;</a:t>
            </a:r>
            <a:r>
              <a:rPr lang="en-US" sz="800" dirty="0" err="1"/>
              <a:t>typeData</a:t>
            </a:r>
            <a:r>
              <a:rPr lang="en-US" sz="800" dirty="0"/>
              <a:t>&gt;string&lt;/</a:t>
            </a:r>
            <a:r>
              <a:rPr lang="en-US" sz="800" dirty="0" err="1"/>
              <a:t>typeData</a:t>
            </a:r>
            <a:r>
              <a:rPr lang="en-US" sz="800" dirty="0"/>
              <a:t>&gt;</a:t>
            </a:r>
          </a:p>
          <a:p>
            <a:pPr eaLnBrk="1" hangingPunct="1"/>
            <a:r>
              <a:rPr lang="en-US" sz="800" dirty="0"/>
              <a:t>                                            &lt;</a:t>
            </a:r>
            <a:r>
              <a:rPr lang="en-US" sz="800" dirty="0" err="1"/>
              <a:t>propertyClass</a:t>
            </a:r>
            <a:r>
              <a:rPr lang="en-US" sz="800" dirty="0"/>
              <a:t> </a:t>
            </a:r>
            <a:r>
              <a:rPr lang="en-US" sz="800" dirty="0" err="1"/>
              <a:t>codeSpace</a:t>
            </a:r>
            <a:r>
              <a:rPr lang="en-US" sz="800" dirty="0"/>
              <a:t>="</a:t>
            </a:r>
            <a:r>
              <a:rPr lang="en-US" sz="800" dirty="0">
                <a:solidFill>
                  <a:srgbClr val="FF0000"/>
                </a:solidFill>
              </a:rPr>
              <a:t>https://</a:t>
            </a:r>
            <a:r>
              <a:rPr lang="en-US" sz="800" dirty="0" err="1">
                <a:solidFill>
                  <a:srgbClr val="FF0000"/>
                </a:solidFill>
              </a:rPr>
              <a:t>diggsml.org</a:t>
            </a:r>
            <a:r>
              <a:rPr lang="en-US" sz="800" dirty="0">
                <a:solidFill>
                  <a:srgbClr val="FF0000"/>
                </a:solidFill>
              </a:rPr>
              <a:t>/def/codes/DIGGS/0.1/properties.xml#uscs_symbol_425”</a:t>
            </a:r>
            <a:r>
              <a:rPr lang="en-US" sz="800" dirty="0"/>
              <a:t>&gt;USCS Symbol&lt;/</a:t>
            </a:r>
            <a:r>
              <a:rPr lang="en-US" sz="800" dirty="0" err="1"/>
              <a:t>propertyClass</a:t>
            </a:r>
            <a:r>
              <a:rPr lang="en-US" sz="800" dirty="0"/>
              <a:t>&gt;</a:t>
            </a:r>
          </a:p>
          <a:p>
            <a:pPr eaLnBrk="1" hangingPunct="1"/>
            <a:r>
              <a:rPr lang="en-US" sz="800" dirty="0"/>
              <a:t>                                        &lt;/Property&gt;</a:t>
            </a:r>
          </a:p>
          <a:p>
            <a:pPr eaLnBrk="1" hangingPunct="1"/>
            <a:r>
              <a:rPr lang="en-US" sz="800" dirty="0"/>
              <a:t>	        &lt;Property index=”5"&gt;</a:t>
            </a:r>
            <a:br>
              <a:rPr lang="en-US" sz="800" dirty="0"/>
            </a:br>
            <a:r>
              <a:rPr lang="en-US" sz="800" dirty="0"/>
              <a:t>                                            &lt;</a:t>
            </a:r>
            <a:r>
              <a:rPr lang="en-US" sz="800" dirty="0" err="1"/>
              <a:t>propertyName</a:t>
            </a:r>
            <a:r>
              <a:rPr lang="en-US" sz="800" dirty="0"/>
              <a:t>&gt;LI&lt;/</a:t>
            </a:r>
            <a:r>
              <a:rPr lang="en-US" sz="800" dirty="0" err="1"/>
              <a:t>propertyName</a:t>
            </a:r>
            <a:r>
              <a:rPr lang="en-US" sz="800" dirty="0"/>
              <a:t>&gt;</a:t>
            </a:r>
            <a:br>
              <a:rPr lang="en-US" sz="800" dirty="0"/>
            </a:br>
            <a:r>
              <a:rPr lang="en-US" sz="800" dirty="0"/>
              <a:t>                                            &lt;</a:t>
            </a:r>
            <a:r>
              <a:rPr lang="en-US" sz="800" dirty="0" err="1"/>
              <a:t>typeData</a:t>
            </a:r>
            <a:r>
              <a:rPr lang="en-US" sz="800" dirty="0"/>
              <a:t>&gt;double&lt;/</a:t>
            </a:r>
            <a:r>
              <a:rPr lang="en-US" sz="800" dirty="0" err="1"/>
              <a:t>typeData</a:t>
            </a:r>
            <a:r>
              <a:rPr lang="en-US" sz="800" dirty="0"/>
              <a:t>&gt;</a:t>
            </a:r>
            <a:br>
              <a:rPr lang="en-US" sz="800" dirty="0"/>
            </a:br>
            <a:r>
              <a:rPr lang="en-US" sz="800" dirty="0"/>
              <a:t>                                          </a:t>
            </a:r>
            <a:r>
              <a:rPr lang="en-US" sz="800" dirty="0">
                <a:solidFill>
                  <a:srgbClr val="FF0000"/>
                </a:solidFill>
              </a:rPr>
              <a:t>  </a:t>
            </a:r>
            <a:r>
              <a:rPr lang="en-US" sz="800" dirty="0"/>
              <a:t>&lt;</a:t>
            </a:r>
            <a:r>
              <a:rPr lang="en-US" sz="800" dirty="0" err="1"/>
              <a:t>propertyClass</a:t>
            </a:r>
            <a:r>
              <a:rPr lang="en-US" sz="800" dirty="0"/>
              <a:t> </a:t>
            </a:r>
            <a:r>
              <a:rPr lang="en-US" sz="800" dirty="0" err="1"/>
              <a:t>codeSpace</a:t>
            </a:r>
            <a:r>
              <a:rPr lang="en-US" sz="800" dirty="0"/>
              <a:t>="</a:t>
            </a:r>
            <a:r>
              <a:rPr lang="en-US" sz="800" dirty="0">
                <a:solidFill>
                  <a:srgbClr val="FF0000"/>
                </a:solidFill>
              </a:rPr>
              <a:t>https://</a:t>
            </a:r>
            <a:r>
              <a:rPr lang="en-US" sz="800" dirty="0" err="1">
                <a:solidFill>
                  <a:srgbClr val="FF0000"/>
                </a:solidFill>
              </a:rPr>
              <a:t>diggsml.org</a:t>
            </a:r>
            <a:r>
              <a:rPr lang="en-US" sz="800" dirty="0">
                <a:solidFill>
                  <a:srgbClr val="FF0000"/>
                </a:solidFill>
              </a:rPr>
              <a:t>/def/codes/DIGGS/0.1/</a:t>
            </a:r>
            <a:r>
              <a:rPr lang="en-US" sz="800" dirty="0" err="1">
                <a:solidFill>
                  <a:srgbClr val="FF0000"/>
                </a:solidFill>
              </a:rPr>
              <a:t>properties.xml#liquidity_index</a:t>
            </a:r>
            <a:r>
              <a:rPr lang="en-US" sz="800" dirty="0"/>
              <a:t>"&gt;Liquidity Index&lt;/</a:t>
            </a:r>
            <a:r>
              <a:rPr lang="en-US" sz="800" dirty="0" err="1"/>
              <a:t>propertyClass</a:t>
            </a:r>
            <a:r>
              <a:rPr lang="en-US" sz="800" dirty="0"/>
              <a:t>&gt;</a:t>
            </a:r>
            <a:br>
              <a:rPr lang="en-US" sz="800" dirty="0">
                <a:solidFill>
                  <a:srgbClr val="FF0000"/>
                </a:solidFill>
              </a:rPr>
            </a:br>
            <a:r>
              <a:rPr lang="en-US" sz="800" dirty="0"/>
              <a:t>                                        &lt;/Property&gt;</a:t>
            </a:r>
            <a:br>
              <a:rPr lang="en-US" sz="800" dirty="0"/>
            </a:br>
            <a:r>
              <a:rPr lang="en-US" sz="800" dirty="0"/>
              <a:t>                                     &lt;/properties&gt;</a:t>
            </a:r>
            <a:br>
              <a:rPr lang="en-US" sz="800" dirty="0"/>
            </a:br>
            <a:r>
              <a:rPr lang="en-US" sz="800" dirty="0"/>
              <a:t>                                &lt;/</a:t>
            </a:r>
            <a:r>
              <a:rPr lang="en-US" sz="800" dirty="0" err="1"/>
              <a:t>PropertyParameters</a:t>
            </a:r>
            <a:r>
              <a:rPr lang="en-US" sz="800" dirty="0"/>
              <a:t>&gt;</a:t>
            </a:r>
            <a:br>
              <a:rPr lang="en-US" sz="800" dirty="0"/>
            </a:br>
            <a:r>
              <a:rPr lang="en-US" sz="800" dirty="0"/>
              <a:t>                            &lt;/parameters&gt;</a:t>
            </a:r>
            <a:br>
              <a:rPr lang="en-US" sz="800" dirty="0"/>
            </a:br>
            <a:r>
              <a:rPr lang="en-US" sz="800" dirty="0"/>
              <a:t>                            &lt;</a:t>
            </a:r>
            <a:r>
              <a:rPr lang="en-US" sz="800" dirty="0" err="1"/>
              <a:t>dataValues</a:t>
            </a:r>
            <a:r>
              <a:rPr lang="en-US" sz="800" dirty="0"/>
              <a:t>&gt;</a:t>
            </a:r>
          </a:p>
          <a:p>
            <a:pPr eaLnBrk="1" hangingPunct="1"/>
            <a:r>
              <a:rPr lang="en-US" sz="800" dirty="0"/>
              <a:t>                               25,12,13,"CL",0.66</a:t>
            </a:r>
          </a:p>
          <a:p>
            <a:pPr eaLnBrk="1" hangingPunct="1"/>
            <a:r>
              <a:rPr lang="en-US" sz="800" dirty="0"/>
              <a:t>                            &lt;/</a:t>
            </a:r>
            <a:r>
              <a:rPr lang="en-US" sz="800" dirty="0" err="1"/>
              <a:t>dataValues</a:t>
            </a:r>
            <a:br>
              <a:rPr lang="en-US" sz="800" dirty="0"/>
            </a:br>
            <a:r>
              <a:rPr lang="en-US" sz="800" dirty="0"/>
              <a:t>                        &lt;/</a:t>
            </a:r>
            <a:r>
              <a:rPr lang="en-US" sz="800" dirty="0" err="1"/>
              <a:t>ResultSet</a:t>
            </a:r>
            <a:r>
              <a:rPr lang="en-US" sz="800" dirty="0"/>
              <a:t>&gt;</a:t>
            </a:r>
            <a:br>
              <a:rPr lang="en-US" sz="800" dirty="0"/>
            </a:br>
            <a:r>
              <a:rPr lang="en-US" sz="800" dirty="0"/>
              <a:t>                    &lt;/results&gt;</a:t>
            </a:r>
            <a:br>
              <a:rPr lang="en-US" sz="800" dirty="0"/>
            </a:br>
            <a:r>
              <a:rPr lang="en-US" sz="800" dirty="0"/>
              <a:t>                &lt;/</a:t>
            </a:r>
            <a:r>
              <a:rPr lang="en-US" sz="800" dirty="0" err="1"/>
              <a:t>TestResult</a:t>
            </a:r>
            <a:r>
              <a:rPr lang="en-US" sz="800" dirty="0"/>
              <a:t>&gt;</a:t>
            </a:r>
            <a:br>
              <a:rPr lang="en-US" sz="800" dirty="0"/>
            </a:br>
            <a:r>
              <a:rPr lang="en-US" sz="800" dirty="0"/>
              <a:t>            &lt;/outcome&gt;</a:t>
            </a:r>
            <a:br>
              <a:rPr lang="en-US" sz="800" dirty="0"/>
            </a:br>
            <a:endParaRPr lang="en-US" sz="800" dirty="0"/>
          </a:p>
        </p:txBody>
      </p:sp>
    </p:spTree>
    <p:extLst>
      <p:ext uri="{BB962C8B-B14F-4D97-AF65-F5344CB8AC3E}">
        <p14:creationId xmlns:p14="http://schemas.microsoft.com/office/powerpoint/2010/main" val="1931419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A2DF-E904-583A-69A9-E4EAE75B58AA}"/>
              </a:ext>
            </a:extLst>
          </p:cNvPr>
          <p:cNvSpPr>
            <a:spLocks noGrp="1"/>
          </p:cNvSpPr>
          <p:nvPr>
            <p:ph type="title"/>
          </p:nvPr>
        </p:nvSpPr>
        <p:spPr>
          <a:xfrm>
            <a:off x="269823" y="814891"/>
            <a:ext cx="8229600" cy="558384"/>
          </a:xfrm>
        </p:spPr>
        <p:txBody>
          <a:bodyPr/>
          <a:lstStyle/>
          <a:p>
            <a:pPr algn="ctr"/>
            <a:r>
              <a:rPr lang="en-US" sz="3600" dirty="0"/>
              <a:t>Application of </a:t>
            </a:r>
            <a:r>
              <a:rPr lang="en-US" sz="3600" dirty="0" err="1"/>
              <a:t>observationSystems</a:t>
            </a:r>
            <a:r>
              <a:rPr lang="en-US" sz="3600" dirty="0"/>
              <a:t>/measurements to R-I</a:t>
            </a:r>
          </a:p>
        </p:txBody>
      </p:sp>
      <p:sp>
        <p:nvSpPr>
          <p:cNvPr id="3" name="TextBox 2">
            <a:extLst>
              <a:ext uri="{FF2B5EF4-FFF2-40B4-BE49-F238E27FC236}">
                <a16:creationId xmlns:a16="http://schemas.microsoft.com/office/drawing/2014/main" id="{5B3E8364-7220-228A-7CA6-74844DC91113}"/>
              </a:ext>
            </a:extLst>
          </p:cNvPr>
          <p:cNvSpPr txBox="1"/>
          <p:nvPr/>
        </p:nvSpPr>
        <p:spPr>
          <a:xfrm>
            <a:off x="406048" y="1596452"/>
            <a:ext cx="7598699"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Pre-</a:t>
            </a:r>
            <a:r>
              <a:rPr lang="en-US" sz="2400" dirty="0" err="1"/>
              <a:t>installatio</a:t>
            </a:r>
            <a:endParaRPr lang="en-US" sz="2400" dirty="0"/>
          </a:p>
          <a:p>
            <a:pPr marL="742950" lvl="1" indent="-285750">
              <a:buFont typeface="Arial" panose="020B0604020202020204" pitchFamily="34" charset="0"/>
              <a:buChar char="•"/>
            </a:pPr>
            <a:r>
              <a:rPr lang="en-US" sz="2400" dirty="0"/>
              <a:t>Soil descriptions taken during drilling (</a:t>
            </a:r>
            <a:r>
              <a:rPr lang="en-US" sz="2400" dirty="0" err="1"/>
              <a:t>LithologyObservationSystem</a:t>
            </a:r>
            <a:r>
              <a:rPr lang="en-US" sz="2400" dirty="0"/>
              <a:t>)</a:t>
            </a:r>
          </a:p>
          <a:p>
            <a:pPr marL="742950" lvl="1" indent="-285750">
              <a:buFont typeface="Arial" panose="020B0604020202020204" pitchFamily="34" charset="0"/>
              <a:buChar char="•"/>
            </a:pPr>
            <a:r>
              <a:rPr lang="en-US" sz="2400" dirty="0"/>
              <a:t>In-situ measurements during drilling (Test)</a:t>
            </a:r>
          </a:p>
          <a:p>
            <a:pPr marL="742950" lvl="1" indent="-285750">
              <a:buFont typeface="Arial" panose="020B0604020202020204" pitchFamily="34" charset="0"/>
              <a:buChar char="•"/>
            </a:pPr>
            <a:r>
              <a:rPr lang="en-US" sz="2400" dirty="0"/>
              <a:t>Laboratory tests on samples collected from drilling (Test)</a:t>
            </a:r>
          </a:p>
          <a:p>
            <a:pPr marL="742950" lvl="1" indent="-285750">
              <a:buFont typeface="Arial" panose="020B0604020202020204" pitchFamily="34" charset="0"/>
              <a:buChar char="•"/>
            </a:pPr>
            <a:r>
              <a:rPr lang="en-US" sz="2400" dirty="0"/>
              <a:t>Lab tests on inclusion materials (aggregate, cement, etc., </a:t>
            </a:r>
            <a:r>
              <a:rPr lang="en-US" sz="2400" dirty="0" err="1"/>
              <a:t>MaterialTest</a:t>
            </a:r>
            <a:r>
              <a:rPr lang="en-US" sz="2400" dirty="0"/>
              <a:t>)</a:t>
            </a:r>
          </a:p>
          <a:p>
            <a:pPr marL="285750" indent="-285750">
              <a:buFont typeface="Arial" panose="020B0604020202020204" pitchFamily="34" charset="0"/>
              <a:buChar char="•"/>
            </a:pPr>
            <a:r>
              <a:rPr lang="en-US" sz="2400" dirty="0"/>
              <a:t>Post-installation	</a:t>
            </a:r>
          </a:p>
          <a:p>
            <a:pPr marL="742950" lvl="1" indent="-285750">
              <a:buFont typeface="Arial" panose="020B0604020202020204" pitchFamily="34" charset="0"/>
              <a:buChar char="•"/>
            </a:pPr>
            <a:r>
              <a:rPr lang="en-US" sz="2400" dirty="0"/>
              <a:t>Post-installation in-situ tests (</a:t>
            </a:r>
            <a:r>
              <a:rPr lang="en-US" sz="2400" dirty="0" err="1"/>
              <a:t>eg</a:t>
            </a:r>
            <a:r>
              <a:rPr lang="en-US" sz="2400" dirty="0"/>
              <a:t>/ load tests, Test/Monitor)</a:t>
            </a:r>
          </a:p>
          <a:p>
            <a:pPr marL="742950" lvl="1" indent="-285750">
              <a:buFont typeface="Arial" panose="020B0604020202020204" pitchFamily="34" charset="0"/>
              <a:buChar char="•"/>
            </a:pPr>
            <a:r>
              <a:rPr lang="en-US" sz="2400" dirty="0"/>
              <a:t>Post-installation tests on emplaced materials (Test)</a:t>
            </a:r>
          </a:p>
        </p:txBody>
      </p:sp>
    </p:spTree>
    <p:extLst>
      <p:ext uri="{BB962C8B-B14F-4D97-AF65-F5344CB8AC3E}">
        <p14:creationId xmlns:p14="http://schemas.microsoft.com/office/powerpoint/2010/main" val="39256097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E476-24D8-4D4C-649C-25B9C8394C7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2058908-4EE7-7DBC-24FA-9CA91E869D5B}"/>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2" name="Title 1">
            <a:extLst>
              <a:ext uri="{FF2B5EF4-FFF2-40B4-BE49-F238E27FC236}">
                <a16:creationId xmlns:a16="http://schemas.microsoft.com/office/drawing/2014/main" id="{2EC7D017-F59D-88FE-892A-B4ED5A3AE1D6}"/>
              </a:ext>
            </a:extLst>
          </p:cNvPr>
          <p:cNvSpPr>
            <a:spLocks noGrp="1"/>
          </p:cNvSpPr>
          <p:nvPr>
            <p:ph type="title"/>
          </p:nvPr>
        </p:nvSpPr>
        <p:spPr>
          <a:xfrm>
            <a:off x="376178" y="190555"/>
            <a:ext cx="8229600" cy="1066800"/>
          </a:xfrm>
        </p:spPr>
        <p:txBody>
          <a:bodyPr/>
          <a:lstStyle/>
          <a:p>
            <a:r>
              <a:rPr lang="en-US" dirty="0"/>
              <a:t>DIGGS Data Model</a:t>
            </a:r>
          </a:p>
        </p:txBody>
      </p:sp>
      <p:sp>
        <p:nvSpPr>
          <p:cNvPr id="5" name="Right Arrow 4">
            <a:extLst>
              <a:ext uri="{FF2B5EF4-FFF2-40B4-BE49-F238E27FC236}">
                <a16:creationId xmlns:a16="http://schemas.microsoft.com/office/drawing/2014/main" id="{2494E609-1609-4966-55A7-63DE758FC1E3}"/>
              </a:ext>
            </a:extLst>
          </p:cNvPr>
          <p:cNvSpPr/>
          <p:nvPr/>
        </p:nvSpPr>
        <p:spPr>
          <a:xfrm rot="18900000">
            <a:off x="6091715" y="3247067"/>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E8ED5B7B-AC7F-EB12-4B06-3CBAE5AED0C0}"/>
              </a:ext>
            </a:extLst>
          </p:cNvPr>
          <p:cNvSpPr txBox="1"/>
          <p:nvPr/>
        </p:nvSpPr>
        <p:spPr>
          <a:xfrm>
            <a:off x="3451585" y="3512458"/>
            <a:ext cx="3370531" cy="646331"/>
          </a:xfrm>
          <a:prstGeom prst="rect">
            <a:avLst/>
          </a:prstGeom>
          <a:solidFill>
            <a:schemeClr val="bg1"/>
          </a:solidFill>
          <a:ln>
            <a:solidFill>
              <a:schemeClr val="tx1"/>
            </a:solidFill>
          </a:ln>
        </p:spPr>
        <p:txBody>
          <a:bodyPr wrap="square" rtlCol="0">
            <a:spAutoFit/>
          </a:bodyPr>
          <a:lstStyle/>
          <a:p>
            <a:pPr algn="ctr"/>
            <a:r>
              <a:rPr lang="en-US" sz="1400" b="1" dirty="0"/>
              <a:t>Construction Activity</a:t>
            </a:r>
          </a:p>
          <a:p>
            <a:r>
              <a:rPr lang="en-US" sz="1100" dirty="0"/>
              <a:t>An activity intended to improve or alter ground conditions. </a:t>
            </a:r>
          </a:p>
        </p:txBody>
      </p:sp>
    </p:spTree>
    <p:extLst>
      <p:ext uri="{BB962C8B-B14F-4D97-AF65-F5344CB8AC3E}">
        <p14:creationId xmlns:p14="http://schemas.microsoft.com/office/powerpoint/2010/main" val="36301152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49BCF-713E-F886-4532-3FEDF1BCDCC3}"/>
              </a:ext>
            </a:extLst>
          </p:cNvPr>
          <p:cNvSpPr>
            <a:spLocks noGrp="1"/>
          </p:cNvSpPr>
          <p:nvPr>
            <p:ph type="title"/>
          </p:nvPr>
        </p:nvSpPr>
        <p:spPr>
          <a:xfrm>
            <a:off x="389743" y="483433"/>
            <a:ext cx="8229600" cy="1066800"/>
          </a:xfrm>
        </p:spPr>
        <p:txBody>
          <a:bodyPr/>
          <a:lstStyle/>
          <a:p>
            <a:r>
              <a:rPr lang="en-US" dirty="0" err="1"/>
              <a:t>ConstructionActivity</a:t>
            </a:r>
            <a:r>
              <a:rPr lang="en-US" dirty="0"/>
              <a:t> Components</a:t>
            </a:r>
          </a:p>
        </p:txBody>
      </p:sp>
      <p:sp>
        <p:nvSpPr>
          <p:cNvPr id="3" name="Content Placeholder 2">
            <a:extLst>
              <a:ext uri="{FF2B5EF4-FFF2-40B4-BE49-F238E27FC236}">
                <a16:creationId xmlns:a16="http://schemas.microsoft.com/office/drawing/2014/main" id="{24024AF3-A5B4-2149-70E6-6A411DB00B2D}"/>
              </a:ext>
            </a:extLst>
          </p:cNvPr>
          <p:cNvSpPr>
            <a:spLocks noGrp="1"/>
          </p:cNvSpPr>
          <p:nvPr>
            <p:ph idx="1"/>
          </p:nvPr>
        </p:nvSpPr>
        <p:spPr>
          <a:xfrm>
            <a:off x="457200" y="1844754"/>
            <a:ext cx="8229600" cy="4324350"/>
          </a:xfrm>
        </p:spPr>
        <p:txBody>
          <a:bodyPr/>
          <a:lstStyle/>
          <a:p>
            <a:r>
              <a:rPr lang="en-US" dirty="0"/>
              <a:t>Base type:</a:t>
            </a:r>
          </a:p>
          <a:p>
            <a:pPr lvl="1"/>
            <a:r>
              <a:rPr lang="en-US" dirty="0"/>
              <a:t>References project, </a:t>
            </a:r>
            <a:r>
              <a:rPr lang="en-US" dirty="0" err="1"/>
              <a:t>samplingFeature</a:t>
            </a:r>
            <a:endParaRPr lang="en-US" dirty="0"/>
          </a:p>
          <a:p>
            <a:pPr lvl="1"/>
            <a:r>
              <a:rPr lang="en-US" dirty="0"/>
              <a:t>Construction method(s), event(s), equipment</a:t>
            </a:r>
          </a:p>
          <a:p>
            <a:r>
              <a:rPr lang="en-US" dirty="0"/>
              <a:t>Concrete elements</a:t>
            </a:r>
          </a:p>
          <a:p>
            <a:pPr lvl="1"/>
            <a:r>
              <a:rPr lang="en-US" dirty="0"/>
              <a:t>Activity metadata</a:t>
            </a:r>
          </a:p>
          <a:p>
            <a:pPr lvl="1"/>
            <a:r>
              <a:rPr lang="en-US" dirty="0"/>
              <a:t>Time-series observations during construction</a:t>
            </a:r>
          </a:p>
          <a:p>
            <a:pPr marL="411162" lvl="1" indent="0">
              <a:buNone/>
            </a:pPr>
            <a:endParaRPr lang="en-US" dirty="0"/>
          </a:p>
        </p:txBody>
      </p:sp>
    </p:spTree>
    <p:extLst>
      <p:ext uri="{BB962C8B-B14F-4D97-AF65-F5344CB8AC3E}">
        <p14:creationId xmlns:p14="http://schemas.microsoft.com/office/powerpoint/2010/main" val="36378040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57F50-A29A-51FF-33BB-CFE5617C2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1FC9B-A1E3-4958-A01B-C39D3DA4EEA9}"/>
              </a:ext>
            </a:extLst>
          </p:cNvPr>
          <p:cNvSpPr>
            <a:spLocks noGrp="1"/>
          </p:cNvSpPr>
          <p:nvPr>
            <p:ph type="title"/>
          </p:nvPr>
        </p:nvSpPr>
        <p:spPr>
          <a:xfrm>
            <a:off x="374755" y="717455"/>
            <a:ext cx="8229600" cy="558384"/>
          </a:xfrm>
        </p:spPr>
        <p:txBody>
          <a:bodyPr/>
          <a:lstStyle/>
          <a:p>
            <a:pPr algn="ctr"/>
            <a:r>
              <a:rPr lang="en-US" sz="3600" dirty="0"/>
              <a:t>Application of </a:t>
            </a:r>
            <a:r>
              <a:rPr lang="en-US" sz="3600" dirty="0" err="1"/>
              <a:t>constructionActivity</a:t>
            </a:r>
            <a:r>
              <a:rPr lang="en-US" sz="3600" dirty="0"/>
              <a:t> to R-I</a:t>
            </a:r>
          </a:p>
        </p:txBody>
      </p:sp>
      <p:sp>
        <p:nvSpPr>
          <p:cNvPr id="3" name="TextBox 2">
            <a:extLst>
              <a:ext uri="{FF2B5EF4-FFF2-40B4-BE49-F238E27FC236}">
                <a16:creationId xmlns:a16="http://schemas.microsoft.com/office/drawing/2014/main" id="{C7BD1978-9095-5CC9-2595-A7DF2E746D25}"/>
              </a:ext>
            </a:extLst>
          </p:cNvPr>
          <p:cNvSpPr txBox="1"/>
          <p:nvPr/>
        </p:nvSpPr>
        <p:spPr>
          <a:xfrm>
            <a:off x="900724" y="1573967"/>
            <a:ext cx="7598699"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Time-series or other data recorded during construction</a:t>
            </a:r>
          </a:p>
          <a:p>
            <a:pPr marL="285750" indent="-285750">
              <a:buFont typeface="Arial" panose="020B0604020202020204" pitchFamily="34" charset="0"/>
              <a:buChar char="•"/>
            </a:pPr>
            <a:r>
              <a:rPr lang="en-US" sz="2400" dirty="0"/>
              <a:t>Construction metadata (method descriptions, equipment, etc.) </a:t>
            </a:r>
          </a:p>
        </p:txBody>
      </p:sp>
    </p:spTree>
    <p:extLst>
      <p:ext uri="{BB962C8B-B14F-4D97-AF65-F5344CB8AC3E}">
        <p14:creationId xmlns:p14="http://schemas.microsoft.com/office/powerpoint/2010/main" val="3959119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F5F7C-6CC4-E8CE-617E-FD31F61C85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A8500A8-3ECA-4BFE-EF8B-018D2C751759}"/>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2" name="Title 1">
            <a:extLst>
              <a:ext uri="{FF2B5EF4-FFF2-40B4-BE49-F238E27FC236}">
                <a16:creationId xmlns:a16="http://schemas.microsoft.com/office/drawing/2014/main" id="{89D57D84-DA21-A9C8-664A-D4829AD35ADC}"/>
              </a:ext>
            </a:extLst>
          </p:cNvPr>
          <p:cNvSpPr>
            <a:spLocks noGrp="1"/>
          </p:cNvSpPr>
          <p:nvPr>
            <p:ph type="title"/>
          </p:nvPr>
        </p:nvSpPr>
        <p:spPr>
          <a:xfrm>
            <a:off x="376178" y="190555"/>
            <a:ext cx="8229600" cy="1066800"/>
          </a:xfrm>
        </p:spPr>
        <p:txBody>
          <a:bodyPr/>
          <a:lstStyle/>
          <a:p>
            <a:r>
              <a:rPr lang="en-US" dirty="0"/>
              <a:t>DIGGS Data Model</a:t>
            </a:r>
          </a:p>
        </p:txBody>
      </p:sp>
      <p:sp>
        <p:nvSpPr>
          <p:cNvPr id="3" name="Right Arrow 2">
            <a:extLst>
              <a:ext uri="{FF2B5EF4-FFF2-40B4-BE49-F238E27FC236}">
                <a16:creationId xmlns:a16="http://schemas.microsoft.com/office/drawing/2014/main" id="{BA3ADB1A-9225-D947-5FCD-C0F2853D405D}"/>
              </a:ext>
            </a:extLst>
          </p:cNvPr>
          <p:cNvSpPr/>
          <p:nvPr/>
        </p:nvSpPr>
        <p:spPr>
          <a:xfrm rot="18900000">
            <a:off x="4540317" y="3163609"/>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0065B809-C8FC-BA63-D933-EFE73370EAF2}"/>
              </a:ext>
            </a:extLst>
          </p:cNvPr>
          <p:cNvSpPr txBox="1"/>
          <p:nvPr/>
        </p:nvSpPr>
        <p:spPr>
          <a:xfrm>
            <a:off x="1900187" y="3429000"/>
            <a:ext cx="3370531" cy="1492716"/>
          </a:xfrm>
          <a:prstGeom prst="rect">
            <a:avLst/>
          </a:prstGeom>
          <a:solidFill>
            <a:schemeClr val="bg1"/>
          </a:solidFill>
          <a:ln>
            <a:solidFill>
              <a:schemeClr val="tx1"/>
            </a:solidFill>
          </a:ln>
        </p:spPr>
        <p:txBody>
          <a:bodyPr wrap="square" rtlCol="0">
            <a:spAutoFit/>
          </a:bodyPr>
          <a:lstStyle/>
          <a:p>
            <a:pPr algn="ctr"/>
            <a:r>
              <a:rPr lang="en-US" sz="1400" b="1" dirty="0"/>
              <a:t>Program</a:t>
            </a:r>
          </a:p>
          <a:p>
            <a:r>
              <a:rPr lang="en-US" sz="1100" dirty="0"/>
              <a:t>A program contains properties about the design and specifications for a collection of planned activities and observations associated with a project. These include properties that define the planning and specifications for both exploration efforts and construction activities.</a:t>
            </a:r>
          </a:p>
          <a:p>
            <a:r>
              <a:rPr lang="en-US" sz="1100" dirty="0"/>
              <a:t> </a:t>
            </a:r>
          </a:p>
        </p:txBody>
      </p:sp>
    </p:spTree>
    <p:extLst>
      <p:ext uri="{BB962C8B-B14F-4D97-AF65-F5344CB8AC3E}">
        <p14:creationId xmlns:p14="http://schemas.microsoft.com/office/powerpoint/2010/main" val="41480584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EA3AA-F0EB-0921-F093-57E5A7520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3DAA5-A2DD-143B-F50B-6FECDBC07F95}"/>
              </a:ext>
            </a:extLst>
          </p:cNvPr>
          <p:cNvSpPr>
            <a:spLocks noGrp="1"/>
          </p:cNvSpPr>
          <p:nvPr>
            <p:ph type="title"/>
          </p:nvPr>
        </p:nvSpPr>
        <p:spPr>
          <a:xfrm>
            <a:off x="389743" y="328249"/>
            <a:ext cx="8229600" cy="1066800"/>
          </a:xfrm>
        </p:spPr>
        <p:txBody>
          <a:bodyPr/>
          <a:lstStyle/>
          <a:p>
            <a:r>
              <a:rPr lang="en-US" dirty="0"/>
              <a:t>Program Components</a:t>
            </a:r>
          </a:p>
        </p:txBody>
      </p:sp>
      <p:sp>
        <p:nvSpPr>
          <p:cNvPr id="3" name="Content Placeholder 2">
            <a:extLst>
              <a:ext uri="{FF2B5EF4-FFF2-40B4-BE49-F238E27FC236}">
                <a16:creationId xmlns:a16="http://schemas.microsoft.com/office/drawing/2014/main" id="{92D04B8B-35BC-9351-5001-CA373D5EE923}"/>
              </a:ext>
            </a:extLst>
          </p:cNvPr>
          <p:cNvSpPr>
            <a:spLocks noGrp="1"/>
          </p:cNvSpPr>
          <p:nvPr>
            <p:ph idx="1"/>
          </p:nvPr>
        </p:nvSpPr>
        <p:spPr>
          <a:xfrm>
            <a:off x="119920" y="1155207"/>
            <a:ext cx="8229600" cy="4324350"/>
          </a:xfrm>
        </p:spPr>
        <p:txBody>
          <a:bodyPr/>
          <a:lstStyle/>
          <a:p>
            <a:r>
              <a:rPr lang="en-US" sz="2400" dirty="0"/>
              <a:t>Base type:</a:t>
            </a:r>
          </a:p>
          <a:p>
            <a:pPr lvl="1"/>
            <a:r>
              <a:rPr lang="en-US" sz="2000" dirty="0"/>
              <a:t>References project</a:t>
            </a:r>
          </a:p>
          <a:p>
            <a:r>
              <a:rPr lang="en-US" sz="2400" dirty="0"/>
              <a:t>Concrete elements</a:t>
            </a:r>
          </a:p>
          <a:p>
            <a:pPr lvl="1"/>
            <a:r>
              <a:rPr lang="en-US" sz="2000" dirty="0"/>
              <a:t>No specific structural requirement, but inherit from:</a:t>
            </a:r>
          </a:p>
          <a:p>
            <a:pPr lvl="2"/>
            <a:r>
              <a:rPr lang="en-US" sz="2000" dirty="0" err="1"/>
              <a:t>AbstractProgramDesign</a:t>
            </a:r>
            <a:r>
              <a:rPr lang="en-US" sz="2000" dirty="0"/>
              <a:t> </a:t>
            </a:r>
          </a:p>
          <a:p>
            <a:pPr lvl="2"/>
            <a:r>
              <a:rPr lang="en-US" sz="2000" dirty="0" err="1"/>
              <a:t>AbstractProgramSpecification</a:t>
            </a:r>
            <a:endParaRPr lang="en-US" sz="2000" dirty="0"/>
          </a:p>
          <a:p>
            <a:pPr lvl="1"/>
            <a:r>
              <a:rPr lang="en-US" sz="2000" dirty="0"/>
              <a:t>Design:</a:t>
            </a:r>
          </a:p>
          <a:p>
            <a:pPr lvl="2"/>
            <a:r>
              <a:rPr lang="en-US" sz="2000" dirty="0"/>
              <a:t>Planned </a:t>
            </a:r>
            <a:r>
              <a:rPr lang="en-US" sz="2000" dirty="0" err="1"/>
              <a:t>samplingFeatures</a:t>
            </a:r>
            <a:r>
              <a:rPr lang="en-US" sz="2000" dirty="0"/>
              <a:t>, samples (shape, location, physical properties</a:t>
            </a:r>
          </a:p>
          <a:p>
            <a:pPr lvl="2"/>
            <a:r>
              <a:rPr lang="en-US" sz="2000" dirty="0"/>
              <a:t>Referenced by as-built </a:t>
            </a:r>
            <a:r>
              <a:rPr lang="en-US" sz="2000" dirty="0" err="1"/>
              <a:t>samplingFeatures</a:t>
            </a:r>
            <a:r>
              <a:rPr lang="en-US" sz="2000" dirty="0"/>
              <a:t>, samples</a:t>
            </a:r>
          </a:p>
          <a:p>
            <a:pPr lvl="1"/>
            <a:r>
              <a:rPr lang="en-US" sz="2000" dirty="0"/>
              <a:t>Specifications:</a:t>
            </a:r>
          </a:p>
          <a:p>
            <a:pPr lvl="2"/>
            <a:r>
              <a:rPr lang="en-US" sz="2000" dirty="0"/>
              <a:t>Sample, </a:t>
            </a:r>
            <a:r>
              <a:rPr lang="en-US" sz="2000" dirty="0" err="1"/>
              <a:t>SamplingFeature</a:t>
            </a:r>
            <a:r>
              <a:rPr lang="en-US" sz="2000" dirty="0"/>
              <a:t> and </a:t>
            </a:r>
            <a:r>
              <a:rPr lang="en-US" sz="2000" dirty="0" err="1"/>
              <a:t>ConstructionActivity</a:t>
            </a:r>
            <a:r>
              <a:rPr lang="en-US" sz="2000" dirty="0"/>
              <a:t> performance specifications</a:t>
            </a:r>
          </a:p>
          <a:p>
            <a:pPr lvl="2"/>
            <a:r>
              <a:rPr lang="en-US" sz="2000" dirty="0"/>
              <a:t>Reference by measurements, samples, </a:t>
            </a:r>
            <a:r>
              <a:rPr lang="en-US" sz="2000" dirty="0" err="1"/>
              <a:t>samplingFeatures</a:t>
            </a:r>
            <a:r>
              <a:rPr lang="en-US" sz="2000" dirty="0"/>
              <a:t>, </a:t>
            </a:r>
            <a:r>
              <a:rPr lang="en-US" sz="2000" dirty="0" err="1"/>
              <a:t>constructionActivities</a:t>
            </a:r>
            <a:endParaRPr lang="en-US" sz="2000" dirty="0"/>
          </a:p>
          <a:p>
            <a:pPr lvl="1"/>
            <a:r>
              <a:rPr lang="en-US" sz="2000" dirty="0"/>
              <a:t> </a:t>
            </a:r>
          </a:p>
          <a:p>
            <a:pPr marL="411162" lvl="1" indent="0">
              <a:buNone/>
            </a:pPr>
            <a:endParaRPr lang="en-US" sz="2000" dirty="0"/>
          </a:p>
        </p:txBody>
      </p:sp>
    </p:spTree>
    <p:extLst>
      <p:ext uri="{BB962C8B-B14F-4D97-AF65-F5344CB8AC3E}">
        <p14:creationId xmlns:p14="http://schemas.microsoft.com/office/powerpoint/2010/main" val="40014210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93676-8494-ECC6-CCC5-DEF471D92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7F793-B016-B3F7-8981-8835442E4F56}"/>
              </a:ext>
            </a:extLst>
          </p:cNvPr>
          <p:cNvSpPr>
            <a:spLocks noGrp="1"/>
          </p:cNvSpPr>
          <p:nvPr>
            <p:ph type="title"/>
          </p:nvPr>
        </p:nvSpPr>
        <p:spPr>
          <a:xfrm>
            <a:off x="374755" y="717455"/>
            <a:ext cx="8229600" cy="558384"/>
          </a:xfrm>
        </p:spPr>
        <p:txBody>
          <a:bodyPr/>
          <a:lstStyle/>
          <a:p>
            <a:pPr algn="ctr"/>
            <a:r>
              <a:rPr lang="en-US" sz="3600" dirty="0"/>
              <a:t>Application of program to R-I</a:t>
            </a:r>
          </a:p>
        </p:txBody>
      </p:sp>
      <p:sp>
        <p:nvSpPr>
          <p:cNvPr id="3" name="TextBox 2">
            <a:extLst>
              <a:ext uri="{FF2B5EF4-FFF2-40B4-BE49-F238E27FC236}">
                <a16:creationId xmlns:a16="http://schemas.microsoft.com/office/drawing/2014/main" id="{8A24E100-A5C1-EBFE-70BB-ACFB5C3DCF5B}"/>
              </a:ext>
            </a:extLst>
          </p:cNvPr>
          <p:cNvSpPr txBox="1"/>
          <p:nvPr/>
        </p:nvSpPr>
        <p:spPr>
          <a:xfrm>
            <a:off x="900724" y="1573967"/>
            <a:ext cx="7598699"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Data on planned R-I elements (</a:t>
            </a:r>
            <a:r>
              <a:rPr lang="en-US" sz="2400" dirty="0" err="1"/>
              <a:t>eg.</a:t>
            </a:r>
            <a:r>
              <a:rPr lang="en-US" sz="2400" dirty="0"/>
              <a:t> location, dimensions, depth, physical properties (</a:t>
            </a:r>
            <a:r>
              <a:rPr lang="en-US" sz="2400" dirty="0" err="1"/>
              <a:t>eg.</a:t>
            </a:r>
            <a:r>
              <a:rPr lang="en-US" sz="2400" dirty="0"/>
              <a:t> fill material)</a:t>
            </a:r>
          </a:p>
          <a:p>
            <a:pPr marL="285750" indent="-285750">
              <a:buFont typeface="Arial" panose="020B0604020202020204" pitchFamily="34" charset="0"/>
              <a:buChar char="•"/>
            </a:pPr>
            <a:r>
              <a:rPr lang="en-US" sz="2400" dirty="0"/>
              <a:t>Data on planned LTP elements (location, thickness, membrane properties, locations, etc.</a:t>
            </a:r>
          </a:p>
          <a:p>
            <a:pPr marL="285750" indent="-285750">
              <a:buFont typeface="Arial" panose="020B0604020202020204" pitchFamily="34" charset="0"/>
              <a:buChar char="•"/>
            </a:pPr>
            <a:r>
              <a:rPr lang="en-US" sz="2400" dirty="0"/>
              <a:t>Data on </a:t>
            </a:r>
            <a:r>
              <a:rPr lang="en-US" sz="2400" dirty="0" err="1"/>
              <a:t>constructionActivity</a:t>
            </a:r>
            <a:r>
              <a:rPr lang="en-US" sz="2400" dirty="0"/>
              <a:t> </a:t>
            </a:r>
            <a:r>
              <a:rPr lang="en-US" sz="2400" dirty="0" err="1"/>
              <a:t>specifcations</a:t>
            </a:r>
            <a:r>
              <a:rPr lang="en-US" sz="2400" dirty="0"/>
              <a:t> (</a:t>
            </a:r>
            <a:r>
              <a:rPr lang="en-US" sz="2400" dirty="0" err="1"/>
              <a:t>eg.</a:t>
            </a:r>
            <a:r>
              <a:rPr lang="en-US" sz="2400" dirty="0"/>
              <a:t> pumping pressures, aggregate volumes. Compaction specs.</a:t>
            </a:r>
          </a:p>
          <a:p>
            <a:pPr marL="285750" indent="-285750">
              <a:buFont typeface="Arial" panose="020B0604020202020204" pitchFamily="34" charset="0"/>
              <a:buChar char="•"/>
            </a:pPr>
            <a:r>
              <a:rPr lang="en-US" sz="2400" dirty="0"/>
              <a:t>Data on performance specifications (</a:t>
            </a:r>
            <a:r>
              <a:rPr lang="en-US" sz="2400" dirty="0" err="1"/>
              <a:t>eg.</a:t>
            </a:r>
            <a:r>
              <a:rPr lang="en-US" sz="2400" dirty="0"/>
              <a:t> R-I material strengths, load test requirements, etc.</a:t>
            </a:r>
          </a:p>
        </p:txBody>
      </p:sp>
    </p:spTree>
    <p:extLst>
      <p:ext uri="{BB962C8B-B14F-4D97-AF65-F5344CB8AC3E}">
        <p14:creationId xmlns:p14="http://schemas.microsoft.com/office/powerpoint/2010/main" val="18729895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18295" y="1625600"/>
            <a:ext cx="5757097" cy="5232400"/>
          </a:xfrm>
          <a:prstGeom prst="rect">
            <a:avLst/>
          </a:prstGeom>
        </p:spPr>
      </p:pic>
      <p:sp>
        <p:nvSpPr>
          <p:cNvPr id="2" name="TextBox 1">
            <a:extLst>
              <a:ext uri="{FF2B5EF4-FFF2-40B4-BE49-F238E27FC236}">
                <a16:creationId xmlns:a16="http://schemas.microsoft.com/office/drawing/2014/main" id="{043748B2-6098-F74F-9FE0-94935ED894D7}"/>
              </a:ext>
            </a:extLst>
          </p:cNvPr>
          <p:cNvSpPr txBox="1"/>
          <p:nvPr/>
        </p:nvSpPr>
        <p:spPr>
          <a:xfrm>
            <a:off x="2430684" y="914400"/>
            <a:ext cx="2518638" cy="646331"/>
          </a:xfrm>
          <a:prstGeom prst="rect">
            <a:avLst/>
          </a:prstGeom>
          <a:noFill/>
        </p:spPr>
        <p:txBody>
          <a:bodyPr wrap="none" rtlCol="0">
            <a:spAutoFit/>
          </a:bodyPr>
          <a:lstStyle/>
          <a:p>
            <a:r>
              <a:rPr lang="en-US" sz="3600" dirty="0"/>
              <a:t>Questions?</a:t>
            </a:r>
          </a:p>
        </p:txBody>
      </p:sp>
      <p:sp>
        <p:nvSpPr>
          <p:cNvPr id="4" name="TextBox 3">
            <a:extLst>
              <a:ext uri="{FF2B5EF4-FFF2-40B4-BE49-F238E27FC236}">
                <a16:creationId xmlns:a16="http://schemas.microsoft.com/office/drawing/2014/main" id="{1702C4DB-65BC-204A-A24E-BEC157CA55C9}"/>
              </a:ext>
            </a:extLst>
          </p:cNvPr>
          <p:cNvSpPr txBox="1"/>
          <p:nvPr/>
        </p:nvSpPr>
        <p:spPr>
          <a:xfrm>
            <a:off x="5995687" y="1851949"/>
            <a:ext cx="3082895" cy="1754326"/>
          </a:xfrm>
          <a:prstGeom prst="rect">
            <a:avLst/>
          </a:prstGeom>
          <a:noFill/>
        </p:spPr>
        <p:txBody>
          <a:bodyPr wrap="none" rtlCol="0">
            <a:spAutoFit/>
          </a:bodyPr>
          <a:lstStyle/>
          <a:p>
            <a:r>
              <a:rPr lang="en-US" dirty="0"/>
              <a:t>Repository</a:t>
            </a:r>
          </a:p>
          <a:p>
            <a:r>
              <a:rPr lang="en-US" dirty="0" err="1"/>
              <a:t>github.com</a:t>
            </a:r>
            <a:r>
              <a:rPr lang="en-US" dirty="0"/>
              <a:t>/</a:t>
            </a:r>
            <a:r>
              <a:rPr lang="en-US" dirty="0" err="1"/>
              <a:t>DIGGSml</a:t>
            </a:r>
            <a:endParaRPr lang="en-US" dirty="0"/>
          </a:p>
          <a:p>
            <a:endParaRPr lang="en-US" dirty="0"/>
          </a:p>
          <a:p>
            <a:r>
              <a:rPr lang="en-US" dirty="0"/>
              <a:t>Schema Documentation</a:t>
            </a:r>
          </a:p>
          <a:p>
            <a:r>
              <a:rPr lang="en-US" dirty="0"/>
              <a:t>http://</a:t>
            </a:r>
            <a:r>
              <a:rPr lang="en-US" dirty="0" err="1"/>
              <a:t>diggsml.org</a:t>
            </a:r>
            <a:r>
              <a:rPr lang="en-US" dirty="0"/>
              <a:t>/docs/3.0.0</a:t>
            </a:r>
          </a:p>
          <a:p>
            <a:endParaRPr lang="en-US" dirty="0"/>
          </a:p>
        </p:txBody>
      </p:sp>
    </p:spTree>
    <p:extLst>
      <p:ext uri="{BB962C8B-B14F-4D97-AF65-F5344CB8AC3E}">
        <p14:creationId xmlns:p14="http://schemas.microsoft.com/office/powerpoint/2010/main" val="10836589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6CCBD-31CB-9775-72A6-7ED8E4B928F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D55E087-DF88-EF3B-EB73-D51172D29E92}"/>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86861"/>
            <a:ext cx="8642840" cy="6063644"/>
          </a:xfrm>
          <a:prstGeom prst="rect">
            <a:avLst/>
          </a:prstGeom>
        </p:spPr>
      </p:pic>
      <p:sp>
        <p:nvSpPr>
          <p:cNvPr id="2" name="Title 1">
            <a:extLst>
              <a:ext uri="{FF2B5EF4-FFF2-40B4-BE49-F238E27FC236}">
                <a16:creationId xmlns:a16="http://schemas.microsoft.com/office/drawing/2014/main" id="{6F1C9D97-25E6-7880-1E0A-FCBBD4EC4D12}"/>
              </a:ext>
            </a:extLst>
          </p:cNvPr>
          <p:cNvSpPr>
            <a:spLocks noGrp="1"/>
          </p:cNvSpPr>
          <p:nvPr>
            <p:ph type="title"/>
          </p:nvPr>
        </p:nvSpPr>
        <p:spPr>
          <a:xfrm>
            <a:off x="376178" y="190555"/>
            <a:ext cx="8229600" cy="1066800"/>
          </a:xfrm>
        </p:spPr>
        <p:txBody>
          <a:bodyPr/>
          <a:lstStyle/>
          <a:p>
            <a:r>
              <a:rPr lang="en-US" dirty="0"/>
              <a:t>DIGGS Data Model</a:t>
            </a:r>
          </a:p>
        </p:txBody>
      </p:sp>
      <p:sp>
        <p:nvSpPr>
          <p:cNvPr id="3" name="Content Placeholder 2">
            <a:extLst>
              <a:ext uri="{FF2B5EF4-FFF2-40B4-BE49-F238E27FC236}">
                <a16:creationId xmlns:a16="http://schemas.microsoft.com/office/drawing/2014/main" id="{5DF8FCCF-FC0A-0C17-8538-14798A649B44}"/>
              </a:ext>
            </a:extLst>
          </p:cNvPr>
          <p:cNvSpPr>
            <a:spLocks noGrp="1"/>
          </p:cNvSpPr>
          <p:nvPr>
            <p:ph idx="1"/>
          </p:nvPr>
        </p:nvSpPr>
        <p:spPr/>
        <p:txBody>
          <a:bodyPr/>
          <a:lstStyle/>
          <a:p>
            <a:endParaRPr lang="en-US" dirty="0"/>
          </a:p>
        </p:txBody>
      </p:sp>
      <p:sp>
        <p:nvSpPr>
          <p:cNvPr id="5" name="Right Arrow 4">
            <a:extLst>
              <a:ext uri="{FF2B5EF4-FFF2-40B4-BE49-F238E27FC236}">
                <a16:creationId xmlns:a16="http://schemas.microsoft.com/office/drawing/2014/main" id="{1AE13BCE-6EBD-13FF-482D-E22A66CA508F}"/>
              </a:ext>
            </a:extLst>
          </p:cNvPr>
          <p:cNvSpPr/>
          <p:nvPr/>
        </p:nvSpPr>
        <p:spPr>
          <a:xfrm rot="8133317">
            <a:off x="4385396" y="5579218"/>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F839F0-9CF3-D303-45E4-C6E82025C157}"/>
              </a:ext>
            </a:extLst>
          </p:cNvPr>
          <p:cNvSpPr txBox="1"/>
          <p:nvPr/>
        </p:nvSpPr>
        <p:spPr>
          <a:xfrm>
            <a:off x="4996465" y="4780553"/>
            <a:ext cx="3370531" cy="1831271"/>
          </a:xfrm>
          <a:prstGeom prst="rect">
            <a:avLst/>
          </a:prstGeom>
          <a:solidFill>
            <a:schemeClr val="bg1"/>
          </a:solidFill>
          <a:ln>
            <a:solidFill>
              <a:schemeClr val="tx1"/>
            </a:solidFill>
          </a:ln>
        </p:spPr>
        <p:txBody>
          <a:bodyPr wrap="square" rtlCol="0">
            <a:spAutoFit/>
          </a:bodyPr>
          <a:lstStyle/>
          <a:p>
            <a:pPr algn="ctr"/>
            <a:r>
              <a:rPr lang="en-US" sz="1400" b="1" dirty="0"/>
              <a:t>Sampling Activity</a:t>
            </a:r>
          </a:p>
          <a:p>
            <a:r>
              <a:rPr lang="en-US" sz="1100" dirty="0"/>
              <a:t>The action taken to obtain or produce a material sample, although the activity may not produce a sample (</a:t>
            </a:r>
            <a:r>
              <a:rPr lang="en-US" sz="1100" dirty="0" err="1"/>
              <a:t>eg.</a:t>
            </a:r>
            <a:r>
              <a:rPr lang="en-US" sz="1100" dirty="0"/>
              <a:t> a core run that produces no recovery). This activity typically occurs at a location on a sampling feature, or could occur elsewhere (</a:t>
            </a:r>
            <a:r>
              <a:rPr lang="en-US" sz="1100" dirty="0" err="1"/>
              <a:t>eg.</a:t>
            </a:r>
            <a:r>
              <a:rPr lang="en-US" sz="1100" dirty="0"/>
              <a:t> a laboratory) in the case of test or blank samples, or can produce aggregate samples where the location of the samples produced have no meaning. All</a:t>
            </a:r>
          </a:p>
          <a:p>
            <a:r>
              <a:rPr lang="en-US" sz="1100" dirty="0"/>
              <a:t>material samples must refer to a </a:t>
            </a:r>
            <a:r>
              <a:rPr lang="en-US" sz="1100" dirty="0" err="1"/>
              <a:t>SamplingActivity</a:t>
            </a:r>
            <a:r>
              <a:rPr lang="en-US" sz="1100" dirty="0"/>
              <a:t>.</a:t>
            </a:r>
          </a:p>
        </p:txBody>
      </p:sp>
      <p:sp>
        <p:nvSpPr>
          <p:cNvPr id="9" name="Right Arrow 8">
            <a:extLst>
              <a:ext uri="{FF2B5EF4-FFF2-40B4-BE49-F238E27FC236}">
                <a16:creationId xmlns:a16="http://schemas.microsoft.com/office/drawing/2014/main" id="{63A652EA-DF8E-903F-1952-8DD5FB7A750D}"/>
              </a:ext>
            </a:extLst>
          </p:cNvPr>
          <p:cNvSpPr/>
          <p:nvPr/>
        </p:nvSpPr>
        <p:spPr>
          <a:xfrm rot="2700000">
            <a:off x="1904773" y="5538232"/>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TextBox 9">
            <a:extLst>
              <a:ext uri="{FF2B5EF4-FFF2-40B4-BE49-F238E27FC236}">
                <a16:creationId xmlns:a16="http://schemas.microsoft.com/office/drawing/2014/main" id="{5B2B65A7-9F80-DED2-39EF-F3D591F6F63D}"/>
              </a:ext>
            </a:extLst>
          </p:cNvPr>
          <p:cNvSpPr txBox="1"/>
          <p:nvPr/>
        </p:nvSpPr>
        <p:spPr>
          <a:xfrm>
            <a:off x="454114" y="4576630"/>
            <a:ext cx="3370531" cy="815608"/>
          </a:xfrm>
          <a:prstGeom prst="rect">
            <a:avLst/>
          </a:prstGeom>
          <a:solidFill>
            <a:schemeClr val="bg1"/>
          </a:solidFill>
          <a:ln>
            <a:solidFill>
              <a:schemeClr val="tx1"/>
            </a:solidFill>
          </a:ln>
        </p:spPr>
        <p:txBody>
          <a:bodyPr wrap="square" rtlCol="0">
            <a:spAutoFit/>
          </a:bodyPr>
          <a:lstStyle/>
          <a:p>
            <a:pPr algn="ctr"/>
            <a:r>
              <a:rPr lang="en-US" sz="1400" b="1" dirty="0"/>
              <a:t>Sample</a:t>
            </a:r>
          </a:p>
          <a:p>
            <a:r>
              <a:rPr lang="en-US" sz="1100" dirty="0"/>
              <a:t>A specimen of. earth material, fluid, or gas that is obtained as a result of a sampling activity, for the purpose of observation and/or testing</a:t>
            </a:r>
          </a:p>
        </p:txBody>
      </p:sp>
    </p:spTree>
    <p:extLst>
      <p:ext uri="{BB962C8B-B14F-4D97-AF65-F5344CB8AC3E}">
        <p14:creationId xmlns:p14="http://schemas.microsoft.com/office/powerpoint/2010/main" val="1180173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7" name="Group 11"/>
          <p:cNvGrpSpPr>
            <a:grpSpLocks/>
          </p:cNvGrpSpPr>
          <p:nvPr/>
        </p:nvGrpSpPr>
        <p:grpSpPr bwMode="auto">
          <a:xfrm>
            <a:off x="2457451" y="2514600"/>
            <a:ext cx="283369" cy="3257550"/>
            <a:chOff x="4572000" y="3429000"/>
            <a:chExt cx="228600" cy="2628900"/>
          </a:xfrm>
        </p:grpSpPr>
        <p:pic>
          <p:nvPicPr>
            <p:cNvPr id="45094" name="Picture 7"/>
            <p:cNvPicPr>
              <a:picLocks noChangeAspect="1"/>
            </p:cNvPicPr>
            <p:nvPr/>
          </p:nvPicPr>
          <p:blipFill>
            <a:blip r:embed="rId3">
              <a:extLst>
                <a:ext uri="{28A0092B-C50C-407E-A947-70E740481C1C}">
                  <a14:useLocalDpi xmlns:a14="http://schemas.microsoft.com/office/drawing/2010/main" val="0"/>
                </a:ext>
              </a:extLst>
            </a:blip>
            <a:srcRect l="31847" t="34076" r="64331"/>
            <a:stretch>
              <a:fillRect/>
            </a:stretch>
          </p:blipFill>
          <p:spPr bwMode="auto">
            <a:xfrm>
              <a:off x="4572000" y="3429000"/>
              <a:ext cx="228600" cy="2628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Rectangle 9"/>
            <p:cNvSpPr/>
            <p:nvPr/>
          </p:nvSpPr>
          <p:spPr>
            <a:xfrm>
              <a:off x="4572000" y="3429000"/>
              <a:ext cx="228600" cy="259046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45058" name="Title 1"/>
          <p:cNvSpPr>
            <a:spLocks noGrp="1"/>
          </p:cNvSpPr>
          <p:nvPr>
            <p:ph type="title"/>
          </p:nvPr>
        </p:nvSpPr>
        <p:spPr>
          <a:xfrm>
            <a:off x="190856" y="712063"/>
            <a:ext cx="6172200" cy="800100"/>
          </a:xfrm>
        </p:spPr>
        <p:txBody>
          <a:bodyPr/>
          <a:lstStyle/>
          <a:p>
            <a:pPr eaLnBrk="1" hangingPunct="1"/>
            <a:r>
              <a:rPr lang="en-US" dirty="0" err="1">
                <a:latin typeface="Calibri" charset="0"/>
              </a:rPr>
              <a:t>SamplingActivity</a:t>
            </a:r>
            <a:endParaRPr lang="en-US" dirty="0">
              <a:latin typeface="Calibri" charset="0"/>
            </a:endParaRPr>
          </a:p>
        </p:txBody>
      </p:sp>
      <p:sp>
        <p:nvSpPr>
          <p:cNvPr id="45059" name="TextBox 4"/>
          <p:cNvSpPr txBox="1">
            <a:spLocks noChangeArrowheads="1"/>
          </p:cNvSpPr>
          <p:nvPr/>
        </p:nvSpPr>
        <p:spPr bwMode="auto">
          <a:xfrm>
            <a:off x="3849887" y="1013019"/>
            <a:ext cx="5143500" cy="1477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i="1" dirty="0"/>
              <a:t>Samples</a:t>
            </a:r>
            <a:r>
              <a:rPr lang="en-US" sz="1800" dirty="0"/>
              <a:t> are collected from sampling features as a result of </a:t>
            </a:r>
            <a:r>
              <a:rPr lang="en-US" sz="1800" i="1" dirty="0"/>
              <a:t>sampling activities. Sampling activities </a:t>
            </a:r>
            <a:r>
              <a:rPr lang="en-US" sz="1800" dirty="0"/>
              <a:t>can also produce samples by aggregation, subsampling or by creating a test standard in a lab, a grout sample, etc.</a:t>
            </a:r>
            <a:endParaRPr lang="en-US" sz="1800" i="1" dirty="0"/>
          </a:p>
        </p:txBody>
      </p:sp>
      <p:sp>
        <p:nvSpPr>
          <p:cNvPr id="45060" name="TextBox 15"/>
          <p:cNvSpPr txBox="1">
            <a:spLocks noChangeArrowheads="1"/>
          </p:cNvSpPr>
          <p:nvPr/>
        </p:nvSpPr>
        <p:spPr bwMode="auto">
          <a:xfrm>
            <a:off x="2228850" y="5723335"/>
            <a:ext cx="944656" cy="3000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dirty="0"/>
              <a:t>Borehole</a:t>
            </a:r>
          </a:p>
        </p:txBody>
      </p:sp>
      <p:grpSp>
        <p:nvGrpSpPr>
          <p:cNvPr id="6" name="Group 5"/>
          <p:cNvGrpSpPr>
            <a:grpSpLocks/>
          </p:cNvGrpSpPr>
          <p:nvPr/>
        </p:nvGrpSpPr>
        <p:grpSpPr bwMode="auto">
          <a:xfrm>
            <a:off x="2514600" y="2514600"/>
            <a:ext cx="171450" cy="857250"/>
            <a:chOff x="4495800" y="2362200"/>
            <a:chExt cx="228600" cy="1143000"/>
          </a:xfrm>
        </p:grpSpPr>
        <p:sp>
          <p:nvSpPr>
            <p:cNvPr id="2" name="Rectangle 1"/>
            <p:cNvSpPr/>
            <p:nvPr/>
          </p:nvSpPr>
          <p:spPr>
            <a:xfrm>
              <a:off x="4572000" y="2362200"/>
              <a:ext cx="76200" cy="381000"/>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4495800" y="2743200"/>
              <a:ext cx="228600" cy="762000"/>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5063" name="Group 10"/>
          <p:cNvGrpSpPr>
            <a:grpSpLocks/>
          </p:cNvGrpSpPr>
          <p:nvPr/>
        </p:nvGrpSpPr>
        <p:grpSpPr bwMode="auto">
          <a:xfrm>
            <a:off x="2057400" y="3200400"/>
            <a:ext cx="400050" cy="300082"/>
            <a:chOff x="1219200" y="3124200"/>
            <a:chExt cx="533400" cy="399507"/>
          </a:xfrm>
        </p:grpSpPr>
        <p:cxnSp>
          <p:nvCxnSpPr>
            <p:cNvPr id="8" name="Straight Connector 7"/>
            <p:cNvCxnSpPr/>
            <p:nvPr/>
          </p:nvCxnSpPr>
          <p:spPr>
            <a:xfrm flipH="1">
              <a:off x="1524000" y="3352456"/>
              <a:ext cx="228600" cy="0"/>
            </a:xfrm>
            <a:prstGeom prst="line">
              <a:avLst/>
            </a:prstGeom>
            <a:ln w="12700" cmpd="sng">
              <a:solidFill>
                <a:srgbClr val="0D0D0D"/>
              </a:solidFill>
            </a:ln>
          </p:spPr>
          <p:style>
            <a:lnRef idx="2">
              <a:schemeClr val="accent1"/>
            </a:lnRef>
            <a:fillRef idx="0">
              <a:schemeClr val="accent1"/>
            </a:fillRef>
            <a:effectRef idx="1">
              <a:schemeClr val="accent1"/>
            </a:effectRef>
            <a:fontRef idx="minor">
              <a:schemeClr val="tx1"/>
            </a:fontRef>
          </p:style>
        </p:cxnSp>
        <p:sp>
          <p:nvSpPr>
            <p:cNvPr id="45091" name="TextBox 20"/>
            <p:cNvSpPr txBox="1">
              <a:spLocks noChangeArrowheads="1"/>
            </p:cNvSpPr>
            <p:nvPr/>
          </p:nvSpPr>
          <p:spPr bwMode="auto">
            <a:xfrm>
              <a:off x="1219200" y="3124200"/>
              <a:ext cx="374461" cy="3995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a:t>5</a:t>
              </a:r>
            </a:p>
          </p:txBody>
        </p:sp>
      </p:grpSp>
      <p:grpSp>
        <p:nvGrpSpPr>
          <p:cNvPr id="22" name="Group 21"/>
          <p:cNvGrpSpPr>
            <a:grpSpLocks/>
          </p:cNvGrpSpPr>
          <p:nvPr/>
        </p:nvGrpSpPr>
        <p:grpSpPr bwMode="auto">
          <a:xfrm>
            <a:off x="605118" y="2555232"/>
            <a:ext cx="1852332" cy="1537308"/>
            <a:chOff x="-717176" y="2263199"/>
            <a:chExt cx="2469776" cy="2051244"/>
          </a:xfrm>
        </p:grpSpPr>
        <p:grpSp>
          <p:nvGrpSpPr>
            <p:cNvPr id="45086" name="Group 11"/>
            <p:cNvGrpSpPr>
              <a:grpSpLocks/>
            </p:cNvGrpSpPr>
            <p:nvPr/>
          </p:nvGrpSpPr>
          <p:grpSpPr bwMode="auto">
            <a:xfrm>
              <a:off x="1219200" y="3914045"/>
              <a:ext cx="533400" cy="400398"/>
              <a:chOff x="1219200" y="3914045"/>
              <a:chExt cx="533400" cy="400398"/>
            </a:xfrm>
          </p:grpSpPr>
          <p:cxnSp>
            <p:nvCxnSpPr>
              <p:cNvPr id="43" name="Straight Connector 42">
                <a:extLst>
                  <a:ext uri="{FF2B5EF4-FFF2-40B4-BE49-F238E27FC236}">
                    <a16:creationId xmlns:a16="http://schemas.microsoft.com/office/drawing/2014/main" id="{020A182A-5EF5-EC41-357A-64F5A5B809B0}"/>
                  </a:ext>
                </a:extLst>
              </p:cNvPr>
              <p:cNvCxnSpPr/>
              <p:nvPr/>
            </p:nvCxnSpPr>
            <p:spPr>
              <a:xfrm flipH="1">
                <a:off x="1524000" y="4126101"/>
                <a:ext cx="228600" cy="0"/>
              </a:xfrm>
              <a:prstGeom prst="line">
                <a:avLst/>
              </a:prstGeom>
              <a:ln w="12700" cmpd="sng">
                <a:solidFill>
                  <a:srgbClr val="0D0D0D"/>
                </a:solidFill>
              </a:ln>
            </p:spPr>
            <p:style>
              <a:lnRef idx="2">
                <a:schemeClr val="accent1"/>
              </a:lnRef>
              <a:fillRef idx="0">
                <a:schemeClr val="accent1"/>
              </a:fillRef>
              <a:effectRef idx="1">
                <a:schemeClr val="accent1"/>
              </a:effectRef>
              <a:fontRef idx="minor">
                <a:schemeClr val="tx1"/>
              </a:fontRef>
            </p:style>
          </p:cxnSp>
          <p:sp>
            <p:nvSpPr>
              <p:cNvPr id="44" name="TextBox 8">
                <a:extLst>
                  <a:ext uri="{FF2B5EF4-FFF2-40B4-BE49-F238E27FC236}">
                    <a16:creationId xmlns:a16="http://schemas.microsoft.com/office/drawing/2014/main" id="{F6A20934-DF18-16C4-C139-5A5315435C79}"/>
                  </a:ext>
                </a:extLst>
              </p:cNvPr>
              <p:cNvSpPr txBox="1">
                <a:spLocks noChangeArrowheads="1"/>
              </p:cNvSpPr>
              <p:nvPr/>
            </p:nvSpPr>
            <p:spPr bwMode="auto">
              <a:xfrm>
                <a:off x="1219200" y="3914045"/>
                <a:ext cx="374461" cy="4003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dirty="0"/>
                  <a:t>8</a:t>
                </a:r>
              </a:p>
            </p:txBody>
          </p:sp>
        </p:grpSp>
        <p:sp>
          <p:nvSpPr>
            <p:cNvPr id="45087" name="TextBox 13"/>
            <p:cNvSpPr txBox="1">
              <a:spLocks noChangeArrowheads="1"/>
            </p:cNvSpPr>
            <p:nvPr/>
          </p:nvSpPr>
          <p:spPr bwMode="auto">
            <a:xfrm>
              <a:off x="-717176" y="2263199"/>
              <a:ext cx="1600200" cy="55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err="1"/>
                <a:t>SamplingActivity</a:t>
              </a:r>
              <a:r>
                <a:rPr lang="en-US" sz="1050" dirty="0"/>
                <a:t> SA-1 from 5-8 ft</a:t>
              </a:r>
            </a:p>
          </p:txBody>
        </p:sp>
      </p:grpSp>
      <p:sp>
        <p:nvSpPr>
          <p:cNvPr id="31" name="TextBox 30"/>
          <p:cNvSpPr txBox="1">
            <a:spLocks noChangeArrowheads="1"/>
          </p:cNvSpPr>
          <p:nvPr/>
        </p:nvSpPr>
        <p:spPr bwMode="auto">
          <a:xfrm>
            <a:off x="4572000" y="3459956"/>
            <a:ext cx="1600200"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err="1"/>
              <a:t>SampleProduced</a:t>
            </a:r>
            <a:r>
              <a:rPr lang="en-US" sz="1050" dirty="0"/>
              <a:t> SP-1</a:t>
            </a:r>
          </a:p>
          <a:p>
            <a:pPr eaLnBrk="1" hangingPunct="1"/>
            <a:r>
              <a:rPr lang="en-US" sz="1050" dirty="0"/>
              <a:t>from 5-6 ft</a:t>
            </a:r>
          </a:p>
        </p:txBody>
      </p:sp>
      <p:sp>
        <p:nvSpPr>
          <p:cNvPr id="32" name="TextBox 31"/>
          <p:cNvSpPr txBox="1">
            <a:spLocks noChangeArrowheads="1"/>
          </p:cNvSpPr>
          <p:nvPr/>
        </p:nvSpPr>
        <p:spPr bwMode="auto">
          <a:xfrm>
            <a:off x="4800599" y="4023121"/>
            <a:ext cx="1570861"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err="1"/>
              <a:t>SampleProduced</a:t>
            </a:r>
            <a:r>
              <a:rPr lang="en-US" sz="1050" dirty="0"/>
              <a:t> SP-2</a:t>
            </a:r>
          </a:p>
          <a:p>
            <a:pPr eaLnBrk="1" hangingPunct="1"/>
            <a:r>
              <a:rPr lang="en-US" sz="1050" dirty="0"/>
              <a:t>from 6-6.5 ft</a:t>
            </a:r>
          </a:p>
        </p:txBody>
      </p:sp>
      <p:sp>
        <p:nvSpPr>
          <p:cNvPr id="33" name="TextBox 32"/>
          <p:cNvSpPr txBox="1">
            <a:spLocks noChangeArrowheads="1"/>
          </p:cNvSpPr>
          <p:nvPr/>
        </p:nvSpPr>
        <p:spPr bwMode="auto">
          <a:xfrm>
            <a:off x="4710686" y="4774448"/>
            <a:ext cx="1600200"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050" dirty="0" err="1"/>
              <a:t>SampleProduced</a:t>
            </a:r>
            <a:r>
              <a:rPr lang="en-US" sz="1050" dirty="0"/>
              <a:t> SP-3</a:t>
            </a:r>
          </a:p>
          <a:p>
            <a:pPr algn="r" eaLnBrk="1" hangingPunct="1"/>
            <a:r>
              <a:rPr lang="en-US" sz="1050" dirty="0"/>
              <a:t>from 6.5-7 ft</a:t>
            </a:r>
          </a:p>
        </p:txBody>
      </p:sp>
      <p:sp>
        <p:nvSpPr>
          <p:cNvPr id="28" name="Rectangle 27"/>
          <p:cNvSpPr/>
          <p:nvPr/>
        </p:nvSpPr>
        <p:spPr>
          <a:xfrm>
            <a:off x="3543300" y="3657600"/>
            <a:ext cx="1714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9" name="Rectangle 28"/>
          <p:cNvSpPr/>
          <p:nvPr/>
        </p:nvSpPr>
        <p:spPr>
          <a:xfrm>
            <a:off x="3543300" y="3829050"/>
            <a:ext cx="1714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0" name="Rectangle 29"/>
          <p:cNvSpPr/>
          <p:nvPr/>
        </p:nvSpPr>
        <p:spPr>
          <a:xfrm>
            <a:off x="3543300" y="3943350"/>
            <a:ext cx="1714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6" name="TextBox 35"/>
          <p:cNvSpPr txBox="1">
            <a:spLocks noChangeArrowheads="1"/>
          </p:cNvSpPr>
          <p:nvPr/>
        </p:nvSpPr>
        <p:spPr bwMode="auto">
          <a:xfrm>
            <a:off x="6286500" y="3136831"/>
            <a:ext cx="911344"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S-1</a:t>
            </a:r>
          </a:p>
        </p:txBody>
      </p:sp>
      <p:cxnSp>
        <p:nvCxnSpPr>
          <p:cNvPr id="24" name="Straight Arrow Connector 23"/>
          <p:cNvCxnSpPr>
            <a:cxnSpLocks/>
            <a:endCxn id="36" idx="1"/>
          </p:cNvCxnSpPr>
          <p:nvPr/>
        </p:nvCxnSpPr>
        <p:spPr>
          <a:xfrm>
            <a:off x="6057900" y="3251131"/>
            <a:ext cx="228600" cy="126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1" name="TextBox 40"/>
          <p:cNvSpPr txBox="1">
            <a:spLocks noChangeArrowheads="1"/>
          </p:cNvSpPr>
          <p:nvPr/>
        </p:nvSpPr>
        <p:spPr bwMode="auto">
          <a:xfrm>
            <a:off x="6572250" y="3714751"/>
            <a:ext cx="923874"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S-2</a:t>
            </a:r>
          </a:p>
        </p:txBody>
      </p:sp>
      <p:cxnSp>
        <p:nvCxnSpPr>
          <p:cNvPr id="42" name="Straight Arrow Connector 41"/>
          <p:cNvCxnSpPr>
            <a:cxnSpLocks/>
            <a:endCxn id="41" idx="1"/>
          </p:cNvCxnSpPr>
          <p:nvPr/>
        </p:nvCxnSpPr>
        <p:spPr>
          <a:xfrm>
            <a:off x="6343650" y="3829051"/>
            <a:ext cx="228600" cy="126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a:spLocks noChangeArrowheads="1"/>
          </p:cNvSpPr>
          <p:nvPr/>
        </p:nvSpPr>
        <p:spPr bwMode="auto">
          <a:xfrm>
            <a:off x="6715124" y="4619867"/>
            <a:ext cx="957033"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S-3</a:t>
            </a:r>
          </a:p>
        </p:txBody>
      </p:sp>
      <p:cxnSp>
        <p:nvCxnSpPr>
          <p:cNvPr id="48" name="Straight Arrow Connector 47"/>
          <p:cNvCxnSpPr>
            <a:cxnSpLocks/>
            <a:endCxn id="47" idx="1"/>
          </p:cNvCxnSpPr>
          <p:nvPr/>
        </p:nvCxnSpPr>
        <p:spPr>
          <a:xfrm>
            <a:off x="6486525" y="4734167"/>
            <a:ext cx="228599" cy="126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53610" y="4445895"/>
            <a:ext cx="571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0" name="Rectangle 49"/>
          <p:cNvSpPr/>
          <p:nvPr/>
        </p:nvSpPr>
        <p:spPr>
          <a:xfrm>
            <a:off x="5410760" y="4445895"/>
            <a:ext cx="571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1" name="Rectangle 50"/>
          <p:cNvSpPr/>
          <p:nvPr/>
        </p:nvSpPr>
        <p:spPr>
          <a:xfrm>
            <a:off x="5467910" y="4445895"/>
            <a:ext cx="571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nvGrpSpPr>
          <p:cNvPr id="35841" name="Group 35840"/>
          <p:cNvGrpSpPr>
            <a:grpSpLocks/>
          </p:cNvGrpSpPr>
          <p:nvPr/>
        </p:nvGrpSpPr>
        <p:grpSpPr bwMode="auto">
          <a:xfrm>
            <a:off x="4400552" y="4000501"/>
            <a:ext cx="2983827" cy="1397040"/>
            <a:chOff x="4876800" y="4191000"/>
            <a:chExt cx="3262317" cy="1862518"/>
          </a:xfrm>
        </p:grpSpPr>
        <p:sp>
          <p:nvSpPr>
            <p:cNvPr id="26" name="Oval 25"/>
            <p:cNvSpPr/>
            <p:nvPr/>
          </p:nvSpPr>
          <p:spPr>
            <a:xfrm>
              <a:off x="4876800" y="4191000"/>
              <a:ext cx="3124200" cy="1600027"/>
            </a:xfrm>
            <a:prstGeom prst="ellipse">
              <a:avLst/>
            </a:prstGeom>
            <a:no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5085" name="TextBox 35839"/>
            <p:cNvSpPr txBox="1">
              <a:spLocks noChangeArrowheads="1"/>
            </p:cNvSpPr>
            <p:nvPr/>
          </p:nvSpPr>
          <p:spPr bwMode="auto">
            <a:xfrm>
              <a:off x="5516852" y="5715000"/>
              <a:ext cx="2622265" cy="33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err="1"/>
                <a:t>SamplingActivity</a:t>
              </a:r>
              <a:r>
                <a:rPr lang="en-US" sz="1050" dirty="0"/>
                <a:t> SA-2 (subsampling)</a:t>
              </a:r>
            </a:p>
          </p:txBody>
        </p:sp>
      </p:grpSp>
      <p:sp>
        <p:nvSpPr>
          <p:cNvPr id="35842" name="TextBox 35841"/>
          <p:cNvSpPr txBox="1">
            <a:spLocks noChangeArrowheads="1"/>
          </p:cNvSpPr>
          <p:nvPr/>
        </p:nvSpPr>
        <p:spPr bwMode="auto">
          <a:xfrm>
            <a:off x="5922765" y="4057651"/>
            <a:ext cx="889987"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S-4</a:t>
            </a:r>
          </a:p>
        </p:txBody>
      </p:sp>
      <p:sp>
        <p:nvSpPr>
          <p:cNvPr id="56" name="TextBox 55"/>
          <p:cNvSpPr txBox="1">
            <a:spLocks noChangeArrowheads="1"/>
          </p:cNvSpPr>
          <p:nvPr/>
        </p:nvSpPr>
        <p:spPr bwMode="auto">
          <a:xfrm>
            <a:off x="6400801" y="4286251"/>
            <a:ext cx="889987"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t>Sample S-5</a:t>
            </a:r>
          </a:p>
        </p:txBody>
      </p:sp>
      <p:sp>
        <p:nvSpPr>
          <p:cNvPr id="57" name="TextBox 56"/>
          <p:cNvSpPr txBox="1">
            <a:spLocks noChangeArrowheads="1"/>
          </p:cNvSpPr>
          <p:nvPr/>
        </p:nvSpPr>
        <p:spPr bwMode="auto">
          <a:xfrm>
            <a:off x="6370417" y="4855496"/>
            <a:ext cx="889987"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S-6</a:t>
            </a:r>
          </a:p>
        </p:txBody>
      </p:sp>
      <p:grpSp>
        <p:nvGrpSpPr>
          <p:cNvPr id="9" name="Group 8">
            <a:extLst>
              <a:ext uri="{FF2B5EF4-FFF2-40B4-BE49-F238E27FC236}">
                <a16:creationId xmlns:a16="http://schemas.microsoft.com/office/drawing/2014/main" id="{5F088D0F-C348-AC3F-B574-5353125A8010}"/>
              </a:ext>
            </a:extLst>
          </p:cNvPr>
          <p:cNvGrpSpPr/>
          <p:nvPr/>
        </p:nvGrpSpPr>
        <p:grpSpPr>
          <a:xfrm>
            <a:off x="1271358" y="3406880"/>
            <a:ext cx="1414692" cy="544420"/>
            <a:chOff x="1271358" y="3406880"/>
            <a:chExt cx="1414692" cy="544420"/>
          </a:xfrm>
        </p:grpSpPr>
        <p:sp>
          <p:nvSpPr>
            <p:cNvPr id="13" name="Rectangle 12"/>
            <p:cNvSpPr/>
            <p:nvPr/>
          </p:nvSpPr>
          <p:spPr>
            <a:xfrm>
              <a:off x="2514600" y="3494100"/>
              <a:ext cx="171450" cy="45720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3" name="TextBox 13">
              <a:extLst>
                <a:ext uri="{FF2B5EF4-FFF2-40B4-BE49-F238E27FC236}">
                  <a16:creationId xmlns:a16="http://schemas.microsoft.com/office/drawing/2014/main" id="{8DFCB62C-F37E-6347-F4FC-5519EA4CE367}"/>
                </a:ext>
              </a:extLst>
            </p:cNvPr>
            <p:cNvSpPr txBox="1">
              <a:spLocks noChangeArrowheads="1"/>
            </p:cNvSpPr>
            <p:nvPr/>
          </p:nvSpPr>
          <p:spPr bwMode="auto">
            <a:xfrm>
              <a:off x="1271358" y="3406880"/>
              <a:ext cx="1124663"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extent from 5-7 ft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2.77556E-17 4.44444E-6 L 2.77556E-17 0.08333 " pathEditMode="relative" rAng="0" ptsTypes="AA">
                                      <p:cBhvr>
                                        <p:cTn id="6" dur="2000" fill="hold"/>
                                        <p:tgtEl>
                                          <p:spTgt spid="6"/>
                                        </p:tgtEl>
                                        <p:attrNameLst>
                                          <p:attrName>ppt_x</p:attrName>
                                          <p:attrName>ppt_y</p:attrName>
                                        </p:attrNameLst>
                                      </p:cBhvr>
                                      <p:rCtr x="0" y="4167"/>
                                    </p:animMotion>
                                  </p:childTnLst>
                                </p:cTn>
                              </p:par>
                            </p:childTnLst>
                          </p:cTn>
                        </p:par>
                        <p:par>
                          <p:cTn id="7" fill="hold" nodeType="afterGroup">
                            <p:stCondLst>
                              <p:cond delay="2000"/>
                            </p:stCondLst>
                            <p:childTnLst>
                              <p:par>
                                <p:cTn id="8" presetID="1" presetClass="entr" presetSubtype="0" fill="hold" nodeType="afterEffect">
                                  <p:stCondLst>
                                    <p:cond delay="0"/>
                                  </p:stCondLst>
                                  <p:childTnLst>
                                    <p:set>
                                      <p:cBhvr>
                                        <p:cTn id="9" dur="1" fill="hold">
                                          <p:stCondLst>
                                            <p:cond delay="0"/>
                                          </p:stCondLst>
                                        </p:cTn>
                                        <p:tgtEl>
                                          <p:spTgt spid="2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4" fill="hold">
                      <p:stCondLst>
                        <p:cond delay="indefinite"/>
                      </p:stCondLst>
                      <p:childTnLst>
                        <p:par>
                          <p:cTn id="15" fill="hold" nodeType="after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childTnLst>
                          </p:cTn>
                        </p:par>
                        <p:par>
                          <p:cTn id="20" fill="hold" nodeType="afterGroup">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6"/>
                                        </p:tgtEl>
                                      </p:cBhvr>
                                    </p:animEffect>
                                    <p:set>
                                      <p:cBhvr>
                                        <p:cTn id="27" dur="1" fill="hold">
                                          <p:stCondLst>
                                            <p:cond delay="499"/>
                                          </p:stCondLst>
                                        </p:cTn>
                                        <p:tgtEl>
                                          <p:spTgt spid="6"/>
                                        </p:tgtEl>
                                        <p:attrNameLst>
                                          <p:attrName>style.visibility</p:attrName>
                                        </p:attrNameLst>
                                      </p:cBhvr>
                                      <p:to>
                                        <p:strVal val="hidden"/>
                                      </p:to>
                                    </p:set>
                                  </p:childTnLst>
                                </p:cTn>
                              </p:par>
                              <p:par>
                                <p:cTn id="28" presetID="0" presetClass="path" presetSubtype="0" accel="50000" decel="50000" fill="hold" grpId="1" nodeType="withEffect">
                                  <p:stCondLst>
                                    <p:cond delay="0"/>
                                  </p:stCondLst>
                                  <p:childTnLst>
                                    <p:animMotion origin="layout" path="M 0 0 L 0.11667 -0.06667 " pathEditMode="relative" ptsTypes="AA">
                                      <p:cBhvr>
                                        <p:cTn id="29" dur="2000" fill="hold"/>
                                        <p:tgtEl>
                                          <p:spTgt spid="28"/>
                                        </p:tgtEl>
                                        <p:attrNameLst>
                                          <p:attrName>ppt_x</p:attrName>
                                          <p:attrName>ppt_y</p:attrName>
                                        </p:attrNameLst>
                                      </p:cBhvr>
                                    </p:animMotion>
                                  </p:childTnLst>
                                </p:cTn>
                              </p:par>
                              <p:par>
                                <p:cTn id="30" presetID="0" presetClass="path" presetSubtype="0" accel="50000" decel="50000" fill="hold" grpId="1" nodeType="withEffect">
                                  <p:stCondLst>
                                    <p:cond delay="0"/>
                                  </p:stCondLst>
                                  <p:childTnLst>
                                    <p:animMotion origin="layout" path="M 0 0 L 0.15834 0 " pathEditMode="relative" ptsTypes="AA">
                                      <p:cBhvr>
                                        <p:cTn id="31" dur="2000" fill="hold"/>
                                        <p:tgtEl>
                                          <p:spTgt spid="29"/>
                                        </p:tgtEl>
                                        <p:attrNameLst>
                                          <p:attrName>ppt_x</p:attrName>
                                          <p:attrName>ppt_y</p:attrName>
                                        </p:attrNameLst>
                                      </p:cBhvr>
                                    </p:animMotion>
                                  </p:childTnLst>
                                </p:cTn>
                              </p:par>
                              <p:par>
                                <p:cTn id="32" presetID="0" presetClass="path" presetSubtype="0" accel="50000" decel="50000" fill="hold" grpId="1" nodeType="withEffect">
                                  <p:stCondLst>
                                    <p:cond delay="0"/>
                                  </p:stCondLst>
                                  <p:childTnLst>
                                    <p:animMotion origin="layout" path="M 0 0 L 0.2 0.1 " pathEditMode="relative" ptsTypes="AA">
                                      <p:cBhvr>
                                        <p:cTn id="33" dur="2000" fill="hold"/>
                                        <p:tgtEl>
                                          <p:spTgt spid="30"/>
                                        </p:tgtEl>
                                        <p:attrNameLst>
                                          <p:attrName>ppt_x</p:attrName>
                                          <p:attrName>ppt_y</p:attrName>
                                        </p:attrNameLst>
                                      </p:cBhvr>
                                    </p:animMotion>
                                  </p:childTnLst>
                                </p:cTn>
                              </p:par>
                            </p:childTnLst>
                          </p:cTn>
                        </p:par>
                        <p:par>
                          <p:cTn id="34" fill="hold" nodeType="afterGroup">
                            <p:stCondLst>
                              <p:cond delay="2000"/>
                            </p:stCondLst>
                            <p:childTnLst>
                              <p:par>
                                <p:cTn id="35" presetID="1" presetClass="entr" presetSubtype="0"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par>
                          <p:cTn id="37" fill="hold" nodeType="afterGroup">
                            <p:stCondLst>
                              <p:cond delay="2000"/>
                            </p:stCondLst>
                            <p:childTnLst>
                              <p:par>
                                <p:cTn id="38" presetID="1" presetClass="entr" presetSubtype="0" fill="hold" grpId="0" nodeType="after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childTnLst>
                          </p:cTn>
                        </p:par>
                        <p:par>
                          <p:cTn id="40" fill="hold" nodeType="afterGroup">
                            <p:stCondLst>
                              <p:cond delay="2000"/>
                            </p:stCondLst>
                            <p:childTnLst>
                              <p:par>
                                <p:cTn id="41" presetID="1" presetClass="entr" presetSubtype="0"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xit" presetSubtype="0" fill="hold" nodeType="clickEffect">
                                  <p:stCondLst>
                                    <p:cond delay="0"/>
                                  </p:stCondLst>
                                  <p:childTnLst>
                                    <p:animEffect transition="out" filter="fade">
                                      <p:cBhvr>
                                        <p:cTn id="60" dur="500"/>
                                        <p:tgtEl>
                                          <p:spTgt spid="48"/>
                                        </p:tgtEl>
                                      </p:cBhvr>
                                    </p:animEffect>
                                    <p:set>
                                      <p:cBhvr>
                                        <p:cTn id="61" dur="1" fill="hold">
                                          <p:stCondLst>
                                            <p:cond delay="499"/>
                                          </p:stCondLst>
                                        </p:cTn>
                                        <p:tgtEl>
                                          <p:spTgt spid="48"/>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42"/>
                                        </p:tgtEl>
                                      </p:cBhvr>
                                    </p:animEffect>
                                    <p:set>
                                      <p:cBhvr>
                                        <p:cTn id="64" dur="1" fill="hold">
                                          <p:stCondLst>
                                            <p:cond delay="499"/>
                                          </p:stCondLst>
                                        </p:cTn>
                                        <p:tgtEl>
                                          <p:spTgt spid="42"/>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24"/>
                                        </p:tgtEl>
                                      </p:cBhvr>
                                    </p:animEffect>
                                    <p:set>
                                      <p:cBhvr>
                                        <p:cTn id="67" dur="1" fill="hold">
                                          <p:stCondLst>
                                            <p:cond delay="499"/>
                                          </p:stCondLst>
                                        </p:cTn>
                                        <p:tgtEl>
                                          <p:spTgt spid="24"/>
                                        </p:tgtEl>
                                        <p:attrNameLst>
                                          <p:attrName>style.visibility</p:attrName>
                                        </p:attrNameLst>
                                      </p:cBhvr>
                                      <p:to>
                                        <p:strVal val="hidden"/>
                                      </p:to>
                                    </p:set>
                                  </p:childTnLst>
                                </p:cTn>
                              </p:par>
                              <p:par>
                                <p:cTn id="68" presetID="0" presetClass="path" presetSubtype="0" accel="50000" decel="50000" fill="hold" grpId="0" nodeType="withEffect">
                                  <p:stCondLst>
                                    <p:cond delay="0"/>
                                  </p:stCondLst>
                                  <p:childTnLst>
                                    <p:animMotion origin="layout" path="M 3.61111E-6 4.07407E-6 L -0.25313 -0.02246 " pathEditMode="relative" rAng="0" ptsTypes="AA">
                                      <p:cBhvr>
                                        <p:cTn id="69" dur="2000" fill="hold"/>
                                        <p:tgtEl>
                                          <p:spTgt spid="36"/>
                                        </p:tgtEl>
                                        <p:attrNameLst>
                                          <p:attrName>ppt_x</p:attrName>
                                          <p:attrName>ppt_y</p:attrName>
                                        </p:attrNameLst>
                                      </p:cBhvr>
                                      <p:rCtr x="-12656" y="-1134"/>
                                    </p:animMotion>
                                  </p:childTnLst>
                                </p:cTn>
                              </p:par>
                              <p:par>
                                <p:cTn id="70" presetID="0" presetClass="path" presetSubtype="0" accel="50000" decel="50000" fill="hold" grpId="0" nodeType="withEffect">
                                  <p:stCondLst>
                                    <p:cond delay="0"/>
                                  </p:stCondLst>
                                  <p:childTnLst>
                                    <p:animMotion origin="layout" path="M -8.33333E-7 4.81481E-6 L -0.26927 0.00949 " pathEditMode="relative" rAng="0" ptsTypes="AA">
                                      <p:cBhvr>
                                        <p:cTn id="71" dur="2000" fill="hold"/>
                                        <p:tgtEl>
                                          <p:spTgt spid="41"/>
                                        </p:tgtEl>
                                        <p:attrNameLst>
                                          <p:attrName>ppt_x</p:attrName>
                                          <p:attrName>ppt_y</p:attrName>
                                        </p:attrNameLst>
                                      </p:cBhvr>
                                      <p:rCtr x="-13472" y="463"/>
                                    </p:animMotion>
                                  </p:childTnLst>
                                </p:cTn>
                              </p:par>
                              <p:par>
                                <p:cTn id="72" presetID="0" presetClass="path" presetSubtype="0" accel="50000" decel="50000" fill="hold" grpId="0" nodeType="withEffect">
                                  <p:stCondLst>
                                    <p:cond delay="0"/>
                                  </p:stCondLst>
                                  <p:childTnLst>
                                    <p:animMotion origin="layout" path="M -1.94444E-6 3.7037E-7 L -0.18767 0.02384 " pathEditMode="relative" rAng="0" ptsTypes="AA">
                                      <p:cBhvr>
                                        <p:cTn id="73" dur="2000" fill="hold"/>
                                        <p:tgtEl>
                                          <p:spTgt spid="47"/>
                                        </p:tgtEl>
                                        <p:attrNameLst>
                                          <p:attrName>ppt_x</p:attrName>
                                          <p:attrName>ppt_y</p:attrName>
                                        </p:attrNameLst>
                                      </p:cBhvr>
                                      <p:rCtr x="-9392" y="1181"/>
                                    </p:animMotion>
                                  </p:childTnLst>
                                </p:cTn>
                              </p:par>
                              <p:par>
                                <p:cTn id="74" presetID="10" presetClass="exit" presetSubtype="0" fill="hold" grpId="1" nodeType="withEffect">
                                  <p:stCondLst>
                                    <p:cond delay="0"/>
                                  </p:stCondLst>
                                  <p:childTnLst>
                                    <p:animEffect transition="out" filter="fade">
                                      <p:cBhvr>
                                        <p:cTn id="75" dur="500"/>
                                        <p:tgtEl>
                                          <p:spTgt spid="33"/>
                                        </p:tgtEl>
                                      </p:cBhvr>
                                    </p:animEffect>
                                    <p:set>
                                      <p:cBhvr>
                                        <p:cTn id="76" dur="1" fill="hold">
                                          <p:stCondLst>
                                            <p:cond delay="499"/>
                                          </p:stCondLst>
                                        </p:cTn>
                                        <p:tgtEl>
                                          <p:spTgt spid="33"/>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500"/>
                                        <p:tgtEl>
                                          <p:spTgt spid="32"/>
                                        </p:tgtEl>
                                      </p:cBhvr>
                                    </p:animEffect>
                                    <p:set>
                                      <p:cBhvr>
                                        <p:cTn id="79" dur="1" fill="hold">
                                          <p:stCondLst>
                                            <p:cond delay="499"/>
                                          </p:stCondLst>
                                        </p:cTn>
                                        <p:tgtEl>
                                          <p:spTgt spid="32"/>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500"/>
                                        <p:tgtEl>
                                          <p:spTgt spid="31"/>
                                        </p:tgtEl>
                                      </p:cBhvr>
                                    </p:animEffect>
                                    <p:set>
                                      <p:cBhvr>
                                        <p:cTn id="82" dur="1" fill="hold">
                                          <p:stCondLst>
                                            <p:cond delay="499"/>
                                          </p:stCondLst>
                                        </p:cTn>
                                        <p:tgtEl>
                                          <p:spTgt spid="31"/>
                                        </p:tgtEl>
                                        <p:attrNameLst>
                                          <p:attrName>style.visibility</p:attrName>
                                        </p:attrNameLst>
                                      </p:cBhvr>
                                      <p:to>
                                        <p:strVal val="hidden"/>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35841"/>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1" nodeType="clickEffect">
                                  <p:stCondLst>
                                    <p:cond delay="0"/>
                                  </p:stCondLst>
                                  <p:childTnLst>
                                    <p:set>
                                      <p:cBhvr>
                                        <p:cTn id="90" dur="1" fill="hold">
                                          <p:stCondLst>
                                            <p:cond delay="0"/>
                                          </p:stCondLst>
                                        </p:cTn>
                                        <p:tgtEl>
                                          <p:spTgt spid="49"/>
                                        </p:tgtEl>
                                        <p:attrNameLst>
                                          <p:attrName>style.visibility</p:attrName>
                                        </p:attrNameLst>
                                      </p:cBhvr>
                                      <p:to>
                                        <p:strVal val="visible"/>
                                      </p:to>
                                    </p:set>
                                  </p:childTnLst>
                                </p:cTn>
                              </p:par>
                              <p:par>
                                <p:cTn id="91" presetID="1" presetClass="entr" presetSubtype="0" fill="hold" grpId="1" nodeType="withEffect">
                                  <p:stCondLst>
                                    <p:cond delay="0"/>
                                  </p:stCondLst>
                                  <p:childTnLst>
                                    <p:set>
                                      <p:cBhvr>
                                        <p:cTn id="92" dur="1" fill="hold">
                                          <p:stCondLst>
                                            <p:cond delay="0"/>
                                          </p:stCondLst>
                                        </p:cTn>
                                        <p:tgtEl>
                                          <p:spTgt spid="50"/>
                                        </p:tgtEl>
                                        <p:attrNameLst>
                                          <p:attrName>style.visibility</p:attrName>
                                        </p:attrNameLst>
                                      </p:cBhvr>
                                      <p:to>
                                        <p:strVal val="visible"/>
                                      </p:to>
                                    </p:set>
                                  </p:childTnLst>
                                </p:cTn>
                              </p:par>
                              <p:par>
                                <p:cTn id="93" presetID="1" presetClass="entr" presetSubtype="0" fill="hold" grpId="1" nodeType="withEffect">
                                  <p:stCondLst>
                                    <p:cond delay="0"/>
                                  </p:stCondLst>
                                  <p:childTnLst>
                                    <p:set>
                                      <p:cBhvr>
                                        <p:cTn id="94" dur="1" fill="hold">
                                          <p:stCondLst>
                                            <p:cond delay="0"/>
                                          </p:stCondLst>
                                        </p:cTn>
                                        <p:tgtEl>
                                          <p:spTgt spid="51"/>
                                        </p:tgtEl>
                                        <p:attrNameLst>
                                          <p:attrName>style.visibility</p:attrName>
                                        </p:attrNameLst>
                                      </p:cBhvr>
                                      <p:to>
                                        <p:strVal val="visible"/>
                                      </p:to>
                                    </p:set>
                                  </p:childTnLst>
                                </p:cTn>
                              </p:par>
                              <p:par>
                                <p:cTn id="95" presetID="0" presetClass="path" presetSubtype="0" accel="50000" decel="50000" fill="hold" grpId="0" nodeType="withEffect">
                                  <p:stCondLst>
                                    <p:cond delay="0"/>
                                  </p:stCondLst>
                                  <p:childTnLst>
                                    <p:animMotion origin="layout" path="M -1.66667E-6 -1.85185E-6 L 0.15 -0.07778 " pathEditMode="relative" rAng="0" ptsTypes="AA">
                                      <p:cBhvr>
                                        <p:cTn id="96" dur="2000" fill="hold"/>
                                        <p:tgtEl>
                                          <p:spTgt spid="49"/>
                                        </p:tgtEl>
                                        <p:attrNameLst>
                                          <p:attrName>ppt_x</p:attrName>
                                          <p:attrName>ppt_y</p:attrName>
                                        </p:attrNameLst>
                                      </p:cBhvr>
                                      <p:rCtr x="7500" y="-3889"/>
                                    </p:animMotion>
                                  </p:childTnLst>
                                </p:cTn>
                              </p:par>
                              <p:par>
                                <p:cTn id="97" presetID="0" presetClass="path" presetSubtype="0" accel="50000" decel="50000" fill="hold" grpId="0" nodeType="withEffect">
                                  <p:stCondLst>
                                    <p:cond delay="0"/>
                                  </p:stCondLst>
                                  <p:childTnLst>
                                    <p:animMotion origin="layout" path="M -1.66667E-6 -1.85185E-6 L 0.2 -0.03333 " pathEditMode="relative" rAng="0" ptsTypes="AA">
                                      <p:cBhvr>
                                        <p:cTn id="98" dur="2000" fill="hold"/>
                                        <p:tgtEl>
                                          <p:spTgt spid="50"/>
                                        </p:tgtEl>
                                        <p:attrNameLst>
                                          <p:attrName>ppt_x</p:attrName>
                                          <p:attrName>ppt_y</p:attrName>
                                        </p:attrNameLst>
                                      </p:cBhvr>
                                      <p:rCtr x="10000" y="-1667"/>
                                    </p:animMotion>
                                  </p:childTnLst>
                                </p:cTn>
                              </p:par>
                              <p:par>
                                <p:cTn id="99" presetID="0" presetClass="path" presetSubtype="0" accel="50000" decel="50000" fill="hold" grpId="0" nodeType="withEffect">
                                  <p:stCondLst>
                                    <p:cond delay="0"/>
                                  </p:stCondLst>
                                  <p:childTnLst>
                                    <p:animMotion origin="layout" path="M -1.66667E-6 -1.85185E-6 L 0.15 0.04445 " pathEditMode="relative" rAng="0" ptsTypes="AA">
                                      <p:cBhvr>
                                        <p:cTn id="100" dur="2000" fill="hold"/>
                                        <p:tgtEl>
                                          <p:spTgt spid="51"/>
                                        </p:tgtEl>
                                        <p:attrNameLst>
                                          <p:attrName>ppt_x</p:attrName>
                                          <p:attrName>ppt_y</p:attrName>
                                        </p:attrNameLst>
                                      </p:cBhvr>
                                      <p:rCtr x="7500" y="2222"/>
                                    </p:animMotion>
                                  </p:childTnLst>
                                </p:cTn>
                              </p:par>
                              <p:par>
                                <p:cTn id="101" presetID="10" presetClass="exit" presetSubtype="0" fill="hold" grpId="2" nodeType="withEffect">
                                  <p:stCondLst>
                                    <p:cond delay="0"/>
                                  </p:stCondLst>
                                  <p:childTnLst>
                                    <p:animEffect transition="out" filter="fade">
                                      <p:cBhvr>
                                        <p:cTn id="102" dur="500"/>
                                        <p:tgtEl>
                                          <p:spTgt spid="30"/>
                                        </p:tgtEl>
                                      </p:cBhvr>
                                    </p:animEffect>
                                    <p:set>
                                      <p:cBhvr>
                                        <p:cTn id="103" dur="1" fill="hold">
                                          <p:stCondLst>
                                            <p:cond delay="499"/>
                                          </p:stCondLst>
                                        </p:cTn>
                                        <p:tgtEl>
                                          <p:spTgt spid="30"/>
                                        </p:tgtEl>
                                        <p:attrNameLst>
                                          <p:attrName>style.visibility</p:attrName>
                                        </p:attrNameLst>
                                      </p:cBhvr>
                                      <p:to>
                                        <p:strVal val="hidden"/>
                                      </p:to>
                                    </p:set>
                                  </p:childTnLst>
                                </p:cTn>
                              </p:par>
                            </p:childTnLst>
                          </p:cTn>
                        </p:par>
                        <p:par>
                          <p:cTn id="104" fill="hold" nodeType="afterGroup">
                            <p:stCondLst>
                              <p:cond delay="2000"/>
                            </p:stCondLst>
                            <p:childTnLst>
                              <p:par>
                                <p:cTn id="105" presetID="1" presetClass="entr" presetSubtype="0" fill="hold" grpId="0" nodeType="afterEffect">
                                  <p:stCondLst>
                                    <p:cond delay="0"/>
                                  </p:stCondLst>
                                  <p:childTnLst>
                                    <p:set>
                                      <p:cBhvr>
                                        <p:cTn id="106" dur="1" fill="hold">
                                          <p:stCondLst>
                                            <p:cond delay="0"/>
                                          </p:stCondLst>
                                        </p:cTn>
                                        <p:tgtEl>
                                          <p:spTgt spid="35842"/>
                                        </p:tgtEl>
                                        <p:attrNameLst>
                                          <p:attrName>style.visibility</p:attrName>
                                        </p:attrNameLst>
                                      </p:cBhvr>
                                      <p:to>
                                        <p:strVal val="visible"/>
                                      </p:to>
                                    </p:set>
                                  </p:childTnLst>
                                </p:cTn>
                              </p:par>
                            </p:childTnLst>
                          </p:cTn>
                        </p:par>
                        <p:par>
                          <p:cTn id="107" fill="hold" nodeType="afterGroup">
                            <p:stCondLst>
                              <p:cond delay="2000"/>
                            </p:stCondLst>
                            <p:childTnLst>
                              <p:par>
                                <p:cTn id="108" presetID="1" presetClass="entr" presetSubtype="0" fill="hold" grpId="0" nodeType="afterEffect">
                                  <p:stCondLst>
                                    <p:cond delay="0"/>
                                  </p:stCondLst>
                                  <p:childTnLst>
                                    <p:set>
                                      <p:cBhvr>
                                        <p:cTn id="109" dur="1" fill="hold">
                                          <p:stCondLst>
                                            <p:cond delay="0"/>
                                          </p:stCondLst>
                                        </p:cTn>
                                        <p:tgtEl>
                                          <p:spTgt spid="56"/>
                                        </p:tgtEl>
                                        <p:attrNameLst>
                                          <p:attrName>style.visibility</p:attrName>
                                        </p:attrNameLst>
                                      </p:cBhvr>
                                      <p:to>
                                        <p:strVal val="visible"/>
                                      </p:to>
                                    </p:set>
                                  </p:childTnLst>
                                </p:cTn>
                              </p:par>
                            </p:childTnLst>
                          </p:cTn>
                        </p:par>
                        <p:par>
                          <p:cTn id="110" fill="hold" nodeType="afterGroup">
                            <p:stCondLst>
                              <p:cond delay="2000"/>
                            </p:stCondLst>
                            <p:childTnLst>
                              <p:par>
                                <p:cTn id="111" presetID="1" presetClass="entr" presetSubtype="0" fill="hold" grpId="0" nodeType="afterEffect">
                                  <p:stCondLst>
                                    <p:cond delay="0"/>
                                  </p:stCondLst>
                                  <p:childTnLst>
                                    <p:set>
                                      <p:cBhvr>
                                        <p:cTn id="11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 grpId="1"/>
      <p:bldP spid="32" grpId="0"/>
      <p:bldP spid="32" grpId="1"/>
      <p:bldP spid="33" grpId="0"/>
      <p:bldP spid="33" grpId="1"/>
      <p:bldP spid="28" grpId="0" animBg="1"/>
      <p:bldP spid="28" grpId="1" animBg="1"/>
      <p:bldP spid="29" grpId="0" animBg="1"/>
      <p:bldP spid="29" grpId="1" animBg="1"/>
      <p:bldP spid="30" grpId="0" animBg="1"/>
      <p:bldP spid="30" grpId="1" animBg="1"/>
      <p:bldP spid="30" grpId="2" animBg="1"/>
      <p:bldP spid="36" grpId="0"/>
      <p:bldP spid="36" grpId="1"/>
      <p:bldP spid="41" grpId="0"/>
      <p:bldP spid="41" grpId="1"/>
      <p:bldP spid="47" grpId="0"/>
      <p:bldP spid="47" grpId="1"/>
      <p:bldP spid="49" grpId="0" animBg="1"/>
      <p:bldP spid="49" grpId="1" animBg="1"/>
      <p:bldP spid="50" grpId="0" animBg="1"/>
      <p:bldP spid="50" grpId="1" animBg="1"/>
      <p:bldP spid="51" grpId="0" animBg="1"/>
      <p:bldP spid="51" grpId="1" animBg="1"/>
      <p:bldP spid="35842" grpId="0"/>
      <p:bldP spid="56" grpId="0"/>
      <p:bldP spid="57" grpId="0"/>
    </p:bldLst>
  </p:timing>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14238</TotalTime>
  <Words>4575</Words>
  <Application>Microsoft Macintosh PowerPoint</Application>
  <PresentationFormat>On-screen Show (4:3)</PresentationFormat>
  <Paragraphs>451</Paragraphs>
  <Slides>45</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vt:lpstr>
      <vt:lpstr>Georgia</vt:lpstr>
      <vt:lpstr>Wingdings</vt:lpstr>
      <vt:lpstr>Wingdings 2</vt:lpstr>
      <vt:lpstr>Urban</vt:lpstr>
      <vt:lpstr>DIGGS Data Schema Overview Incorporating Rigid Inclusions</vt:lpstr>
      <vt:lpstr>Overview</vt:lpstr>
      <vt:lpstr>What is DIGGS?</vt:lpstr>
      <vt:lpstr>What is XML?</vt:lpstr>
      <vt:lpstr>What is DIGGS?</vt:lpstr>
      <vt:lpstr>What is DIGGS?</vt:lpstr>
      <vt:lpstr>DIGGS 101</vt:lpstr>
      <vt:lpstr>DIGGS 101</vt:lpstr>
      <vt:lpstr>DIGGS 101</vt:lpstr>
      <vt:lpstr>DIGGS 101</vt:lpstr>
      <vt:lpstr>DIGGS 101</vt:lpstr>
      <vt:lpstr>DIGGS 101</vt:lpstr>
      <vt:lpstr>DIGGS Data Model</vt:lpstr>
      <vt:lpstr>DIGGS Data Model</vt:lpstr>
      <vt:lpstr>DIGGS Data Model</vt:lpstr>
      <vt:lpstr>We observe/measure properties of the earth via a sampling feature</vt:lpstr>
      <vt:lpstr>Diggs Sampling Features (v. 3.0)</vt:lpstr>
      <vt:lpstr>PowerPoint Presentation</vt:lpstr>
      <vt:lpstr>Sampling Features define the geographic and geometric context of the data we obtain</vt:lpstr>
      <vt:lpstr>Can DIGGS represent inclined or deviated sampling features?</vt:lpstr>
      <vt:lpstr>How do we represent the position of samples/measurements within a linear sampling feature?</vt:lpstr>
      <vt:lpstr>Geometry Definitions for 2D and 3D Sampling Features</vt:lpstr>
      <vt:lpstr>Geometry Definitions for 2D and 3D Sampling Features</vt:lpstr>
      <vt:lpstr>Geometry Definitions for 2D and 3D Sampling Features</vt:lpstr>
      <vt:lpstr>Geometry Definitions for 2D and 3D Sampling Features</vt:lpstr>
      <vt:lpstr>What SF’s might be required for R-I?</vt:lpstr>
      <vt:lpstr>DIGGS Data Model</vt:lpstr>
      <vt:lpstr>DIGGS Data Model</vt:lpstr>
      <vt:lpstr>DIGGS Data Model</vt:lpstr>
      <vt:lpstr>DIGGS Data Model</vt:lpstr>
      <vt:lpstr>ObservationSystems contain one or more Observation objects, each assigned to a region of a sampling feature</vt:lpstr>
      <vt:lpstr>DIGGS Data Model</vt:lpstr>
      <vt:lpstr>Measurements</vt:lpstr>
      <vt:lpstr>Structure of a Measurement</vt:lpstr>
      <vt:lpstr>PowerPoint Presentation</vt:lpstr>
      <vt:lpstr>Application of observationSystems/measurements to R-I</vt:lpstr>
      <vt:lpstr>DIGGS Data Model</vt:lpstr>
      <vt:lpstr>ConstructionActivity Components</vt:lpstr>
      <vt:lpstr>Application of constructionActivity to R-I</vt:lpstr>
      <vt:lpstr>DIGGS Data Model</vt:lpstr>
      <vt:lpstr>Program Components</vt:lpstr>
      <vt:lpstr>Application of program to R-I</vt:lpstr>
      <vt:lpstr>PowerPoint Presentation</vt:lpstr>
      <vt:lpstr>DIGGS Data Model</vt:lpstr>
      <vt:lpstr>SamplingActivity</vt:lpstr>
    </vt:vector>
  </TitlesOfParts>
  <Company>Caltrans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DIGGS</dc:title>
  <dc:creator>Loren Turner</dc:creator>
  <cp:lastModifiedBy>Ponti, Daniel J</cp:lastModifiedBy>
  <cp:revision>353</cp:revision>
  <dcterms:created xsi:type="dcterms:W3CDTF">2008-10-17T22:05:08Z</dcterms:created>
  <dcterms:modified xsi:type="dcterms:W3CDTF">2026-01-21T07:14:08Z</dcterms:modified>
</cp:coreProperties>
</file>